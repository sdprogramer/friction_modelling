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handoutMasterIdLst>
    <p:handoutMasterId r:id="rId37"/>
  </p:handoutMasterIdLst>
  <p:sldIdLst>
    <p:sldId id="256"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309" r:id="rId20"/>
    <p:sldId id="310" r:id="rId21"/>
    <p:sldId id="293" r:id="rId22"/>
    <p:sldId id="296" r:id="rId23"/>
    <p:sldId id="297" r:id="rId24"/>
    <p:sldId id="298" r:id="rId25"/>
    <p:sldId id="299" r:id="rId26"/>
    <p:sldId id="300" r:id="rId27"/>
    <p:sldId id="301" r:id="rId28"/>
    <p:sldId id="305" r:id="rId29"/>
    <p:sldId id="302" r:id="rId30"/>
    <p:sldId id="306" r:id="rId31"/>
    <p:sldId id="303" r:id="rId32"/>
    <p:sldId id="304" r:id="rId33"/>
    <p:sldId id="307" r:id="rId34"/>
    <p:sldId id="308" r:id="rId35"/>
    <p:sldId id="294" r:id="rId36"/>
  </p:sldIdLst>
  <p:sldSz cx="12192000" cy="6858000"/>
  <p:notesSz cx="6858000" cy="9947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p:cViewPr varScale="1">
        <p:scale>
          <a:sx n="82" d="100"/>
          <a:sy n="82" d="100"/>
        </p:scale>
        <p:origin x="581"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9091"/>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99091"/>
          </a:xfrm>
          <a:prstGeom prst="rect">
            <a:avLst/>
          </a:prstGeom>
        </p:spPr>
        <p:txBody>
          <a:bodyPr vert="horz" lIns="91440" tIns="45720" rIns="91440" bIns="45720" rtlCol="0"/>
          <a:lstStyle>
            <a:lvl1pPr algn="r">
              <a:defRPr sz="1200"/>
            </a:lvl1pPr>
          </a:lstStyle>
          <a:p>
            <a:fld id="{9FD6F7FA-3443-44AD-924C-ECE6447A9763}" type="datetimeFigureOut">
              <a:rPr lang="en-IN" smtClean="0"/>
              <a:t>08-06-2026</a:t>
            </a:fld>
            <a:endParaRPr lang="en-IN"/>
          </a:p>
        </p:txBody>
      </p:sp>
      <p:sp>
        <p:nvSpPr>
          <p:cNvPr id="4" name="Footer Placeholder 3"/>
          <p:cNvSpPr>
            <a:spLocks noGrp="1"/>
          </p:cNvSpPr>
          <p:nvPr>
            <p:ph type="ftr" sz="quarter" idx="2"/>
          </p:nvPr>
        </p:nvSpPr>
        <p:spPr>
          <a:xfrm>
            <a:off x="0" y="9448185"/>
            <a:ext cx="2971800" cy="49909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9448185"/>
            <a:ext cx="2971800" cy="499090"/>
          </a:xfrm>
          <a:prstGeom prst="rect">
            <a:avLst/>
          </a:prstGeom>
        </p:spPr>
        <p:txBody>
          <a:bodyPr vert="horz" lIns="91440" tIns="45720" rIns="91440" bIns="45720" rtlCol="0" anchor="b"/>
          <a:lstStyle>
            <a:lvl1pPr algn="r">
              <a:defRPr sz="1200"/>
            </a:lvl1pPr>
          </a:lstStyle>
          <a:p>
            <a:fld id="{38AC1E1A-A60D-440E-AABA-140CD9C88719}" type="slidenum">
              <a:rPr lang="en-IN" smtClean="0"/>
              <a:t>‹#›</a:t>
            </a:fld>
            <a:endParaRPr lang="en-IN"/>
          </a:p>
        </p:txBody>
      </p:sp>
    </p:spTree>
    <p:extLst>
      <p:ext uri="{BB962C8B-B14F-4D97-AF65-F5344CB8AC3E}">
        <p14:creationId xmlns:p14="http://schemas.microsoft.com/office/powerpoint/2010/main" val="4110468548"/>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6CACEA0-57FF-421E-8539-CEBA0B8C148B}"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2447F-98A0-4FE3-A8D1-9A5D7DBCC258}" type="slidenum">
              <a:rPr lang="en-IN" smtClean="0"/>
              <a:t>‹#›</a:t>
            </a:fld>
            <a:endParaRPr lang="en-IN"/>
          </a:p>
        </p:txBody>
      </p:sp>
    </p:spTree>
    <p:extLst>
      <p:ext uri="{BB962C8B-B14F-4D97-AF65-F5344CB8AC3E}">
        <p14:creationId xmlns:p14="http://schemas.microsoft.com/office/powerpoint/2010/main" val="485907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6CACEA0-57FF-421E-8539-CEBA0B8C148B}"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2447F-98A0-4FE3-A8D1-9A5D7DBCC258}" type="slidenum">
              <a:rPr lang="en-IN" smtClean="0"/>
              <a:t>‹#›</a:t>
            </a:fld>
            <a:endParaRPr lang="en-IN"/>
          </a:p>
        </p:txBody>
      </p:sp>
    </p:spTree>
    <p:extLst>
      <p:ext uri="{BB962C8B-B14F-4D97-AF65-F5344CB8AC3E}">
        <p14:creationId xmlns:p14="http://schemas.microsoft.com/office/powerpoint/2010/main" val="3261352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CACEA0-57FF-421E-8539-CEBA0B8C148B}"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2447F-98A0-4FE3-A8D1-9A5D7DBCC258}" type="slidenum">
              <a:rPr lang="en-IN" smtClean="0"/>
              <a:t>‹#›</a:t>
            </a:fld>
            <a:endParaRPr lang="en-IN"/>
          </a:p>
        </p:txBody>
      </p:sp>
    </p:spTree>
    <p:extLst>
      <p:ext uri="{BB962C8B-B14F-4D97-AF65-F5344CB8AC3E}">
        <p14:creationId xmlns:p14="http://schemas.microsoft.com/office/powerpoint/2010/main" val="1147441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6CACEA0-57FF-421E-8539-CEBA0B8C148B}" type="datetimeFigureOut">
              <a:rPr lang="en-IN" smtClean="0"/>
              <a:t>08-06-2026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92447F-98A0-4FE3-A8D1-9A5D7DBCC258}" type="slidenum">
              <a:rPr lang="en-IN" smtClean="0"/>
              <a:t>‹#›</a:t>
            </a:fld>
            <a:endParaRPr lang="en-IN"/>
          </a:p>
        </p:txBody>
      </p:sp>
    </p:spTree>
    <p:extLst>
      <p:ext uri="{BB962C8B-B14F-4D97-AF65-F5344CB8AC3E}">
        <p14:creationId xmlns:p14="http://schemas.microsoft.com/office/powerpoint/2010/main" val="613338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6CACEA0-57FF-421E-8539-CEBA0B8C148B}" type="datetimeFigureOut">
              <a:rPr lang="en-IN" smtClean="0"/>
              <a:t>08-06-2026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492447F-98A0-4FE3-A8D1-9A5D7DBCC258}" type="slidenum">
              <a:rPr lang="en-IN" smtClean="0"/>
              <a:t>‹#›</a:t>
            </a:fld>
            <a:endParaRPr lang="en-IN"/>
          </a:p>
        </p:txBody>
      </p:sp>
    </p:spTree>
    <p:extLst>
      <p:ext uri="{BB962C8B-B14F-4D97-AF65-F5344CB8AC3E}">
        <p14:creationId xmlns:p14="http://schemas.microsoft.com/office/powerpoint/2010/main" val="4027651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6CACEA0-57FF-421E-8539-CEBA0B8C148B}" type="datetimeFigureOut">
              <a:rPr lang="en-IN" smtClean="0"/>
              <a:t>08-06-2026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492447F-98A0-4FE3-A8D1-9A5D7DBCC258}" type="slidenum">
              <a:rPr lang="en-IN" smtClean="0"/>
              <a:t>‹#›</a:t>
            </a:fld>
            <a:endParaRPr lang="en-IN"/>
          </a:p>
        </p:txBody>
      </p:sp>
    </p:spTree>
    <p:extLst>
      <p:ext uri="{BB962C8B-B14F-4D97-AF65-F5344CB8AC3E}">
        <p14:creationId xmlns:p14="http://schemas.microsoft.com/office/powerpoint/2010/main" val="1139059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CACEA0-57FF-421E-8539-CEBA0B8C148B}" type="datetimeFigureOut">
              <a:rPr lang="en-IN" smtClean="0"/>
              <a:t>08-06-2026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492447F-98A0-4FE3-A8D1-9A5D7DBCC258}" type="slidenum">
              <a:rPr lang="en-IN" smtClean="0"/>
              <a:t>‹#›</a:t>
            </a:fld>
            <a:endParaRPr lang="en-IN"/>
          </a:p>
        </p:txBody>
      </p:sp>
    </p:spTree>
    <p:extLst>
      <p:ext uri="{BB962C8B-B14F-4D97-AF65-F5344CB8AC3E}">
        <p14:creationId xmlns:p14="http://schemas.microsoft.com/office/powerpoint/2010/main" val="3702348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CACEA0-57FF-421E-8539-CEBA0B8C148B}" type="datetimeFigureOut">
              <a:rPr lang="en-IN" smtClean="0"/>
              <a:t>08-06-2026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92447F-98A0-4FE3-A8D1-9A5D7DBCC258}" type="slidenum">
              <a:rPr lang="en-IN" smtClean="0"/>
              <a:t>‹#›</a:t>
            </a:fld>
            <a:endParaRPr lang="en-IN"/>
          </a:p>
        </p:txBody>
      </p:sp>
    </p:spTree>
    <p:extLst>
      <p:ext uri="{BB962C8B-B14F-4D97-AF65-F5344CB8AC3E}">
        <p14:creationId xmlns:p14="http://schemas.microsoft.com/office/powerpoint/2010/main" val="548505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CACEA0-57FF-421E-8539-CEBA0B8C148B}" type="datetimeFigureOut">
              <a:rPr lang="en-IN" smtClean="0"/>
              <a:t>08-06-2026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92447F-98A0-4FE3-A8D1-9A5D7DBCC258}" type="slidenum">
              <a:rPr lang="en-IN" smtClean="0"/>
              <a:t>‹#›</a:t>
            </a:fld>
            <a:endParaRPr lang="en-IN"/>
          </a:p>
        </p:txBody>
      </p:sp>
    </p:spTree>
    <p:extLst>
      <p:ext uri="{BB962C8B-B14F-4D97-AF65-F5344CB8AC3E}">
        <p14:creationId xmlns:p14="http://schemas.microsoft.com/office/powerpoint/2010/main" val="3959228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6CACEA0-57FF-421E-8539-CEBA0B8C148B}"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2447F-98A0-4FE3-A8D1-9A5D7DBCC258}" type="slidenum">
              <a:rPr lang="en-IN" smtClean="0"/>
              <a:t>‹#›</a:t>
            </a:fld>
            <a:endParaRPr lang="en-IN"/>
          </a:p>
        </p:txBody>
      </p:sp>
    </p:spTree>
    <p:extLst>
      <p:ext uri="{BB962C8B-B14F-4D97-AF65-F5344CB8AC3E}">
        <p14:creationId xmlns:p14="http://schemas.microsoft.com/office/powerpoint/2010/main" val="1375609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6CACEA0-57FF-421E-8539-CEBA0B8C148B}"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2447F-98A0-4FE3-A8D1-9A5D7DBCC258}" type="slidenum">
              <a:rPr lang="en-IN" smtClean="0"/>
              <a:t>‹#›</a:t>
            </a:fld>
            <a:endParaRPr lang="en-IN"/>
          </a:p>
        </p:txBody>
      </p:sp>
    </p:spTree>
    <p:extLst>
      <p:ext uri="{BB962C8B-B14F-4D97-AF65-F5344CB8AC3E}">
        <p14:creationId xmlns:p14="http://schemas.microsoft.com/office/powerpoint/2010/main" val="18341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CACEA0-57FF-421E-8539-CEBA0B8C148B}" type="datetimeFigureOut">
              <a:rPr lang="en-IN" smtClean="0"/>
              <a:t>08-06-2026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92447F-98A0-4FE3-A8D1-9A5D7DBCC258}" type="slidenum">
              <a:rPr lang="en-IN" smtClean="0"/>
              <a:t>‹#›</a:t>
            </a:fld>
            <a:endParaRPr lang="en-IN"/>
          </a:p>
        </p:txBody>
      </p:sp>
    </p:spTree>
    <p:extLst>
      <p:ext uri="{BB962C8B-B14F-4D97-AF65-F5344CB8AC3E}">
        <p14:creationId xmlns:p14="http://schemas.microsoft.com/office/powerpoint/2010/main" val="2310310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image" Target="../media/image15.png"/><Relationship Id="rId16"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19" Type="http://schemas.openxmlformats.org/officeDocument/2006/relationships/image" Target="../media/image32.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34.png"/><Relationship Id="rId1" Type="http://schemas.openxmlformats.org/officeDocument/2006/relationships/slideLayout" Target="../slideLayouts/slideLayout1.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1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9.png"/><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1.png"/><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7.png"/><Relationship Id="rId4" Type="http://schemas.openxmlformats.org/officeDocument/2006/relationships/image" Target="../media/image56.png"/></Relationships>
</file>

<file path=ppt/slides/_rels/slide2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91671" y="1733348"/>
            <a:ext cx="10929769" cy="3724096"/>
          </a:xfrm>
          <a:prstGeom prst="rect">
            <a:avLst/>
          </a:prstGeom>
          <a:noFill/>
        </p:spPr>
        <p:txBody>
          <a:bodyPr wrap="square" rtlCol="0">
            <a:spAutoFit/>
          </a:bodyPr>
          <a:lstStyle/>
          <a:p>
            <a:pPr algn="ctr"/>
            <a:r>
              <a:rPr lang="en-IN" sz="4800" dirty="0">
                <a:solidFill>
                  <a:srgbClr val="00B0F0"/>
                </a:solidFill>
                <a:latin typeface="Sitka Small" panose="02000505000000020004" pitchFamily="2" charset="0"/>
              </a:rPr>
              <a:t>Lecture -15-18</a:t>
            </a:r>
          </a:p>
          <a:p>
            <a:pPr algn="ctr"/>
            <a:endParaRPr lang="en-IN" sz="4800" dirty="0">
              <a:latin typeface="Sitka Small" panose="02000505000000020004" pitchFamily="2" charset="0"/>
            </a:endParaRPr>
          </a:p>
          <a:p>
            <a:pPr algn="ctr"/>
            <a:r>
              <a:rPr lang="en-IN" sz="4800" dirty="0">
                <a:solidFill>
                  <a:srgbClr val="FF0000"/>
                </a:solidFill>
                <a:latin typeface="Sitka Small" panose="02000505000000020004" pitchFamily="2" charset="0"/>
              </a:rPr>
              <a:t>Advanced Mechanical Vibration</a:t>
            </a:r>
          </a:p>
          <a:p>
            <a:pPr algn="ctr"/>
            <a:endParaRPr lang="en-IN" sz="4800" dirty="0">
              <a:latin typeface="Sitka Small" panose="02000505000000020004" pitchFamily="2" charset="0"/>
            </a:endParaRPr>
          </a:p>
          <a:p>
            <a:pPr algn="ctr"/>
            <a:r>
              <a:rPr lang="en-IN" sz="4400" dirty="0">
                <a:solidFill>
                  <a:schemeClr val="accent5">
                    <a:lumMod val="75000"/>
                  </a:schemeClr>
                </a:solidFill>
                <a:latin typeface="Sitka Small" panose="02000505000000020004" pitchFamily="2" charset="0"/>
              </a:rPr>
              <a:t>Forced vibration SDOF systems</a:t>
            </a:r>
          </a:p>
        </p:txBody>
      </p:sp>
      <p:sp>
        <p:nvSpPr>
          <p:cNvPr id="2" name="Round Same Side Corner Rectangle 1"/>
          <p:cNvSpPr/>
          <p:nvPr/>
        </p:nvSpPr>
        <p:spPr>
          <a:xfrm>
            <a:off x="171569" y="6231167"/>
            <a:ext cx="11769969" cy="4572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171569"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09404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Introduction</a:t>
            </a:r>
            <a:endParaRPr lang="en-IN" sz="3600" dirty="0">
              <a:solidFill>
                <a:srgbClr val="7030A0"/>
              </a:solidFill>
              <a:latin typeface="Times New Roman" pitchFamily="18" charset="0"/>
              <a:cs typeface="Times New Roman" pitchFamily="18" charset="0"/>
            </a:endParaRPr>
          </a:p>
        </p:txBody>
      </p:sp>
      <p:sp>
        <p:nvSpPr>
          <p:cNvPr id="5" name="TextBox 4"/>
          <p:cNvSpPr txBox="1"/>
          <p:nvPr/>
        </p:nvSpPr>
        <p:spPr>
          <a:xfrm>
            <a:off x="358346" y="1164940"/>
            <a:ext cx="11475308" cy="5201424"/>
          </a:xfrm>
          <a:prstGeom prst="rect">
            <a:avLst/>
          </a:prstGeom>
          <a:noFill/>
        </p:spPr>
        <p:txBody>
          <a:bodyPr wrap="square" rtlCol="0">
            <a:spAutoFit/>
          </a:bodyPr>
          <a:lstStyle/>
          <a:p>
            <a:r>
              <a:rPr lang="en-IN" sz="2800" dirty="0">
                <a:solidFill>
                  <a:srgbClr val="00B0F0"/>
                </a:solidFill>
                <a:latin typeface="Times New Roman" panose="02020603050405020304" pitchFamily="18" charset="0"/>
                <a:cs typeface="Times New Roman" panose="02020603050405020304" pitchFamily="18" charset="0"/>
              </a:rPr>
              <a:t>In case of forced vibration there is impressed forced in the system which keeps it vibrating.</a:t>
            </a:r>
          </a:p>
          <a:p>
            <a:endParaRPr lang="en-US" sz="2800" dirty="0">
              <a:solidFill>
                <a:srgbClr val="00B0F0"/>
              </a:solidFill>
              <a:latin typeface="Times New Roman" panose="02020603050405020304" pitchFamily="18" charset="0"/>
              <a:cs typeface="Times New Roman" panose="02020603050405020304" pitchFamily="18" charset="0"/>
            </a:endParaRPr>
          </a:p>
          <a:p>
            <a:r>
              <a:rPr lang="en-US" sz="2400" dirty="0">
                <a:solidFill>
                  <a:srgbClr val="C00000"/>
                </a:solidFill>
                <a:latin typeface="Times New Roman" panose="02020603050405020304" pitchFamily="18" charset="0"/>
                <a:cs typeface="Times New Roman" panose="02020603050405020304" pitchFamily="18" charset="0"/>
              </a:rPr>
              <a:t>Examples: Vibration of air compressor, IC engines, Machine tools and other machineries.</a:t>
            </a:r>
          </a:p>
          <a:p>
            <a:endParaRPr lang="en-US" sz="2400" dirty="0">
              <a:solidFill>
                <a:srgbClr val="C00000"/>
              </a:solidFill>
              <a:latin typeface="Times New Roman" panose="02020603050405020304" pitchFamily="18" charset="0"/>
              <a:cs typeface="Times New Roman" panose="02020603050405020304" pitchFamily="18" charset="0"/>
            </a:endParaRPr>
          </a:p>
          <a:p>
            <a:r>
              <a:rPr lang="en-US" sz="3600" dirty="0">
                <a:solidFill>
                  <a:srgbClr val="00B050"/>
                </a:solidFill>
                <a:latin typeface="Times New Roman" panose="02020603050405020304" pitchFamily="18" charset="0"/>
                <a:cs typeface="Times New Roman" panose="02020603050405020304" pitchFamily="18" charset="0"/>
              </a:rPr>
              <a:t>Types of forcing function:</a:t>
            </a:r>
            <a:endParaRPr lang="en-IN" sz="3600" dirty="0">
              <a:solidFill>
                <a:srgbClr val="00B05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IN" sz="2400" dirty="0">
              <a:solidFill>
                <a:srgbClr val="00B0F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IN" sz="2400" dirty="0">
                <a:solidFill>
                  <a:srgbClr val="FF0000"/>
                </a:solidFill>
                <a:latin typeface="Times New Roman" panose="02020603050405020304" pitchFamily="18" charset="0"/>
                <a:cs typeface="Times New Roman" panose="02020603050405020304" pitchFamily="18" charset="0"/>
              </a:rPr>
              <a:t> </a:t>
            </a:r>
            <a:r>
              <a:rPr lang="en-IN" sz="2800" dirty="0">
                <a:solidFill>
                  <a:srgbClr val="FF0000"/>
                </a:solidFill>
                <a:latin typeface="Times New Roman" panose="02020603050405020304" pitchFamily="18" charset="0"/>
                <a:cs typeface="Times New Roman" panose="02020603050405020304" pitchFamily="18" charset="0"/>
              </a:rPr>
              <a:t>Periodic forcing function : Harmonic and non-harmonic</a:t>
            </a:r>
          </a:p>
          <a:p>
            <a:pPr marL="342900" indent="-342900">
              <a:buFont typeface="Wingdings" panose="05000000000000000000" pitchFamily="2" charset="2"/>
              <a:buChar char="v"/>
            </a:pPr>
            <a:endParaRPr lang="en-IN" sz="2800" dirty="0">
              <a:solidFill>
                <a:srgbClr val="00B0F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IN" sz="2800" dirty="0">
                <a:solidFill>
                  <a:srgbClr val="00B0F0"/>
                </a:solidFill>
                <a:latin typeface="Times New Roman" panose="02020603050405020304" pitchFamily="18" charset="0"/>
                <a:cs typeface="Times New Roman" panose="02020603050405020304" pitchFamily="18" charset="0"/>
              </a:rPr>
              <a:t>Impulsive forcing function. Gives transient vibration</a:t>
            </a:r>
          </a:p>
          <a:p>
            <a:pPr marL="342900" indent="-342900">
              <a:buFont typeface="Wingdings" panose="05000000000000000000" pitchFamily="2" charset="2"/>
              <a:buChar char="v"/>
            </a:pPr>
            <a:endParaRPr lang="en-IN" sz="2800" dirty="0">
              <a:solidFill>
                <a:srgbClr val="00B0F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IN" sz="2800" dirty="0">
                <a:solidFill>
                  <a:srgbClr val="7030A0"/>
                </a:solidFill>
                <a:latin typeface="Times New Roman" panose="02020603050405020304" pitchFamily="18" charset="0"/>
                <a:cs typeface="Times New Roman" panose="02020603050405020304" pitchFamily="18" charset="0"/>
              </a:rPr>
              <a:t>Random forcing function. Example: earth quake and acoustic excitation.</a:t>
            </a:r>
            <a:endParaRPr lang="en-IN" sz="2800" dirty="0">
              <a:solidFill>
                <a:schemeClr val="accent5">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639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Forced vibration with harmonic excitation</a:t>
            </a:r>
            <a:endParaRPr lang="en-IN" sz="3600" dirty="0">
              <a:solidFill>
                <a:srgbClr val="7030A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6" name="TextBox 5"/>
              <p:cNvSpPr txBox="1"/>
              <p:nvPr/>
            </p:nvSpPr>
            <p:spPr>
              <a:xfrm>
                <a:off x="6082757" y="4565963"/>
                <a:ext cx="4263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IN" sz="2400" i="1" smtClean="0">
                              <a:latin typeface="Cambria Math" panose="02040503050406030204" pitchFamily="18" charset="0"/>
                            </a:rPr>
                          </m:ctrlPr>
                        </m:accPr>
                        <m:e>
                          <m:r>
                            <a:rPr lang="en-US" sz="2400" b="0" i="1" smtClean="0">
                              <a:latin typeface="Cambria Math"/>
                            </a:rPr>
                            <m:t>𝑥</m:t>
                          </m:r>
                        </m:e>
                      </m:acc>
                    </m:oMath>
                  </m:oMathPara>
                </a14:m>
                <a:endParaRPr lang="en-IN"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6082757" y="4565963"/>
                <a:ext cx="426399" cy="461665"/>
              </a:xfrm>
              <a:prstGeom prst="rect">
                <a:avLst/>
              </a:prstGeom>
              <a:blipFill rotWithShape="1">
                <a:blip r:embed="rId2"/>
                <a:stretch>
                  <a:fillRect r="-37143"/>
                </a:stretch>
              </a:blipFill>
            </p:spPr>
            <p:txBody>
              <a:bodyPr/>
              <a:lstStyle/>
              <a:p>
                <a:r>
                  <a:rPr lang="en-IN">
                    <a:noFill/>
                  </a:rPr>
                  <a:t> </a:t>
                </a:r>
              </a:p>
            </p:txBody>
          </p:sp>
        </mc:Fallback>
      </mc:AlternateContent>
      <p:sp>
        <p:nvSpPr>
          <p:cNvPr id="8" name="Rectangle 7"/>
          <p:cNvSpPr/>
          <p:nvPr/>
        </p:nvSpPr>
        <p:spPr>
          <a:xfrm>
            <a:off x="7876889" y="2639044"/>
            <a:ext cx="1800000" cy="432000"/>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Connector 8"/>
          <p:cNvCxnSpPr/>
          <p:nvPr/>
        </p:nvCxnSpPr>
        <p:spPr>
          <a:xfrm flipH="1">
            <a:off x="8020586" y="2019570"/>
            <a:ext cx="3120" cy="627083"/>
          </a:xfrm>
          <a:prstGeom prst="line">
            <a:avLst/>
          </a:prstGeom>
          <a:ln w="38100">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8758339" y="2003216"/>
            <a:ext cx="3120" cy="627083"/>
          </a:xfrm>
          <a:prstGeom prst="line">
            <a:avLst/>
          </a:prstGeom>
          <a:ln w="38100">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9487135" y="2012293"/>
            <a:ext cx="3120" cy="627083"/>
          </a:xfrm>
          <a:prstGeom prst="line">
            <a:avLst/>
          </a:prstGeom>
          <a:ln w="38100">
            <a:headEnd type="stealth" w="lg" len="lg"/>
            <a:tailEnd type="non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778750" y="2670241"/>
                <a:ext cx="412163" cy="83099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sz="2400" b="0" i="1" smtClean="0">
                        <a:latin typeface="Cambria Math"/>
                        <a:cs typeface="Times New Roman" panose="02020603050405020304" pitchFamily="18" charset="0"/>
                      </a:rPr>
                      <m:t>𝐾</m:t>
                    </m:r>
                  </m:oMath>
                </a14:m>
                <a:endParaRPr lang="en-IN" sz="2400" dirty="0">
                  <a:latin typeface="Times New Roman" panose="02020603050405020304" pitchFamily="18" charset="0"/>
                  <a:cs typeface="Times New Roman" panose="02020603050405020304" pitchFamily="18"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778750" y="2670241"/>
                <a:ext cx="412163" cy="830997"/>
              </a:xfrm>
              <a:prstGeom prst="rect">
                <a:avLst/>
              </a:prstGeom>
              <a:blipFill rotWithShape="1">
                <a:blip r:embed="rId3"/>
                <a:stretch>
                  <a:fillRect l="-4478"/>
                </a:stretch>
              </a:blipFill>
            </p:spPr>
            <p:txBody>
              <a:bodyPr/>
              <a:lstStyle/>
              <a:p>
                <a:r>
                  <a:rPr lang="en-IN">
                    <a:noFill/>
                  </a:rPr>
                  <a:t> </a:t>
                </a:r>
              </a:p>
            </p:txBody>
          </p:sp>
        </mc:Fallback>
      </mc:AlternateContent>
      <p:cxnSp>
        <p:nvCxnSpPr>
          <p:cNvPr id="13" name="Straight Connector 12"/>
          <p:cNvCxnSpPr/>
          <p:nvPr/>
        </p:nvCxnSpPr>
        <p:spPr>
          <a:xfrm>
            <a:off x="1401032" y="1627422"/>
            <a:ext cx="0" cy="400754"/>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380439" y="3367444"/>
            <a:ext cx="0" cy="380692"/>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a:off x="1150565" y="2014865"/>
            <a:ext cx="418004" cy="1370185"/>
            <a:chOff x="1895549" y="1876841"/>
            <a:chExt cx="418004" cy="1370185"/>
          </a:xfrm>
        </p:grpSpPr>
        <p:cxnSp>
          <p:nvCxnSpPr>
            <p:cNvPr id="16" name="Straight Connector 15"/>
            <p:cNvCxnSpPr/>
            <p:nvPr/>
          </p:nvCxnSpPr>
          <p:spPr>
            <a:xfrm flipH="1">
              <a:off x="1977649" y="1876841"/>
              <a:ext cx="168367"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920577" y="2671231"/>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1920577" y="2786390"/>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900098" y="2901549"/>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1895549" y="3016708"/>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922850" y="3131867"/>
              <a:ext cx="202041"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947878" y="2214200"/>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1947878" y="2329359"/>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927399" y="2444519"/>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1922850" y="2559678"/>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976818" y="1985577"/>
              <a:ext cx="336735"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1972269" y="2100736"/>
              <a:ext cx="336735"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969434" y="1354013"/>
            <a:ext cx="706915" cy="256346"/>
            <a:chOff x="1837988" y="1215989"/>
            <a:chExt cx="706915" cy="256346"/>
          </a:xfrm>
        </p:grpSpPr>
        <p:cxnSp>
          <p:nvCxnSpPr>
            <p:cNvPr id="29" name="Straight Connector 28"/>
            <p:cNvCxnSpPr/>
            <p:nvPr/>
          </p:nvCxnSpPr>
          <p:spPr>
            <a:xfrm>
              <a:off x="1837988" y="1463218"/>
              <a:ext cx="6006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1893189"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a:off x="2034382" y="1225106"/>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2178358" y="1225105"/>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2332396"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4" name="Rectangle 33"/>
          <p:cNvSpPr/>
          <p:nvPr/>
        </p:nvSpPr>
        <p:spPr>
          <a:xfrm>
            <a:off x="795534" y="3748136"/>
            <a:ext cx="1800000" cy="4320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cxnSp>
        <p:nvCxnSpPr>
          <p:cNvPr id="35" name="Straight Connector 34"/>
          <p:cNvCxnSpPr/>
          <p:nvPr/>
        </p:nvCxnSpPr>
        <p:spPr>
          <a:xfrm>
            <a:off x="416556" y="3976795"/>
            <a:ext cx="5062342" cy="0"/>
          </a:xfrm>
          <a:prstGeom prst="line">
            <a:avLst/>
          </a:prstGeom>
          <a:ln>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900100" y="4820857"/>
            <a:ext cx="4578798" cy="7278"/>
          </a:xfrm>
          <a:prstGeom prst="line">
            <a:avLst/>
          </a:prstGeom>
          <a:ln>
            <a:solidFill>
              <a:schemeClr val="tx1"/>
            </a:solidFill>
            <a:prstDash val="dashDot"/>
          </a:ln>
        </p:spPr>
        <p:style>
          <a:lnRef idx="1">
            <a:schemeClr val="accent1"/>
          </a:lnRef>
          <a:fillRef idx="0">
            <a:schemeClr val="accent1"/>
          </a:fillRef>
          <a:effectRef idx="0">
            <a:schemeClr val="accent1"/>
          </a:effectRef>
          <a:fontRef idx="minor">
            <a:schemeClr val="tx1"/>
          </a:fontRef>
        </p:style>
      </p:cxnSp>
      <p:grpSp>
        <p:nvGrpSpPr>
          <p:cNvPr id="37" name="Group 36"/>
          <p:cNvGrpSpPr/>
          <p:nvPr/>
        </p:nvGrpSpPr>
        <p:grpSpPr>
          <a:xfrm>
            <a:off x="3420503" y="1354014"/>
            <a:ext cx="706915" cy="256346"/>
            <a:chOff x="1837988" y="1215989"/>
            <a:chExt cx="706915" cy="256346"/>
          </a:xfrm>
        </p:grpSpPr>
        <p:cxnSp>
          <p:nvCxnSpPr>
            <p:cNvPr id="38" name="Straight Connector 37"/>
            <p:cNvCxnSpPr/>
            <p:nvPr/>
          </p:nvCxnSpPr>
          <p:spPr>
            <a:xfrm>
              <a:off x="1837988" y="1463218"/>
              <a:ext cx="6006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1893189"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a:off x="2034382" y="1225106"/>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H="1">
              <a:off x="2178358" y="1225105"/>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H="1">
              <a:off x="2332396"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 name="Straight Connector 42"/>
          <p:cNvCxnSpPr/>
          <p:nvPr/>
        </p:nvCxnSpPr>
        <p:spPr>
          <a:xfrm>
            <a:off x="3836166" y="1601242"/>
            <a:ext cx="0" cy="400754"/>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4" name="Group 43"/>
          <p:cNvGrpSpPr/>
          <p:nvPr/>
        </p:nvGrpSpPr>
        <p:grpSpPr>
          <a:xfrm>
            <a:off x="3594050" y="1986740"/>
            <a:ext cx="418004" cy="2218715"/>
            <a:chOff x="1895549" y="1876841"/>
            <a:chExt cx="418004" cy="1370185"/>
          </a:xfrm>
        </p:grpSpPr>
        <p:cxnSp>
          <p:nvCxnSpPr>
            <p:cNvPr id="45" name="Straight Connector 44"/>
            <p:cNvCxnSpPr/>
            <p:nvPr/>
          </p:nvCxnSpPr>
          <p:spPr>
            <a:xfrm flipH="1">
              <a:off x="1977649" y="1876841"/>
              <a:ext cx="168367"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1920577" y="2671231"/>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H="1">
              <a:off x="1920577" y="2786390"/>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1900098" y="2901549"/>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H="1">
              <a:off x="1895549" y="3016708"/>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922850" y="3131867"/>
              <a:ext cx="202041"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1947878" y="2214200"/>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H="1">
              <a:off x="1947878" y="2329359"/>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1927399" y="2444519"/>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H="1">
              <a:off x="1922850" y="2559678"/>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1976818" y="1985577"/>
              <a:ext cx="336735"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H="1">
              <a:off x="1972269" y="2100736"/>
              <a:ext cx="336735"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57" name="Rectangle 56"/>
          <p:cNvSpPr/>
          <p:nvPr/>
        </p:nvSpPr>
        <p:spPr>
          <a:xfrm>
            <a:off x="3382164" y="4580796"/>
            <a:ext cx="1800000" cy="4320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cxnSp>
        <p:nvCxnSpPr>
          <p:cNvPr id="58" name="Straight Connector 57"/>
          <p:cNvCxnSpPr/>
          <p:nvPr/>
        </p:nvCxnSpPr>
        <p:spPr>
          <a:xfrm>
            <a:off x="3814746" y="4205455"/>
            <a:ext cx="0" cy="380692"/>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V="1">
            <a:off x="3059397" y="3976795"/>
            <a:ext cx="0" cy="851340"/>
          </a:xfrm>
          <a:prstGeom prst="line">
            <a:avLst/>
          </a:prstGeom>
          <a:ln w="28575">
            <a:solidFill>
              <a:schemeClr val="tx1"/>
            </a:solidFill>
            <a:prstDash val="solid"/>
            <a:headEnd type="stealth" w="lg" len="lg"/>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Rectangle 59"/>
              <p:cNvSpPr/>
              <p:nvPr/>
            </p:nvSpPr>
            <p:spPr>
              <a:xfrm>
                <a:off x="2692959" y="4231106"/>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b="0" i="1" smtClean="0">
                          <a:latin typeface="Cambria Math" panose="02040503050406030204" pitchFamily="18" charset="0"/>
                          <a:cs typeface="Times New Roman" panose="02020603050405020304" pitchFamily="18" charset="0"/>
                        </a:rPr>
                        <m:t>𝑥</m:t>
                      </m:r>
                    </m:oMath>
                  </m:oMathPara>
                </a14:m>
                <a:endParaRPr lang="en-IN" sz="2400" dirty="0"/>
              </a:p>
            </p:txBody>
          </p:sp>
        </mc:Choice>
        <mc:Fallback xmlns="">
          <p:sp>
            <p:nvSpPr>
              <p:cNvPr id="60" name="Rectangle 59"/>
              <p:cNvSpPr>
                <a:spLocks noRot="1" noChangeAspect="1" noMove="1" noResize="1" noEditPoints="1" noAdjustHandles="1" noChangeArrowheads="1" noChangeShapeType="1" noTextEdit="1"/>
              </p:cNvSpPr>
              <p:nvPr/>
            </p:nvSpPr>
            <p:spPr>
              <a:xfrm>
                <a:off x="2692959" y="4231106"/>
                <a:ext cx="426399" cy="461665"/>
              </a:xfrm>
              <a:prstGeom prst="rect">
                <a:avLst/>
              </a:prstGeom>
              <a:blipFill rotWithShape="1">
                <a:blip r:embed="rId4"/>
                <a:stretch>
                  <a:fillRect/>
                </a:stretch>
              </a:blipFill>
            </p:spPr>
            <p:txBody>
              <a:bodyPr/>
              <a:lstStyle/>
              <a:p>
                <a:r>
                  <a:rPr lang="en-IN">
                    <a:noFill/>
                  </a:rPr>
                  <a:t> </a:t>
                </a:r>
              </a:p>
            </p:txBody>
          </p:sp>
        </mc:Fallback>
      </mc:AlternateContent>
      <p:cxnSp>
        <p:nvCxnSpPr>
          <p:cNvPr id="61" name="Straight Connector 60"/>
          <p:cNvCxnSpPr/>
          <p:nvPr/>
        </p:nvCxnSpPr>
        <p:spPr>
          <a:xfrm>
            <a:off x="5417652" y="4463081"/>
            <a:ext cx="0" cy="730108"/>
          </a:xfrm>
          <a:prstGeom prst="line">
            <a:avLst/>
          </a:prstGeom>
          <a:ln w="28575">
            <a:solidFill>
              <a:schemeClr val="tx1"/>
            </a:solidFill>
            <a:prstDash val="solid"/>
            <a:headEnd type="none"/>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Rectangle 61"/>
              <p:cNvSpPr/>
              <p:nvPr/>
            </p:nvSpPr>
            <p:spPr>
              <a:xfrm>
                <a:off x="5417652" y="4569664"/>
                <a:ext cx="48891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b="0" i="1" smtClean="0">
                          <a:latin typeface="Cambria Math" panose="02040503050406030204" pitchFamily="18" charset="0"/>
                          <a:cs typeface="Times New Roman" panose="02020603050405020304" pitchFamily="18" charset="0"/>
                        </a:rPr>
                        <m:t>𝑥</m:t>
                      </m:r>
                      <m:r>
                        <a:rPr lang="en-US" sz="2400" b="0" i="1" smtClean="0">
                          <a:latin typeface="Cambria Math"/>
                          <a:cs typeface="Times New Roman" panose="02020603050405020304" pitchFamily="18" charset="0"/>
                        </a:rPr>
                        <m:t>,</m:t>
                      </m:r>
                    </m:oMath>
                  </m:oMathPara>
                </a14:m>
                <a:endParaRPr lang="en-IN" sz="2400" dirty="0"/>
              </a:p>
            </p:txBody>
          </p:sp>
        </mc:Choice>
        <mc:Fallback xmlns="">
          <p:sp>
            <p:nvSpPr>
              <p:cNvPr id="62" name="Rectangle 61"/>
              <p:cNvSpPr>
                <a:spLocks noRot="1" noChangeAspect="1" noMove="1" noResize="1" noEditPoints="1" noAdjustHandles="1" noChangeArrowheads="1" noChangeShapeType="1" noTextEdit="1"/>
              </p:cNvSpPr>
              <p:nvPr/>
            </p:nvSpPr>
            <p:spPr>
              <a:xfrm>
                <a:off x="5417652" y="4569664"/>
                <a:ext cx="488915" cy="461665"/>
              </a:xfrm>
              <a:prstGeom prst="rect">
                <a:avLst/>
              </a:prstGeom>
              <a:blipFill rotWithShape="1">
                <a:blip r:embed="rId5"/>
                <a:stretch>
                  <a:fillRect/>
                </a:stretch>
              </a:blipFill>
            </p:spPr>
            <p:txBody>
              <a:bodyPr/>
              <a:lstStyle/>
              <a:p>
                <a:r>
                  <a:rPr lang="en-IN">
                    <a:noFill/>
                  </a:rPr>
                  <a:t> </a:t>
                </a:r>
              </a:p>
            </p:txBody>
          </p:sp>
        </mc:Fallback>
      </mc:AlternateContent>
      <p:grpSp>
        <p:nvGrpSpPr>
          <p:cNvPr id="63" name="Group 62"/>
          <p:cNvGrpSpPr/>
          <p:nvPr/>
        </p:nvGrpSpPr>
        <p:grpSpPr>
          <a:xfrm>
            <a:off x="1538775" y="1354012"/>
            <a:ext cx="706915" cy="256346"/>
            <a:chOff x="1837988" y="1215989"/>
            <a:chExt cx="706915" cy="256346"/>
          </a:xfrm>
        </p:grpSpPr>
        <p:cxnSp>
          <p:nvCxnSpPr>
            <p:cNvPr id="64" name="Straight Connector 63"/>
            <p:cNvCxnSpPr/>
            <p:nvPr/>
          </p:nvCxnSpPr>
          <p:spPr>
            <a:xfrm>
              <a:off x="1837988" y="1463218"/>
              <a:ext cx="6006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H="1">
              <a:off x="1893189"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2034382" y="1225106"/>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H="1">
              <a:off x="2178358" y="1225105"/>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H="1">
              <a:off x="2332396"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9" name="Group 68"/>
          <p:cNvGrpSpPr/>
          <p:nvPr/>
        </p:nvGrpSpPr>
        <p:grpSpPr>
          <a:xfrm>
            <a:off x="2107250" y="1354446"/>
            <a:ext cx="706915" cy="256346"/>
            <a:chOff x="1837988" y="1215989"/>
            <a:chExt cx="706915" cy="256346"/>
          </a:xfrm>
        </p:grpSpPr>
        <p:cxnSp>
          <p:nvCxnSpPr>
            <p:cNvPr id="70" name="Straight Connector 69"/>
            <p:cNvCxnSpPr/>
            <p:nvPr/>
          </p:nvCxnSpPr>
          <p:spPr>
            <a:xfrm>
              <a:off x="1837988" y="1463218"/>
              <a:ext cx="6006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H="1">
              <a:off x="1893189"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H="1">
              <a:off x="2034382" y="1225106"/>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H="1">
              <a:off x="2178358" y="1225105"/>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flipH="1">
              <a:off x="2332396"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5" name="Group 74"/>
          <p:cNvGrpSpPr/>
          <p:nvPr/>
        </p:nvGrpSpPr>
        <p:grpSpPr>
          <a:xfrm>
            <a:off x="4011593" y="1354012"/>
            <a:ext cx="706915" cy="256346"/>
            <a:chOff x="1837988" y="1215989"/>
            <a:chExt cx="706915" cy="256346"/>
          </a:xfrm>
        </p:grpSpPr>
        <p:cxnSp>
          <p:nvCxnSpPr>
            <p:cNvPr id="76" name="Straight Connector 75"/>
            <p:cNvCxnSpPr/>
            <p:nvPr/>
          </p:nvCxnSpPr>
          <p:spPr>
            <a:xfrm>
              <a:off x="1837988" y="1463218"/>
              <a:ext cx="6006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flipH="1">
              <a:off x="1893189"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H="1">
              <a:off x="2034382" y="1225106"/>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H="1">
              <a:off x="2178358" y="1225105"/>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flipH="1">
              <a:off x="2332396"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1" name="Group 80"/>
          <p:cNvGrpSpPr/>
          <p:nvPr/>
        </p:nvGrpSpPr>
        <p:grpSpPr>
          <a:xfrm>
            <a:off x="4580068" y="1354446"/>
            <a:ext cx="706915" cy="256346"/>
            <a:chOff x="1837988" y="1215989"/>
            <a:chExt cx="706915" cy="256346"/>
          </a:xfrm>
        </p:grpSpPr>
        <p:cxnSp>
          <p:nvCxnSpPr>
            <p:cNvPr id="82" name="Straight Connector 81"/>
            <p:cNvCxnSpPr/>
            <p:nvPr/>
          </p:nvCxnSpPr>
          <p:spPr>
            <a:xfrm>
              <a:off x="1837988" y="1463218"/>
              <a:ext cx="6006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flipH="1">
              <a:off x="1893189"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H="1">
              <a:off x="2034382" y="1225106"/>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H="1">
              <a:off x="2178358" y="1225105"/>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H="1">
              <a:off x="2332396"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7" name="Straight Connector 86"/>
          <p:cNvCxnSpPr/>
          <p:nvPr/>
        </p:nvCxnSpPr>
        <p:spPr>
          <a:xfrm>
            <a:off x="2105860" y="1618447"/>
            <a:ext cx="0" cy="72118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2093609" y="2753238"/>
            <a:ext cx="0" cy="1008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909499" y="2337450"/>
            <a:ext cx="36059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791291" y="2178584"/>
            <a:ext cx="0" cy="57669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2383639" y="2191104"/>
            <a:ext cx="0" cy="57669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791291" y="2755281"/>
            <a:ext cx="60098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4741825" y="1618447"/>
            <a:ext cx="0" cy="1260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4729574" y="3280461"/>
            <a:ext cx="0" cy="1296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4545464" y="2864673"/>
            <a:ext cx="36059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a:off x="4427256" y="2705807"/>
            <a:ext cx="0" cy="57669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5019604" y="2718327"/>
            <a:ext cx="0" cy="57669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4427256" y="3282504"/>
            <a:ext cx="60098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2419537" y="2281579"/>
            <a:ext cx="389850" cy="461665"/>
          </a:xfrm>
          <a:prstGeom prst="rect">
            <a:avLst/>
          </a:prstGeom>
          <a:noFill/>
          <a:ln w="38100">
            <a:noFill/>
          </a:ln>
        </p:spPr>
        <p:txBody>
          <a:bodyPr wrap="none" rtlCol="0">
            <a:spAutoFit/>
          </a:bodyPr>
          <a:lstStyle/>
          <a:p>
            <a:r>
              <a:rPr lang="en-US" sz="2400" i="1" dirty="0">
                <a:latin typeface="Times New Roman" pitchFamily="18" charset="0"/>
                <a:cs typeface="Times New Roman" pitchFamily="18" charset="0"/>
              </a:rPr>
              <a:t>C</a:t>
            </a:r>
            <a:endParaRPr lang="en-IN" sz="2400" i="1" dirty="0">
              <a:latin typeface="Times New Roman" pitchFamily="18" charset="0"/>
              <a:cs typeface="Times New Roman" pitchFamily="18" charset="0"/>
            </a:endParaRPr>
          </a:p>
        </p:txBody>
      </p:sp>
      <p:sp>
        <p:nvSpPr>
          <p:cNvPr id="100" name="TextBox 99"/>
          <p:cNvSpPr txBox="1"/>
          <p:nvPr/>
        </p:nvSpPr>
        <p:spPr>
          <a:xfrm>
            <a:off x="5140344" y="2718327"/>
            <a:ext cx="389850" cy="461665"/>
          </a:xfrm>
          <a:prstGeom prst="rect">
            <a:avLst/>
          </a:prstGeom>
          <a:noFill/>
          <a:ln w="38100">
            <a:noFill/>
          </a:ln>
        </p:spPr>
        <p:txBody>
          <a:bodyPr wrap="none" rtlCol="0">
            <a:spAutoFit/>
          </a:bodyPr>
          <a:lstStyle/>
          <a:p>
            <a:r>
              <a:rPr lang="en-US" sz="2400" i="1" dirty="0">
                <a:latin typeface="Times New Roman" pitchFamily="18" charset="0"/>
                <a:cs typeface="Times New Roman" pitchFamily="18" charset="0"/>
              </a:rPr>
              <a:t>C</a:t>
            </a:r>
            <a:endParaRPr lang="en-IN" sz="2400" i="1"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01" name="TextBox 100"/>
              <p:cNvSpPr txBox="1"/>
              <p:nvPr/>
            </p:nvSpPr>
            <p:spPr>
              <a:xfrm>
                <a:off x="3208051" y="2745064"/>
                <a:ext cx="412163" cy="83099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sz="2400" b="0" i="1" smtClean="0">
                        <a:latin typeface="Cambria Math"/>
                        <a:cs typeface="Times New Roman" panose="02020603050405020304" pitchFamily="18" charset="0"/>
                      </a:rPr>
                      <m:t>𝐾</m:t>
                    </m:r>
                  </m:oMath>
                </a14:m>
                <a:endParaRPr lang="en-IN" sz="2400" dirty="0">
                  <a:latin typeface="Times New Roman" panose="02020603050405020304" pitchFamily="18" charset="0"/>
                  <a:cs typeface="Times New Roman" panose="02020603050405020304" pitchFamily="18" charset="0"/>
                </a:endParaRPr>
              </a:p>
            </p:txBody>
          </p:sp>
        </mc:Choice>
        <mc:Fallback xmlns="">
          <p:sp>
            <p:nvSpPr>
              <p:cNvPr id="101" name="TextBox 100"/>
              <p:cNvSpPr txBox="1">
                <a:spLocks noRot="1" noChangeAspect="1" noMove="1" noResize="1" noEditPoints="1" noAdjustHandles="1" noChangeArrowheads="1" noChangeShapeType="1" noTextEdit="1"/>
              </p:cNvSpPr>
              <p:nvPr/>
            </p:nvSpPr>
            <p:spPr>
              <a:xfrm>
                <a:off x="3208051" y="2745064"/>
                <a:ext cx="412163" cy="830997"/>
              </a:xfrm>
              <a:prstGeom prst="rect">
                <a:avLst/>
              </a:prstGeom>
              <a:blipFill rotWithShape="1">
                <a:blip r:embed="rId6"/>
                <a:stretch>
                  <a:fillRect l="-294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Rectangle 101"/>
              <p:cNvSpPr/>
              <p:nvPr/>
            </p:nvSpPr>
            <p:spPr>
              <a:xfrm>
                <a:off x="5737839" y="4569665"/>
                <a:ext cx="434414" cy="461665"/>
              </a:xfrm>
              <a:prstGeom prst="rect">
                <a:avLst/>
              </a:prstGeom>
            </p:spPr>
            <p:txBody>
              <a:bodyPr wrap="none">
                <a:spAutoFit/>
              </a:bodyPr>
              <a:lstStyle/>
              <a:p>
                <a14:m>
                  <m:oMath xmlns:m="http://schemas.openxmlformats.org/officeDocument/2006/math">
                    <m:acc>
                      <m:accPr>
                        <m:chr m:val="̇"/>
                        <m:ctrlPr>
                          <a:rPr lang="en-US" sz="2400" i="1" smtClean="0">
                            <a:latin typeface="Cambria Math" panose="02040503050406030204" pitchFamily="18" charset="0"/>
                            <a:cs typeface="Times New Roman" pitchFamily="18" charset="0"/>
                          </a:rPr>
                        </m:ctrlPr>
                      </m:accPr>
                      <m:e>
                        <m:r>
                          <a:rPr lang="en-US" sz="2400" b="0" i="1" smtClean="0">
                            <a:latin typeface="Cambria Math"/>
                            <a:cs typeface="Times New Roman" pitchFamily="18" charset="0"/>
                          </a:rPr>
                          <m:t>𝑥</m:t>
                        </m:r>
                      </m:e>
                    </m:acc>
                  </m:oMath>
                </a14:m>
                <a:r>
                  <a:rPr lang="en-IN" sz="2400" i="1" dirty="0">
                    <a:latin typeface="Times New Roman" pitchFamily="18" charset="0"/>
                    <a:cs typeface="Times New Roman" pitchFamily="18" charset="0"/>
                  </a:rPr>
                  <a:t>,</a:t>
                </a:r>
              </a:p>
            </p:txBody>
          </p:sp>
        </mc:Choice>
        <mc:Fallback xmlns="">
          <p:sp>
            <p:nvSpPr>
              <p:cNvPr id="102" name="Rectangle 101"/>
              <p:cNvSpPr>
                <a:spLocks noRot="1" noChangeAspect="1" noMove="1" noResize="1" noEditPoints="1" noAdjustHandles="1" noChangeArrowheads="1" noChangeShapeType="1" noTextEdit="1"/>
              </p:cNvSpPr>
              <p:nvPr/>
            </p:nvSpPr>
            <p:spPr>
              <a:xfrm>
                <a:off x="5737839" y="4569665"/>
                <a:ext cx="434414" cy="461665"/>
              </a:xfrm>
              <a:prstGeom prst="rect">
                <a:avLst/>
              </a:prstGeom>
              <a:blipFill rotWithShape="1">
                <a:blip r:embed="rId7"/>
                <a:stretch>
                  <a:fillRect t="-10667" r="-20833" b="-30667"/>
                </a:stretch>
              </a:blipFill>
            </p:spPr>
            <p:txBody>
              <a:bodyPr/>
              <a:lstStyle/>
              <a:p>
                <a:r>
                  <a:rPr lang="en-IN">
                    <a:noFill/>
                  </a:rPr>
                  <a:t> </a:t>
                </a:r>
              </a:p>
            </p:txBody>
          </p:sp>
        </mc:Fallback>
      </mc:AlternateContent>
      <p:sp>
        <p:nvSpPr>
          <p:cNvPr id="103" name="TextBox 102"/>
          <p:cNvSpPr txBox="1"/>
          <p:nvPr/>
        </p:nvSpPr>
        <p:spPr>
          <a:xfrm>
            <a:off x="1462184" y="3736020"/>
            <a:ext cx="407484" cy="461665"/>
          </a:xfrm>
          <a:prstGeom prst="rect">
            <a:avLst/>
          </a:prstGeom>
          <a:noFill/>
          <a:ln w="38100">
            <a:noFill/>
          </a:ln>
        </p:spPr>
        <p:txBody>
          <a:bodyPr wrap="none" rtlCol="0">
            <a:spAutoFit/>
          </a:bodyPr>
          <a:lstStyle/>
          <a:p>
            <a:r>
              <a:rPr lang="en-US" sz="2400" i="1" dirty="0">
                <a:latin typeface="Times New Roman" pitchFamily="18" charset="0"/>
                <a:cs typeface="Times New Roman" pitchFamily="18" charset="0"/>
              </a:rPr>
              <a:t>m</a:t>
            </a:r>
            <a:endParaRPr lang="en-IN" sz="2400" i="1" dirty="0">
              <a:latin typeface="Times New Roman" pitchFamily="18" charset="0"/>
              <a:cs typeface="Times New Roman" pitchFamily="18" charset="0"/>
            </a:endParaRPr>
          </a:p>
        </p:txBody>
      </p:sp>
      <p:sp>
        <p:nvSpPr>
          <p:cNvPr id="104" name="TextBox 103"/>
          <p:cNvSpPr txBox="1"/>
          <p:nvPr/>
        </p:nvSpPr>
        <p:spPr>
          <a:xfrm>
            <a:off x="4049088" y="4542500"/>
            <a:ext cx="407484" cy="461665"/>
          </a:xfrm>
          <a:prstGeom prst="rect">
            <a:avLst/>
          </a:prstGeom>
          <a:noFill/>
          <a:ln w="38100">
            <a:noFill/>
          </a:ln>
        </p:spPr>
        <p:txBody>
          <a:bodyPr wrap="none" rtlCol="0">
            <a:spAutoFit/>
          </a:bodyPr>
          <a:lstStyle/>
          <a:p>
            <a:r>
              <a:rPr lang="en-US" sz="2400" i="1" dirty="0">
                <a:latin typeface="Times New Roman" pitchFamily="18" charset="0"/>
                <a:cs typeface="Times New Roman" pitchFamily="18" charset="0"/>
              </a:rPr>
              <a:t>m</a:t>
            </a:r>
            <a:endParaRPr lang="en-IN" sz="2400" i="1"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05" name="Rectangle 104"/>
              <p:cNvSpPr/>
              <p:nvPr/>
            </p:nvSpPr>
            <p:spPr>
              <a:xfrm>
                <a:off x="7277883" y="4338833"/>
                <a:ext cx="395031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a:cs typeface="Times New Roman" panose="02020603050405020304" pitchFamily="18" charset="0"/>
                        </a:rPr>
                        <m:t>𝑚</m:t>
                      </m:r>
                      <m:acc>
                        <m:accPr>
                          <m:chr m:val="̈"/>
                          <m:ctrlPr>
                            <a:rPr lang="en-IN" sz="2400" b="0" i="1" smtClean="0">
                              <a:solidFill>
                                <a:schemeClr val="tx1"/>
                              </a:solidFill>
                              <a:latin typeface="Cambria Math" panose="02040503050406030204" pitchFamily="18" charset="0"/>
                              <a:cs typeface="Times New Roman" panose="02020603050405020304" pitchFamily="18" charset="0"/>
                            </a:rPr>
                          </m:ctrlPr>
                        </m:accPr>
                        <m:e>
                          <m:r>
                            <a:rPr lang="en-US" sz="2400" b="0" i="1" smtClean="0">
                              <a:solidFill>
                                <a:schemeClr val="tx1"/>
                              </a:solidFill>
                              <a:latin typeface="Cambria Math"/>
                              <a:cs typeface="Times New Roman" panose="02020603050405020304" pitchFamily="18" charset="0"/>
                            </a:rPr>
                            <m:t>𝑥</m:t>
                          </m:r>
                        </m:e>
                      </m:acc>
                      <m:r>
                        <a:rPr lang="en-US" sz="2400" b="0" i="1" smtClean="0">
                          <a:solidFill>
                            <a:schemeClr val="tx1"/>
                          </a:solidFill>
                          <a:latin typeface="Cambria Math"/>
                          <a:cs typeface="Times New Roman" panose="02020603050405020304" pitchFamily="18" charset="0"/>
                        </a:rPr>
                        <m:t>=−</m:t>
                      </m:r>
                      <m:r>
                        <a:rPr lang="en-IN" sz="2400" i="1">
                          <a:latin typeface="Cambria Math" panose="02040503050406030204" pitchFamily="18" charset="0"/>
                          <a:cs typeface="Times New Roman" panose="02020603050405020304" pitchFamily="18" charset="0"/>
                        </a:rPr>
                        <m:t>𝐾</m:t>
                      </m:r>
                      <m:r>
                        <a:rPr lang="en-US" sz="2400" i="1">
                          <a:latin typeface="Cambria Math"/>
                          <a:cs typeface="Times New Roman" panose="02020603050405020304" pitchFamily="18" charset="0"/>
                        </a:rPr>
                        <m:t>𝑥</m:t>
                      </m:r>
                      <m:r>
                        <a:rPr lang="en-US" sz="2400" b="0" i="1" smtClean="0">
                          <a:latin typeface="Cambria Math"/>
                          <a:cs typeface="Times New Roman" panose="02020603050405020304" pitchFamily="18" charset="0"/>
                        </a:rPr>
                        <m:t>−</m:t>
                      </m:r>
                      <m:r>
                        <a:rPr lang="en-US" sz="2400" i="1">
                          <a:latin typeface="Cambria Math"/>
                          <a:cs typeface="Times New Roman" pitchFamily="18" charset="0"/>
                        </a:rPr>
                        <m:t>𝐶</m:t>
                      </m:r>
                      <m:acc>
                        <m:accPr>
                          <m:chr m:val="̇"/>
                          <m:ctrlPr>
                            <a:rPr lang="en-US" sz="2400" i="1">
                              <a:latin typeface="Cambria Math" panose="02040503050406030204" pitchFamily="18" charset="0"/>
                              <a:cs typeface="Times New Roman" pitchFamily="18" charset="0"/>
                            </a:rPr>
                          </m:ctrlPr>
                        </m:accPr>
                        <m:e>
                          <m:r>
                            <a:rPr lang="en-US" sz="2400" i="1">
                              <a:latin typeface="Cambria Math"/>
                              <a:cs typeface="Times New Roman" pitchFamily="18" charset="0"/>
                            </a:rPr>
                            <m:t>𝑥</m:t>
                          </m:r>
                        </m:e>
                      </m:acc>
                      <m:r>
                        <a:rPr lang="en-US" sz="2400" b="0" i="1" smtClean="0">
                          <a:latin typeface="Cambria Math"/>
                          <a:cs typeface="Times New Roman"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a:cs typeface="Times New Roman" panose="02020603050405020304" pitchFamily="18" charset="0"/>
                            </a:rPr>
                            <m:t>𝐹</m:t>
                          </m:r>
                        </m:e>
                        <m:sub>
                          <m:r>
                            <a:rPr lang="en-US" sz="2400" i="1">
                              <a:latin typeface="Cambria Math"/>
                              <a:cs typeface="Times New Roman" panose="02020603050405020304" pitchFamily="18" charset="0"/>
                            </a:rPr>
                            <m:t>0</m:t>
                          </m:r>
                        </m:sub>
                      </m:sSub>
                      <m:func>
                        <m:funcPr>
                          <m:ctrlPr>
                            <a:rPr lang="en-US" sz="2400" i="1">
                              <a:latin typeface="Cambria Math" panose="02040503050406030204" pitchFamily="18" charset="0"/>
                              <a:cs typeface="Times New Roman" panose="02020603050405020304" pitchFamily="18" charset="0"/>
                            </a:rPr>
                          </m:ctrlPr>
                        </m:funcPr>
                        <m:fName>
                          <m:r>
                            <m:rPr>
                              <m:sty m:val="p"/>
                            </m:rPr>
                            <a:rPr lang="en-US" sz="2400">
                              <a:latin typeface="Cambria Math"/>
                              <a:cs typeface="Times New Roman" panose="02020603050405020304" pitchFamily="18" charset="0"/>
                            </a:rPr>
                            <m:t>sin</m:t>
                          </m:r>
                        </m:fName>
                        <m:e>
                          <m:r>
                            <a:rPr lang="en-US" sz="2400" i="1">
                              <a:latin typeface="Cambria Math"/>
                              <a:ea typeface="Cambria Math"/>
                              <a:cs typeface="Times New Roman" panose="02020603050405020304" pitchFamily="18" charset="0"/>
                            </a:rPr>
                            <m:t>𝜔</m:t>
                          </m:r>
                          <m:r>
                            <a:rPr lang="en-US" sz="2400" i="1">
                              <a:latin typeface="Cambria Math"/>
                              <a:ea typeface="Cambria Math"/>
                              <a:cs typeface="Times New Roman" panose="02020603050405020304" pitchFamily="18" charset="0"/>
                            </a:rPr>
                            <m:t>𝑡</m:t>
                          </m:r>
                        </m:e>
                      </m:func>
                    </m:oMath>
                  </m:oMathPara>
                </a14:m>
                <a:endParaRPr lang="en-IN" sz="2400" dirty="0">
                  <a:solidFill>
                    <a:schemeClr val="tx1"/>
                  </a:solidFill>
                </a:endParaRPr>
              </a:p>
            </p:txBody>
          </p:sp>
        </mc:Choice>
        <mc:Fallback xmlns="">
          <p:sp>
            <p:nvSpPr>
              <p:cNvPr id="105" name="Rectangle 104"/>
              <p:cNvSpPr>
                <a:spLocks noRot="1" noChangeAspect="1" noMove="1" noResize="1" noEditPoints="1" noAdjustHandles="1" noChangeArrowheads="1" noChangeShapeType="1" noTextEdit="1"/>
              </p:cNvSpPr>
              <p:nvPr/>
            </p:nvSpPr>
            <p:spPr>
              <a:xfrm>
                <a:off x="7277883" y="4338833"/>
                <a:ext cx="3950312" cy="461665"/>
              </a:xfrm>
              <a:prstGeom prst="rect">
                <a:avLst/>
              </a:prstGeom>
              <a:blipFill rotWithShape="1">
                <a:blip r:embed="rId8"/>
                <a:stretch>
                  <a:fillRect b="-1333"/>
                </a:stretch>
              </a:blipFill>
            </p:spPr>
            <p:txBody>
              <a:bodyPr/>
              <a:lstStyle/>
              <a:p>
                <a:r>
                  <a:rPr lang="en-IN">
                    <a:noFill/>
                  </a:rPr>
                  <a:t> </a:t>
                </a:r>
              </a:p>
            </p:txBody>
          </p:sp>
        </mc:Fallback>
      </mc:AlternateContent>
      <p:cxnSp>
        <p:nvCxnSpPr>
          <p:cNvPr id="106" name="Straight Connector 105"/>
          <p:cNvCxnSpPr/>
          <p:nvPr/>
        </p:nvCxnSpPr>
        <p:spPr>
          <a:xfrm>
            <a:off x="606996" y="3976795"/>
            <a:ext cx="0" cy="730108"/>
          </a:xfrm>
          <a:prstGeom prst="line">
            <a:avLst/>
          </a:prstGeom>
          <a:ln w="28575">
            <a:solidFill>
              <a:schemeClr val="tx1"/>
            </a:solidFill>
            <a:prstDash val="solid"/>
            <a:headEnd type="none"/>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Rectangle 2"/>
              <p:cNvSpPr/>
              <p:nvPr/>
            </p:nvSpPr>
            <p:spPr>
              <a:xfrm>
                <a:off x="327457" y="4701522"/>
                <a:ext cx="139435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a:cs typeface="Times New Roman" panose="02020603050405020304" pitchFamily="18" charset="0"/>
                            </a:rPr>
                            <m:t>𝐹</m:t>
                          </m:r>
                        </m:e>
                        <m:sub>
                          <m:r>
                            <a:rPr lang="en-US" sz="2400" b="0" i="1" smtClean="0">
                              <a:latin typeface="Cambria Math"/>
                              <a:cs typeface="Times New Roman" panose="02020603050405020304" pitchFamily="18" charset="0"/>
                            </a:rPr>
                            <m:t>0</m:t>
                          </m:r>
                        </m:sub>
                      </m:sSub>
                      <m:func>
                        <m:funcPr>
                          <m:ctrlPr>
                            <a:rPr lang="en-US" sz="2400" i="1" smtClean="0">
                              <a:latin typeface="Cambria Math" panose="02040503050406030204" pitchFamily="18" charset="0"/>
                              <a:cs typeface="Times New Roman" panose="02020603050405020304" pitchFamily="18" charset="0"/>
                            </a:rPr>
                          </m:ctrlPr>
                        </m:funcPr>
                        <m:fName>
                          <m:r>
                            <m:rPr>
                              <m:sty m:val="p"/>
                            </m:rPr>
                            <a:rPr lang="en-US" sz="2400" i="0" smtClean="0">
                              <a:latin typeface="Cambria Math"/>
                              <a:cs typeface="Times New Roman" panose="02020603050405020304" pitchFamily="18" charset="0"/>
                            </a:rPr>
                            <m:t>sin</m:t>
                          </m:r>
                        </m:fName>
                        <m:e>
                          <m:r>
                            <a:rPr lang="en-US" sz="2400" i="1" smtClean="0">
                              <a:latin typeface="Cambria Math"/>
                              <a:ea typeface="Cambria Math"/>
                              <a:cs typeface="Times New Roman" panose="02020603050405020304" pitchFamily="18" charset="0"/>
                            </a:rPr>
                            <m:t>𝜔</m:t>
                          </m:r>
                          <m:r>
                            <a:rPr lang="en-US" sz="2400" b="0" i="1" smtClean="0">
                              <a:latin typeface="Cambria Math"/>
                              <a:ea typeface="Cambria Math"/>
                              <a:cs typeface="Times New Roman" panose="02020603050405020304" pitchFamily="18" charset="0"/>
                            </a:rPr>
                            <m:t>𝑡</m:t>
                          </m:r>
                        </m:e>
                      </m:func>
                    </m:oMath>
                  </m:oMathPara>
                </a14:m>
                <a:endParaRPr lang="en-IN" sz="2400" dirty="0"/>
              </a:p>
            </p:txBody>
          </p:sp>
        </mc:Choice>
        <mc:Fallback xmlns="">
          <p:sp>
            <p:nvSpPr>
              <p:cNvPr id="3" name="Rectangle 2"/>
              <p:cNvSpPr>
                <a:spLocks noRot="1" noChangeAspect="1" noMove="1" noResize="1" noEditPoints="1" noAdjustHandles="1" noChangeArrowheads="1" noChangeShapeType="1" noTextEdit="1"/>
              </p:cNvSpPr>
              <p:nvPr/>
            </p:nvSpPr>
            <p:spPr>
              <a:xfrm>
                <a:off x="327457" y="4701522"/>
                <a:ext cx="1394356" cy="461665"/>
              </a:xfrm>
              <a:prstGeom prst="rect">
                <a:avLst/>
              </a:prstGeom>
              <a:blipFill rotWithShape="1">
                <a:blip r:embed="rId9"/>
                <a:stretch>
                  <a:fillRect/>
                </a:stretch>
              </a:blipFill>
            </p:spPr>
            <p:txBody>
              <a:bodyPr/>
              <a:lstStyle/>
              <a:p>
                <a:r>
                  <a:rPr lang="en-IN">
                    <a:noFill/>
                  </a:rPr>
                  <a:t> </a:t>
                </a:r>
              </a:p>
            </p:txBody>
          </p:sp>
        </mc:Fallback>
      </mc:AlternateContent>
      <p:cxnSp>
        <p:nvCxnSpPr>
          <p:cNvPr id="107" name="Straight Connector 106"/>
          <p:cNvCxnSpPr/>
          <p:nvPr/>
        </p:nvCxnSpPr>
        <p:spPr>
          <a:xfrm>
            <a:off x="8750332" y="3063420"/>
            <a:ext cx="0" cy="730108"/>
          </a:xfrm>
          <a:prstGeom prst="line">
            <a:avLst/>
          </a:prstGeom>
          <a:ln w="28575">
            <a:solidFill>
              <a:schemeClr val="tx1"/>
            </a:solidFill>
            <a:prstDash val="solid"/>
            <a:headEnd type="none"/>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8" name="Rectangle 107"/>
              <p:cNvSpPr/>
              <p:nvPr/>
            </p:nvSpPr>
            <p:spPr>
              <a:xfrm>
                <a:off x="8470793" y="3788147"/>
                <a:ext cx="139435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a:cs typeface="Times New Roman" panose="02020603050405020304" pitchFamily="18" charset="0"/>
                            </a:rPr>
                            <m:t>𝐹</m:t>
                          </m:r>
                        </m:e>
                        <m:sub>
                          <m:r>
                            <a:rPr lang="en-US" sz="2400" b="0" i="1" smtClean="0">
                              <a:latin typeface="Cambria Math"/>
                              <a:cs typeface="Times New Roman" panose="02020603050405020304" pitchFamily="18" charset="0"/>
                            </a:rPr>
                            <m:t>0</m:t>
                          </m:r>
                        </m:sub>
                      </m:sSub>
                      <m:func>
                        <m:funcPr>
                          <m:ctrlPr>
                            <a:rPr lang="en-US" sz="2400" i="1" smtClean="0">
                              <a:latin typeface="Cambria Math" panose="02040503050406030204" pitchFamily="18" charset="0"/>
                              <a:cs typeface="Times New Roman" panose="02020603050405020304" pitchFamily="18" charset="0"/>
                            </a:rPr>
                          </m:ctrlPr>
                        </m:funcPr>
                        <m:fName>
                          <m:r>
                            <m:rPr>
                              <m:sty m:val="p"/>
                            </m:rPr>
                            <a:rPr lang="en-US" sz="2400" i="0" smtClean="0">
                              <a:latin typeface="Cambria Math"/>
                              <a:cs typeface="Times New Roman" panose="02020603050405020304" pitchFamily="18" charset="0"/>
                            </a:rPr>
                            <m:t>sin</m:t>
                          </m:r>
                        </m:fName>
                        <m:e>
                          <m:r>
                            <a:rPr lang="en-US" sz="2400" i="1" smtClean="0">
                              <a:latin typeface="Cambria Math"/>
                              <a:ea typeface="Cambria Math"/>
                              <a:cs typeface="Times New Roman" panose="02020603050405020304" pitchFamily="18" charset="0"/>
                            </a:rPr>
                            <m:t>𝜔</m:t>
                          </m:r>
                          <m:r>
                            <a:rPr lang="en-US" sz="2400" b="0" i="1" smtClean="0">
                              <a:latin typeface="Cambria Math"/>
                              <a:ea typeface="Cambria Math"/>
                              <a:cs typeface="Times New Roman" panose="02020603050405020304" pitchFamily="18" charset="0"/>
                            </a:rPr>
                            <m:t>𝑡</m:t>
                          </m:r>
                        </m:e>
                      </m:func>
                    </m:oMath>
                  </m:oMathPara>
                </a14:m>
                <a:endParaRPr lang="en-IN" sz="2400" dirty="0"/>
              </a:p>
            </p:txBody>
          </p:sp>
        </mc:Choice>
        <mc:Fallback xmlns="">
          <p:sp>
            <p:nvSpPr>
              <p:cNvPr id="108" name="Rectangle 107"/>
              <p:cNvSpPr>
                <a:spLocks noRot="1" noChangeAspect="1" noMove="1" noResize="1" noEditPoints="1" noAdjustHandles="1" noChangeArrowheads="1" noChangeShapeType="1" noTextEdit="1"/>
              </p:cNvSpPr>
              <p:nvPr/>
            </p:nvSpPr>
            <p:spPr>
              <a:xfrm>
                <a:off x="8470793" y="3788147"/>
                <a:ext cx="1394356" cy="461665"/>
              </a:xfrm>
              <a:prstGeom prst="rect">
                <a:avLst/>
              </a:prstGeom>
              <a:blipFill rotWithShape="1">
                <a:blip r:embed="rId10"/>
                <a:stretch>
                  <a:fillRect/>
                </a:stretch>
              </a:blipFill>
            </p:spPr>
            <p:txBody>
              <a:bodyPr/>
              <a:lstStyle/>
              <a:p>
                <a:r>
                  <a:rPr lang="en-IN">
                    <a:noFill/>
                  </a:rPr>
                  <a:t> </a:t>
                </a:r>
              </a:p>
            </p:txBody>
          </p:sp>
        </mc:Fallback>
      </mc:AlternateContent>
      <p:sp>
        <p:nvSpPr>
          <p:cNvPr id="109" name="TextBox 108"/>
          <p:cNvSpPr txBox="1"/>
          <p:nvPr/>
        </p:nvSpPr>
        <p:spPr>
          <a:xfrm>
            <a:off x="7627620" y="1480287"/>
            <a:ext cx="603050" cy="461665"/>
          </a:xfrm>
          <a:prstGeom prst="rect">
            <a:avLst/>
          </a:prstGeom>
          <a:noFill/>
          <a:ln w="38100">
            <a:noFill/>
          </a:ln>
        </p:spPr>
        <p:txBody>
          <a:bodyPr wrap="none" rtlCol="0">
            <a:spAutoFit/>
          </a:bodyPr>
          <a:lstStyle/>
          <a:p>
            <a:r>
              <a:rPr lang="en-US" sz="2400" i="1" dirty="0">
                <a:latin typeface="Times New Roman" pitchFamily="18" charset="0"/>
                <a:cs typeface="Times New Roman" pitchFamily="18" charset="0"/>
              </a:rPr>
              <a:t>K x</a:t>
            </a:r>
            <a:endParaRPr lang="en-IN" sz="2400" i="1"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10" name="TextBox 109"/>
              <p:cNvSpPr txBox="1"/>
              <p:nvPr/>
            </p:nvSpPr>
            <p:spPr>
              <a:xfrm>
                <a:off x="8372939" y="1480288"/>
                <a:ext cx="632288" cy="461665"/>
              </a:xfrm>
              <a:prstGeom prst="rect">
                <a:avLst/>
              </a:prstGeom>
              <a:noFill/>
              <a:ln w="38100">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cs typeface="Times New Roman" pitchFamily="18" charset="0"/>
                        </a:rPr>
                        <m:t>𝐶</m:t>
                      </m:r>
                      <m:acc>
                        <m:accPr>
                          <m:chr m:val="̇"/>
                          <m:ctrlPr>
                            <a:rPr lang="en-US" sz="2400" i="1" smtClean="0">
                              <a:latin typeface="Cambria Math" panose="02040503050406030204" pitchFamily="18" charset="0"/>
                              <a:cs typeface="Times New Roman" pitchFamily="18" charset="0"/>
                            </a:rPr>
                          </m:ctrlPr>
                        </m:accPr>
                        <m:e>
                          <m:r>
                            <a:rPr lang="en-US" sz="2400" b="0" i="1" smtClean="0">
                              <a:latin typeface="Cambria Math"/>
                              <a:cs typeface="Times New Roman" pitchFamily="18" charset="0"/>
                            </a:rPr>
                            <m:t>𝑥</m:t>
                          </m:r>
                        </m:e>
                      </m:acc>
                    </m:oMath>
                  </m:oMathPara>
                </a14:m>
                <a:endParaRPr lang="en-IN" sz="2400" i="1" dirty="0">
                  <a:latin typeface="Times New Roman" pitchFamily="18" charset="0"/>
                  <a:cs typeface="Times New Roman" pitchFamily="18" charset="0"/>
                </a:endParaRPr>
              </a:p>
            </p:txBody>
          </p:sp>
        </mc:Choice>
        <mc:Fallback xmlns="">
          <p:sp>
            <p:nvSpPr>
              <p:cNvPr id="110" name="TextBox 109"/>
              <p:cNvSpPr txBox="1">
                <a:spLocks noRot="1" noChangeAspect="1" noMove="1" noResize="1" noEditPoints="1" noAdjustHandles="1" noChangeArrowheads="1" noChangeShapeType="1" noTextEdit="1"/>
              </p:cNvSpPr>
              <p:nvPr/>
            </p:nvSpPr>
            <p:spPr>
              <a:xfrm>
                <a:off x="8372939" y="1480288"/>
                <a:ext cx="632288" cy="461665"/>
              </a:xfrm>
              <a:prstGeom prst="rect">
                <a:avLst/>
              </a:prstGeom>
              <a:blipFill rotWithShape="1">
                <a:blip r:embed="rId11"/>
                <a:stretch>
                  <a:fillRect r="-5825"/>
                </a:stretch>
              </a:blipFill>
              <a:ln w="3810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1" name="TextBox 110"/>
              <p:cNvSpPr txBox="1"/>
              <p:nvPr/>
            </p:nvSpPr>
            <p:spPr>
              <a:xfrm>
                <a:off x="9046410" y="1457091"/>
                <a:ext cx="71122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IN" sz="2400" b="0" i="1" smtClean="0">
                          <a:latin typeface="Cambria Math" panose="02040503050406030204" pitchFamily="18" charset="0"/>
                        </a:rPr>
                        <m:t>𝑚</m:t>
                      </m:r>
                      <m:acc>
                        <m:accPr>
                          <m:chr m:val="̈"/>
                          <m:ctrlPr>
                            <a:rPr lang="en-IN" sz="2400" i="1" smtClean="0">
                              <a:latin typeface="Cambria Math" panose="02040503050406030204" pitchFamily="18" charset="0"/>
                            </a:rPr>
                          </m:ctrlPr>
                        </m:accPr>
                        <m:e>
                          <m:r>
                            <a:rPr lang="en-US" sz="2400" b="0" i="1" smtClean="0">
                              <a:latin typeface="Cambria Math"/>
                            </a:rPr>
                            <m:t>𝑥</m:t>
                          </m:r>
                        </m:e>
                      </m:acc>
                    </m:oMath>
                  </m:oMathPara>
                </a14:m>
                <a:endParaRPr lang="en-IN" sz="2400" dirty="0"/>
              </a:p>
            </p:txBody>
          </p:sp>
        </mc:Choice>
        <mc:Fallback xmlns="">
          <p:sp>
            <p:nvSpPr>
              <p:cNvPr id="111" name="TextBox 110"/>
              <p:cNvSpPr txBox="1">
                <a:spLocks noRot="1" noChangeAspect="1" noMove="1" noResize="1" noEditPoints="1" noAdjustHandles="1" noChangeArrowheads="1" noChangeShapeType="1" noTextEdit="1"/>
              </p:cNvSpPr>
              <p:nvPr/>
            </p:nvSpPr>
            <p:spPr>
              <a:xfrm>
                <a:off x="9046410" y="1457091"/>
                <a:ext cx="711220" cy="461665"/>
              </a:xfrm>
              <a:prstGeom prst="rect">
                <a:avLst/>
              </a:prstGeom>
              <a:blipFill rotWithShape="1">
                <a:blip r:embed="rId12"/>
                <a:stretch>
                  <a:fillRect r="-37607"/>
                </a:stretch>
              </a:blipFill>
            </p:spPr>
            <p:txBody>
              <a:bodyPr/>
              <a:lstStyle/>
              <a:p>
                <a:r>
                  <a:rPr lang="en-IN">
                    <a:noFill/>
                  </a:rPr>
                  <a:t> </a:t>
                </a:r>
              </a:p>
            </p:txBody>
          </p:sp>
        </mc:Fallback>
      </mc:AlternateContent>
      <p:cxnSp>
        <p:nvCxnSpPr>
          <p:cNvPr id="112" name="Straight Connector 111"/>
          <p:cNvCxnSpPr/>
          <p:nvPr/>
        </p:nvCxnSpPr>
        <p:spPr>
          <a:xfrm>
            <a:off x="9885549" y="2745064"/>
            <a:ext cx="0" cy="730108"/>
          </a:xfrm>
          <a:prstGeom prst="line">
            <a:avLst/>
          </a:prstGeom>
          <a:ln w="28575">
            <a:solidFill>
              <a:schemeClr val="tx1"/>
            </a:solidFill>
            <a:prstDash val="solid"/>
            <a:headEnd type="none"/>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3" name="TextBox 112"/>
              <p:cNvSpPr txBox="1"/>
              <p:nvPr/>
            </p:nvSpPr>
            <p:spPr>
              <a:xfrm>
                <a:off x="9886158" y="2861612"/>
                <a:ext cx="4263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IN" sz="2400" i="1" smtClean="0">
                              <a:latin typeface="Cambria Math" panose="02040503050406030204" pitchFamily="18" charset="0"/>
                            </a:rPr>
                          </m:ctrlPr>
                        </m:accPr>
                        <m:e>
                          <m:r>
                            <a:rPr lang="en-US" sz="2400" b="0" i="1" smtClean="0">
                              <a:latin typeface="Cambria Math"/>
                            </a:rPr>
                            <m:t>𝑥</m:t>
                          </m:r>
                        </m:e>
                      </m:acc>
                    </m:oMath>
                  </m:oMathPara>
                </a14:m>
                <a:endParaRPr lang="en-IN" sz="2400" dirty="0"/>
              </a:p>
            </p:txBody>
          </p:sp>
        </mc:Choice>
        <mc:Fallback xmlns="">
          <p:sp>
            <p:nvSpPr>
              <p:cNvPr id="113" name="TextBox 112"/>
              <p:cNvSpPr txBox="1">
                <a:spLocks noRot="1" noChangeAspect="1" noMove="1" noResize="1" noEditPoints="1" noAdjustHandles="1" noChangeArrowheads="1" noChangeShapeType="1" noTextEdit="1"/>
              </p:cNvSpPr>
              <p:nvPr/>
            </p:nvSpPr>
            <p:spPr>
              <a:xfrm>
                <a:off x="9886158" y="2861612"/>
                <a:ext cx="426399" cy="461665"/>
              </a:xfrm>
              <a:prstGeom prst="rect">
                <a:avLst/>
              </a:prstGeom>
              <a:blipFill rotWithShape="1">
                <a:blip r:embed="rId13"/>
                <a:stretch>
                  <a:fillRect r="-37143"/>
                </a:stretch>
              </a:blipFill>
            </p:spPr>
            <p:txBody>
              <a:bodyPr/>
              <a:lstStyle/>
              <a:p>
                <a:r>
                  <a:rPr lang="en-IN">
                    <a:noFill/>
                  </a:rPr>
                  <a:t> </a:t>
                </a:r>
              </a:p>
            </p:txBody>
          </p:sp>
        </mc:Fallback>
      </mc:AlternateContent>
      <p:sp>
        <p:nvSpPr>
          <p:cNvPr id="114" name="Rectangle 113"/>
          <p:cNvSpPr/>
          <p:nvPr/>
        </p:nvSpPr>
        <p:spPr>
          <a:xfrm>
            <a:off x="413515" y="5193189"/>
            <a:ext cx="11579782" cy="1292662"/>
          </a:xfrm>
          <a:prstGeom prst="rect">
            <a:avLst/>
          </a:prstGeom>
        </p:spPr>
        <p:txBody>
          <a:bodyPr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This is a linear, non-homogeneous, second order differential equation.</a:t>
            </a:r>
            <a:endParaRPr lang="en-IN" sz="2400" dirty="0">
              <a:solidFill>
                <a:srgbClr val="FF000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IN" dirty="0">
              <a:solidFill>
                <a:srgbClr val="FF000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IN" dirty="0">
                <a:solidFill>
                  <a:srgbClr val="FF0000"/>
                </a:solidFill>
                <a:latin typeface="Times New Roman" panose="02020603050405020304" pitchFamily="18" charset="0"/>
                <a:cs typeface="Times New Roman" panose="02020603050405020304" pitchFamily="18" charset="0"/>
              </a:rPr>
              <a:t>Important: </a:t>
            </a:r>
            <a:r>
              <a:rPr lang="en-IN" dirty="0">
                <a:latin typeface="Times New Roman" panose="02020603050405020304" pitchFamily="18" charset="0"/>
                <a:cs typeface="Times New Roman" panose="02020603050405020304" pitchFamily="18" charset="0"/>
              </a:rPr>
              <a:t>The gravitational force and spring force due to static deflection are not considered in modelling as these two neutralizes with each other. </a:t>
            </a:r>
            <a:endParaRPr lang="en-IN"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1981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Forced vibration with harmonic excitation (Solution)</a:t>
            </a:r>
            <a:endParaRPr lang="en-IN" sz="3600" dirty="0">
              <a:solidFill>
                <a:srgbClr val="7030A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05" name="Rectangle 104"/>
              <p:cNvSpPr/>
              <p:nvPr/>
            </p:nvSpPr>
            <p:spPr>
              <a:xfrm>
                <a:off x="223328" y="1095300"/>
                <a:ext cx="11769969" cy="5102872"/>
              </a:xfrm>
              <a:prstGeom prst="rect">
                <a:avLst/>
              </a:prstGeom>
            </p:spPr>
            <p:txBody>
              <a:bodyPr wrap="square">
                <a:spAutoFit/>
              </a:bodyPr>
              <a:lstStyle/>
              <a:p>
                <a14:m>
                  <m:oMath xmlns:m="http://schemas.openxmlformats.org/officeDocument/2006/math">
                    <m:r>
                      <a:rPr lang="en-US" sz="2400" b="0" i="1" smtClean="0">
                        <a:solidFill>
                          <a:schemeClr val="tx1"/>
                        </a:solidFill>
                        <a:latin typeface="Cambria Math"/>
                        <a:cs typeface="Times New Roman" panose="02020603050405020304" pitchFamily="18" charset="0"/>
                      </a:rPr>
                      <m:t>𝑚</m:t>
                    </m:r>
                    <m:acc>
                      <m:accPr>
                        <m:chr m:val="̈"/>
                        <m:ctrlPr>
                          <a:rPr lang="en-IN" sz="2400" b="0" i="1" smtClean="0">
                            <a:solidFill>
                              <a:schemeClr val="tx1"/>
                            </a:solidFill>
                            <a:latin typeface="Cambria Math" panose="02040503050406030204" pitchFamily="18" charset="0"/>
                            <a:cs typeface="Times New Roman" panose="02020603050405020304" pitchFamily="18" charset="0"/>
                          </a:rPr>
                        </m:ctrlPr>
                      </m:accPr>
                      <m:e>
                        <m:r>
                          <a:rPr lang="en-US" sz="2400" b="0" i="1" smtClean="0">
                            <a:solidFill>
                              <a:schemeClr val="tx1"/>
                            </a:solidFill>
                            <a:latin typeface="Cambria Math"/>
                            <a:cs typeface="Times New Roman" panose="02020603050405020304" pitchFamily="18" charset="0"/>
                          </a:rPr>
                          <m:t>𝑥</m:t>
                        </m:r>
                      </m:e>
                    </m:acc>
                    <m:r>
                      <a:rPr lang="en-US" sz="2400" b="0" i="1" smtClean="0">
                        <a:solidFill>
                          <a:schemeClr val="tx1"/>
                        </a:solidFill>
                        <a:latin typeface="Cambria Math"/>
                        <a:cs typeface="Times New Roman" panose="02020603050405020304" pitchFamily="18" charset="0"/>
                      </a:rPr>
                      <m:t>=−</m:t>
                    </m:r>
                    <m:r>
                      <a:rPr lang="en-IN" sz="2400" i="1">
                        <a:latin typeface="Cambria Math" panose="02040503050406030204" pitchFamily="18" charset="0"/>
                        <a:cs typeface="Times New Roman" panose="02020603050405020304" pitchFamily="18" charset="0"/>
                      </a:rPr>
                      <m:t>𝐾</m:t>
                    </m:r>
                    <m:r>
                      <a:rPr lang="en-US" sz="2400" i="1">
                        <a:latin typeface="Cambria Math"/>
                        <a:cs typeface="Times New Roman" panose="02020603050405020304" pitchFamily="18" charset="0"/>
                      </a:rPr>
                      <m:t>𝑥</m:t>
                    </m:r>
                    <m:r>
                      <a:rPr lang="en-US" sz="2400" b="0" i="1" smtClean="0">
                        <a:latin typeface="Cambria Math"/>
                        <a:cs typeface="Times New Roman" panose="02020603050405020304" pitchFamily="18" charset="0"/>
                      </a:rPr>
                      <m:t>−</m:t>
                    </m:r>
                    <m:r>
                      <a:rPr lang="en-US" sz="2400" i="1">
                        <a:latin typeface="Cambria Math"/>
                        <a:cs typeface="Times New Roman" pitchFamily="18" charset="0"/>
                      </a:rPr>
                      <m:t>𝐶</m:t>
                    </m:r>
                    <m:acc>
                      <m:accPr>
                        <m:chr m:val="̇"/>
                        <m:ctrlPr>
                          <a:rPr lang="en-US" sz="2400" i="1">
                            <a:latin typeface="Cambria Math" panose="02040503050406030204" pitchFamily="18" charset="0"/>
                            <a:cs typeface="Times New Roman" pitchFamily="18" charset="0"/>
                          </a:rPr>
                        </m:ctrlPr>
                      </m:accPr>
                      <m:e>
                        <m:r>
                          <a:rPr lang="en-US" sz="2400" i="1">
                            <a:latin typeface="Cambria Math"/>
                            <a:cs typeface="Times New Roman" pitchFamily="18" charset="0"/>
                          </a:rPr>
                          <m:t>𝑥</m:t>
                        </m:r>
                      </m:e>
                    </m:acc>
                    <m:r>
                      <a:rPr lang="en-US" sz="2400" b="0" i="1" smtClean="0">
                        <a:latin typeface="Cambria Math"/>
                        <a:cs typeface="Times New Roman"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a:cs typeface="Times New Roman" panose="02020603050405020304" pitchFamily="18" charset="0"/>
                          </a:rPr>
                          <m:t>𝐹</m:t>
                        </m:r>
                      </m:e>
                      <m:sub>
                        <m:r>
                          <a:rPr lang="en-US" sz="2400" i="1">
                            <a:latin typeface="Cambria Math"/>
                            <a:cs typeface="Times New Roman" panose="02020603050405020304" pitchFamily="18" charset="0"/>
                          </a:rPr>
                          <m:t>0</m:t>
                        </m:r>
                      </m:sub>
                    </m:sSub>
                    <m:func>
                      <m:funcPr>
                        <m:ctrlPr>
                          <a:rPr lang="en-US" sz="2400" i="1">
                            <a:latin typeface="Cambria Math" panose="02040503050406030204" pitchFamily="18" charset="0"/>
                            <a:cs typeface="Times New Roman" panose="02020603050405020304" pitchFamily="18" charset="0"/>
                          </a:rPr>
                        </m:ctrlPr>
                      </m:funcPr>
                      <m:fName>
                        <m:r>
                          <m:rPr>
                            <m:sty m:val="p"/>
                          </m:rPr>
                          <a:rPr lang="en-US" sz="2400">
                            <a:latin typeface="Cambria Math"/>
                            <a:cs typeface="Times New Roman" panose="02020603050405020304" pitchFamily="18" charset="0"/>
                          </a:rPr>
                          <m:t>sin</m:t>
                        </m:r>
                      </m:fName>
                      <m:e>
                        <m:r>
                          <a:rPr lang="en-US" sz="2400" i="1">
                            <a:latin typeface="Cambria Math"/>
                            <a:ea typeface="Cambria Math"/>
                            <a:cs typeface="Times New Roman" panose="02020603050405020304" pitchFamily="18" charset="0"/>
                          </a:rPr>
                          <m:t>𝜔</m:t>
                        </m:r>
                        <m:r>
                          <a:rPr lang="en-US" sz="2400" i="1">
                            <a:latin typeface="Cambria Math"/>
                            <a:ea typeface="Cambria Math"/>
                            <a:cs typeface="Times New Roman" panose="02020603050405020304" pitchFamily="18" charset="0"/>
                          </a:rPr>
                          <m:t>𝑡</m:t>
                        </m:r>
                      </m:e>
                    </m:func>
                  </m:oMath>
                </a14:m>
                <a:r>
                  <a:rPr lang="en-IN" sz="2400" dirty="0">
                    <a:solidFill>
                      <a:schemeClr val="tx1"/>
                    </a:solidFill>
                  </a:rPr>
                  <a:t>, </a:t>
                </a:r>
                <a14:m>
                  <m:oMath xmlns:m="http://schemas.openxmlformats.org/officeDocument/2006/math">
                    <m:r>
                      <a:rPr lang="en-US" sz="2400" i="1" smtClean="0">
                        <a:latin typeface="Cambria Math"/>
                        <a:ea typeface="Cambria Math"/>
                        <a:cs typeface="Times New Roman" panose="02020603050405020304" pitchFamily="18" charset="0"/>
                      </a:rPr>
                      <m:t>→</m:t>
                    </m:r>
                    <m:r>
                      <a:rPr lang="en-US" sz="2400" i="1">
                        <a:latin typeface="Cambria Math"/>
                        <a:cs typeface="Times New Roman" panose="02020603050405020304" pitchFamily="18" charset="0"/>
                      </a:rPr>
                      <m:t>𝑚</m:t>
                    </m:r>
                    <m:acc>
                      <m:accPr>
                        <m:chr m:val="̈"/>
                        <m:ctrlPr>
                          <a:rPr lang="en-IN" sz="2400" i="1">
                            <a:latin typeface="Cambria Math" panose="02040503050406030204" pitchFamily="18" charset="0"/>
                            <a:cs typeface="Times New Roman" panose="02020603050405020304" pitchFamily="18" charset="0"/>
                          </a:rPr>
                        </m:ctrlPr>
                      </m:accPr>
                      <m:e>
                        <m:r>
                          <a:rPr lang="en-US" sz="2400" i="1">
                            <a:latin typeface="Cambria Math"/>
                            <a:cs typeface="Times New Roman" panose="02020603050405020304" pitchFamily="18" charset="0"/>
                          </a:rPr>
                          <m:t>𝑥</m:t>
                        </m:r>
                      </m:e>
                    </m:acc>
                    <m:r>
                      <a:rPr lang="en-US" sz="2400" b="0" i="1" smtClean="0">
                        <a:latin typeface="Cambria Math"/>
                        <a:cs typeface="Times New Roman" panose="02020603050405020304" pitchFamily="18" charset="0"/>
                      </a:rPr>
                      <m:t>+</m:t>
                    </m:r>
                    <m:r>
                      <a:rPr lang="en-IN" sz="2400" i="1">
                        <a:latin typeface="Cambria Math" panose="02040503050406030204" pitchFamily="18" charset="0"/>
                        <a:cs typeface="Times New Roman" panose="02020603050405020304" pitchFamily="18" charset="0"/>
                      </a:rPr>
                      <m:t>𝐾</m:t>
                    </m:r>
                    <m:r>
                      <a:rPr lang="en-US" sz="2400" i="1">
                        <a:latin typeface="Cambria Math"/>
                        <a:cs typeface="Times New Roman" panose="02020603050405020304" pitchFamily="18" charset="0"/>
                      </a:rPr>
                      <m:t>𝑥</m:t>
                    </m:r>
                    <m:r>
                      <a:rPr lang="en-US" sz="2400" b="0" i="1" smtClean="0">
                        <a:latin typeface="Cambria Math"/>
                        <a:cs typeface="Times New Roman" panose="02020603050405020304" pitchFamily="18" charset="0"/>
                      </a:rPr>
                      <m:t>+</m:t>
                    </m:r>
                    <m:r>
                      <a:rPr lang="en-US" sz="2400" i="1">
                        <a:latin typeface="Cambria Math"/>
                        <a:cs typeface="Times New Roman" panose="02020603050405020304" pitchFamily="18" charset="0"/>
                      </a:rPr>
                      <m:t>𝐶</m:t>
                    </m:r>
                    <m:acc>
                      <m:accPr>
                        <m:chr m:val="̇"/>
                        <m:ctrlPr>
                          <a:rPr lang="en-US" sz="2400" i="1">
                            <a:latin typeface="Cambria Math" panose="02040503050406030204" pitchFamily="18" charset="0"/>
                            <a:cs typeface="Times New Roman" panose="02020603050405020304" pitchFamily="18" charset="0"/>
                          </a:rPr>
                        </m:ctrlPr>
                      </m:accPr>
                      <m:e>
                        <m:r>
                          <a:rPr lang="en-US" sz="2400" i="1">
                            <a:latin typeface="Cambria Math"/>
                            <a:cs typeface="Times New Roman" panose="02020603050405020304" pitchFamily="18" charset="0"/>
                          </a:rPr>
                          <m:t>𝑥</m:t>
                        </m:r>
                      </m:e>
                    </m:acc>
                    <m:r>
                      <a:rPr lang="en-US" sz="2400" i="1">
                        <a:latin typeface="Cambria Math"/>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a:cs typeface="Times New Roman" panose="02020603050405020304" pitchFamily="18" charset="0"/>
                          </a:rPr>
                          <m:t>𝐹</m:t>
                        </m:r>
                      </m:e>
                      <m:sub>
                        <m:r>
                          <a:rPr lang="en-US" sz="2400" i="1">
                            <a:latin typeface="Cambria Math"/>
                            <a:cs typeface="Times New Roman" panose="02020603050405020304" pitchFamily="18" charset="0"/>
                          </a:rPr>
                          <m:t>0</m:t>
                        </m:r>
                      </m:sub>
                    </m:sSub>
                    <m:func>
                      <m:funcPr>
                        <m:ctrlPr>
                          <a:rPr lang="en-US" sz="2400" i="1">
                            <a:latin typeface="Cambria Math" panose="02040503050406030204" pitchFamily="18" charset="0"/>
                            <a:cs typeface="Times New Roman" panose="02020603050405020304" pitchFamily="18" charset="0"/>
                          </a:rPr>
                        </m:ctrlPr>
                      </m:funcPr>
                      <m:fName>
                        <m:r>
                          <m:rPr>
                            <m:sty m:val="p"/>
                          </m:rPr>
                          <a:rPr lang="en-US" sz="2400">
                            <a:latin typeface="Cambria Math"/>
                            <a:cs typeface="Times New Roman" panose="02020603050405020304" pitchFamily="18" charset="0"/>
                          </a:rPr>
                          <m:t>sin</m:t>
                        </m:r>
                      </m:fName>
                      <m:e>
                        <m:r>
                          <a:rPr lang="en-US" sz="2400" i="1">
                            <a:latin typeface="Cambria Math"/>
                            <a:ea typeface="Cambria Math"/>
                            <a:cs typeface="Times New Roman" panose="02020603050405020304" pitchFamily="18" charset="0"/>
                          </a:rPr>
                          <m:t>𝜔</m:t>
                        </m:r>
                        <m:r>
                          <a:rPr lang="en-US" sz="2400" i="1">
                            <a:latin typeface="Cambria Math"/>
                            <a:ea typeface="Cambria Math"/>
                            <a:cs typeface="Times New Roman" panose="02020603050405020304" pitchFamily="18" charset="0"/>
                          </a:rPr>
                          <m:t>𝑡</m:t>
                        </m:r>
                      </m:e>
                    </m:func>
                  </m:oMath>
                </a14:m>
                <a:endParaRPr lang="en-US" sz="2400" dirty="0">
                  <a:ea typeface="Cambria Math"/>
                  <a:cs typeface="Times New Roman" panose="02020603050405020304" pitchFamily="18" charset="0"/>
                </a:endParaRPr>
              </a:p>
              <a:p>
                <a:endParaRPr lang="en-US" sz="2400" dirty="0">
                  <a:solidFill>
                    <a:schemeClr val="tx1"/>
                  </a:solidFill>
                </a:endParaRPr>
              </a:p>
              <a:p>
                <a:r>
                  <a:rPr lang="en-US" sz="2400" dirty="0">
                    <a:latin typeface="Times New Roman" pitchFamily="18" charset="0"/>
                    <a:cs typeface="Times New Roman" pitchFamily="18" charset="0"/>
                  </a:rPr>
                  <a:t>The solution consists of two parts, one complementary solution and second particular integral.</a:t>
                </a:r>
              </a:p>
              <a:p>
                <a:endParaRPr lang="en-US" sz="2400" dirty="0">
                  <a:solidFill>
                    <a:schemeClr val="tx1"/>
                  </a:solidFill>
                  <a:latin typeface="Times New Roman" pitchFamily="18" charset="0"/>
                  <a:cs typeface="Times New Roman" pitchFamily="18" charset="0"/>
                </a:endParaRPr>
              </a:p>
              <a:p>
                <a:r>
                  <a:rPr lang="en-US" sz="2400" dirty="0">
                    <a:latin typeface="Times New Roman" pitchFamily="18" charset="0"/>
                    <a:cs typeface="Times New Roman" pitchFamily="18" charset="0"/>
                  </a:rPr>
                  <a:t>The complementary solution is obtained from the differential equation </a:t>
                </a:r>
                <a14:m>
                  <m:oMath xmlns:m="http://schemas.openxmlformats.org/officeDocument/2006/math">
                    <m:r>
                      <a:rPr lang="en-US" sz="2400" i="1" smtClean="0">
                        <a:solidFill>
                          <a:srgbClr val="FF0000"/>
                        </a:solidFill>
                        <a:latin typeface="Cambria Math"/>
                        <a:cs typeface="Times New Roman" panose="02020603050405020304" pitchFamily="18" charset="0"/>
                      </a:rPr>
                      <m:t>𝑚</m:t>
                    </m:r>
                    <m:acc>
                      <m:accPr>
                        <m:chr m:val="̈"/>
                        <m:ctrlPr>
                          <a:rPr lang="en-IN" sz="2400" i="1">
                            <a:solidFill>
                              <a:srgbClr val="FF0000"/>
                            </a:solidFill>
                            <a:latin typeface="Cambria Math" panose="02040503050406030204" pitchFamily="18" charset="0"/>
                            <a:cs typeface="Times New Roman" panose="02020603050405020304" pitchFamily="18" charset="0"/>
                          </a:rPr>
                        </m:ctrlPr>
                      </m:accPr>
                      <m:e>
                        <m:r>
                          <a:rPr lang="en-US" sz="2400" i="1">
                            <a:solidFill>
                              <a:srgbClr val="FF0000"/>
                            </a:solidFill>
                            <a:latin typeface="Cambria Math"/>
                            <a:cs typeface="Times New Roman" panose="02020603050405020304" pitchFamily="18" charset="0"/>
                          </a:rPr>
                          <m:t>𝑥</m:t>
                        </m:r>
                      </m:e>
                    </m:acc>
                    <m:r>
                      <a:rPr lang="en-US" sz="2400" i="1">
                        <a:solidFill>
                          <a:srgbClr val="FF0000"/>
                        </a:solidFill>
                        <a:latin typeface="Cambria Math"/>
                        <a:cs typeface="Times New Roman" panose="02020603050405020304" pitchFamily="18" charset="0"/>
                      </a:rPr>
                      <m:t>+</m:t>
                    </m:r>
                    <m:r>
                      <a:rPr lang="en-IN" sz="2400" i="1">
                        <a:solidFill>
                          <a:srgbClr val="FF0000"/>
                        </a:solidFill>
                        <a:latin typeface="Cambria Math" panose="02040503050406030204" pitchFamily="18" charset="0"/>
                        <a:cs typeface="Times New Roman" panose="02020603050405020304" pitchFamily="18" charset="0"/>
                      </a:rPr>
                      <m:t>𝐾</m:t>
                    </m:r>
                    <m:r>
                      <a:rPr lang="en-US" sz="2400" i="1">
                        <a:solidFill>
                          <a:srgbClr val="FF0000"/>
                        </a:solidFill>
                        <a:latin typeface="Cambria Math"/>
                        <a:cs typeface="Times New Roman" panose="02020603050405020304" pitchFamily="18" charset="0"/>
                      </a:rPr>
                      <m:t>𝑥</m:t>
                    </m:r>
                    <m:r>
                      <a:rPr lang="en-US" sz="2400" i="1">
                        <a:solidFill>
                          <a:srgbClr val="FF0000"/>
                        </a:solidFill>
                        <a:latin typeface="Cambria Math"/>
                        <a:cs typeface="Times New Roman" panose="02020603050405020304" pitchFamily="18" charset="0"/>
                      </a:rPr>
                      <m:t>+</m:t>
                    </m:r>
                    <m:r>
                      <a:rPr lang="en-US" sz="2400" i="1">
                        <a:solidFill>
                          <a:srgbClr val="FF0000"/>
                        </a:solidFill>
                        <a:latin typeface="Cambria Math"/>
                        <a:cs typeface="Times New Roman" panose="02020603050405020304" pitchFamily="18" charset="0"/>
                      </a:rPr>
                      <m:t>𝐶</m:t>
                    </m:r>
                    <m:acc>
                      <m:accPr>
                        <m:chr m:val="̇"/>
                        <m:ctrlPr>
                          <a:rPr lang="en-US" sz="2400" i="1">
                            <a:solidFill>
                              <a:srgbClr val="FF0000"/>
                            </a:solidFill>
                            <a:latin typeface="Cambria Math" panose="02040503050406030204" pitchFamily="18" charset="0"/>
                            <a:cs typeface="Times New Roman" panose="02020603050405020304" pitchFamily="18" charset="0"/>
                          </a:rPr>
                        </m:ctrlPr>
                      </m:accPr>
                      <m:e>
                        <m:r>
                          <a:rPr lang="en-US" sz="2400" i="1">
                            <a:solidFill>
                              <a:srgbClr val="FF0000"/>
                            </a:solidFill>
                            <a:latin typeface="Cambria Math"/>
                            <a:cs typeface="Times New Roman" panose="02020603050405020304" pitchFamily="18" charset="0"/>
                          </a:rPr>
                          <m:t>𝑥</m:t>
                        </m:r>
                      </m:e>
                    </m:acc>
                    <m:r>
                      <a:rPr lang="en-US" sz="2400" i="1">
                        <a:solidFill>
                          <a:srgbClr val="FF0000"/>
                        </a:solidFill>
                        <a:latin typeface="Cambria Math"/>
                        <a:cs typeface="Times New Roman" panose="02020603050405020304" pitchFamily="18" charset="0"/>
                      </a:rPr>
                      <m:t>=</m:t>
                    </m:r>
                    <m:r>
                      <a:rPr lang="en-US" sz="2400" b="0" i="1" smtClean="0">
                        <a:solidFill>
                          <a:srgbClr val="FF0000"/>
                        </a:solidFill>
                        <a:latin typeface="Cambria Math"/>
                        <a:cs typeface="Times New Roman" panose="02020603050405020304" pitchFamily="18" charset="0"/>
                      </a:rPr>
                      <m:t>0</m:t>
                    </m:r>
                  </m:oMath>
                </a14:m>
                <a:r>
                  <a:rPr lang="en-IN" sz="2400" dirty="0">
                    <a:solidFill>
                      <a:schemeClr val="tx1"/>
                    </a:solidFill>
                    <a:latin typeface="Times New Roman" pitchFamily="18" charset="0"/>
                    <a:cs typeface="Times New Roman" pitchFamily="18" charset="0"/>
                  </a:rPr>
                  <a:t>, assuming no forcing function.</a:t>
                </a:r>
              </a:p>
              <a:p>
                <a:r>
                  <a:rPr lang="en-US" sz="2400" dirty="0">
                    <a:latin typeface="Times New Roman" pitchFamily="18" charset="0"/>
                    <a:cs typeface="Times New Roman" pitchFamily="18" charset="0"/>
                  </a:rPr>
                  <a:t>Complementary solution, </a:t>
                </a:r>
                <a14:m>
                  <m:oMath xmlns:m="http://schemas.openxmlformats.org/officeDocument/2006/math">
                    <m:sSub>
                      <m:sSubPr>
                        <m:ctrlPr>
                          <a:rPr lang="en-US" sz="2400" i="1" smtClean="0">
                            <a:latin typeface="Cambria Math" panose="02040503050406030204" pitchFamily="18" charset="0"/>
                            <a:cs typeface="Times New Roman" panose="02020603050405020304" pitchFamily="18" charset="0"/>
                          </a:rPr>
                        </m:ctrlPr>
                      </m:sSubPr>
                      <m:e>
                        <m:r>
                          <a:rPr lang="en-US" sz="2400" b="0" i="1" smtClean="0">
                            <a:latin typeface="Cambria Math"/>
                            <a:cs typeface="Times New Roman" panose="02020603050405020304" pitchFamily="18" charset="0"/>
                          </a:rPr>
                          <m:t>𝑥</m:t>
                        </m:r>
                      </m:e>
                      <m:sub>
                        <m:r>
                          <a:rPr lang="en-US" sz="2400" b="0" i="1" smtClean="0">
                            <a:latin typeface="Cambria Math"/>
                            <a:cs typeface="Times New Roman" panose="02020603050405020304" pitchFamily="18" charset="0"/>
                          </a:rPr>
                          <m:t>𝑐</m:t>
                        </m:r>
                      </m:sub>
                    </m:sSub>
                    <m:r>
                      <a:rPr lang="en-US" sz="2400" i="1">
                        <a:latin typeface="Cambria Math"/>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a:cs typeface="Times New Roman" panose="02020603050405020304" pitchFamily="18" charset="0"/>
                          </a:rPr>
                          <m:t>𝐴</m:t>
                        </m:r>
                      </m:e>
                      <m:sub>
                        <m:r>
                          <a:rPr lang="en-US" sz="2400" i="1">
                            <a:latin typeface="Cambria Math"/>
                            <a:cs typeface="Times New Roman" panose="02020603050405020304" pitchFamily="18" charset="0"/>
                          </a:rPr>
                          <m:t>2</m:t>
                        </m:r>
                      </m:sub>
                    </m:sSub>
                    <m:sSup>
                      <m:sSupPr>
                        <m:ctrlPr>
                          <a:rPr lang="en-IN" sz="2400" i="1">
                            <a:solidFill>
                              <a:srgbClr val="FF0000"/>
                            </a:solidFill>
                            <a:latin typeface="Cambria Math" panose="02040503050406030204" pitchFamily="18" charset="0"/>
                            <a:cs typeface="Times New Roman" panose="02020603050405020304" pitchFamily="18" charset="0"/>
                          </a:rPr>
                        </m:ctrlPr>
                      </m:sSupPr>
                      <m:e>
                        <m:r>
                          <a:rPr lang="en-IN" sz="2400" i="1">
                            <a:solidFill>
                              <a:srgbClr val="FF0000"/>
                            </a:solidFill>
                            <a:latin typeface="Cambria Math" panose="02040503050406030204" pitchFamily="18" charset="0"/>
                            <a:cs typeface="Times New Roman" panose="02020603050405020304" pitchFamily="18" charset="0"/>
                          </a:rPr>
                          <m:t>𝑒</m:t>
                        </m:r>
                      </m:e>
                      <m:sup>
                        <m:sSub>
                          <m:sSubPr>
                            <m:ctrlPr>
                              <a:rPr lang="en-IN"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m:t>
                            </m:r>
                            <m:r>
                              <a:rPr lang="en-IN" sz="2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𝜁</m:t>
                            </m:r>
                            <m:r>
                              <a:rPr lang="en-IN" sz="2400" i="1">
                                <a:latin typeface="Cambria Math" panose="02040503050406030204" pitchFamily="18" charset="0"/>
                                <a:ea typeface="Cambria Math" panose="02040503050406030204" pitchFamily="18" charset="0"/>
                                <a:cs typeface="Times New Roman" panose="02020603050405020304" pitchFamily="18" charset="0"/>
                              </a:rPr>
                              <m:t>𝜔</m:t>
                            </m:r>
                          </m:e>
                          <m:sub>
                            <m:r>
                              <a:rPr lang="en-IN" sz="2400" i="1">
                                <a:latin typeface="Cambria Math" panose="02040503050406030204" pitchFamily="18" charset="0"/>
                                <a:cs typeface="Times New Roman" panose="02020603050405020304" pitchFamily="18" charset="0"/>
                              </a:rPr>
                              <m:t>𝑛</m:t>
                            </m:r>
                          </m:sub>
                        </m:sSub>
                        <m:r>
                          <a:rPr lang="en-IN" sz="2400" i="1">
                            <a:solidFill>
                              <a:srgbClr val="FF0000"/>
                            </a:solidFill>
                            <a:latin typeface="Cambria Math" panose="02040503050406030204" pitchFamily="18" charset="0"/>
                            <a:cs typeface="Times New Roman" panose="02020603050405020304" pitchFamily="18" charset="0"/>
                          </a:rPr>
                          <m:t>𝑡</m:t>
                        </m:r>
                      </m:sup>
                    </m:sSup>
                    <m:func>
                      <m:funcPr>
                        <m:ctrlPr>
                          <a:rPr lang="en-IN" sz="2400" i="1">
                            <a:solidFill>
                              <a:srgbClr val="FF0000"/>
                            </a:solidFill>
                            <a:latin typeface="Cambria Math" panose="02040503050406030204" pitchFamily="18" charset="0"/>
                            <a:cs typeface="Times New Roman" panose="02020603050405020304" pitchFamily="18" charset="0"/>
                          </a:rPr>
                        </m:ctrlPr>
                      </m:funcPr>
                      <m:fName>
                        <m:r>
                          <m:rPr>
                            <m:sty m:val="p"/>
                          </m:rPr>
                          <a:rPr lang="en-US" sz="2400">
                            <a:solidFill>
                              <a:srgbClr val="FF0000"/>
                            </a:solidFill>
                            <a:latin typeface="Cambria Math"/>
                            <a:cs typeface="Times New Roman" panose="02020603050405020304" pitchFamily="18" charset="0"/>
                          </a:rPr>
                          <m:t>sin</m:t>
                        </m:r>
                      </m:fName>
                      <m:e>
                        <m:d>
                          <m:dPr>
                            <m:begChr m:val="["/>
                            <m:endChr m:val="]"/>
                            <m:ctrlPr>
                              <a:rPr lang="en-IN" sz="2400" i="1">
                                <a:solidFill>
                                  <a:srgbClr val="FF0000"/>
                                </a:solidFill>
                                <a:latin typeface="Cambria Math" panose="02040503050406030204" pitchFamily="18" charset="0"/>
                                <a:cs typeface="Times New Roman" panose="02020603050405020304" pitchFamily="18" charset="0"/>
                              </a:rPr>
                            </m:ctrlPr>
                          </m:dPr>
                          <m:e>
                            <m:rad>
                              <m:radPr>
                                <m:degHide m:val="on"/>
                                <m:ctrlPr>
                                  <a:rPr lang="en-IN" sz="2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US" sz="2400" i="1">
                                    <a:solidFill>
                                      <a:srgbClr val="FF0000"/>
                                    </a:solidFill>
                                    <a:latin typeface="Cambria Math"/>
                                    <a:ea typeface="Cambria Math" panose="02040503050406030204" pitchFamily="18" charset="0"/>
                                    <a:cs typeface="Times New Roman" panose="02020603050405020304" pitchFamily="18" charset="0"/>
                                  </a:rPr>
                                  <m:t>1</m:t>
                                </m:r>
                                <m:r>
                                  <a:rPr lang="en-IN" sz="2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2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IN" sz="2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𝜁</m:t>
                                    </m:r>
                                  </m:e>
                                  <m:sup>
                                    <m:r>
                                      <a:rPr lang="en-IN" sz="2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2</m:t>
                                    </m:r>
                                  </m:sup>
                                </m:sSup>
                              </m:e>
                            </m:rad>
                            <m:sSub>
                              <m:sSubPr>
                                <m:ctrlPr>
                                  <a:rPr lang="en-IN"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ea typeface="Cambria Math" panose="02040503050406030204" pitchFamily="18" charset="0"/>
                                    <a:cs typeface="Times New Roman" panose="02020603050405020304" pitchFamily="18" charset="0"/>
                                  </a:rPr>
                                  <m:t>𝜔</m:t>
                                </m:r>
                              </m:e>
                              <m:sub>
                                <m:r>
                                  <a:rPr lang="en-IN" sz="2400" i="1">
                                    <a:latin typeface="Cambria Math" panose="02040503050406030204" pitchFamily="18" charset="0"/>
                                    <a:cs typeface="Times New Roman" panose="02020603050405020304" pitchFamily="18" charset="0"/>
                                  </a:rPr>
                                  <m:t>𝑛</m:t>
                                </m:r>
                              </m:sub>
                            </m:sSub>
                            <m:r>
                              <a:rPr lang="en-US" sz="2400" i="1">
                                <a:latin typeface="Cambria Math"/>
                                <a:cs typeface="Times New Roman" panose="02020603050405020304" pitchFamily="18" charset="0"/>
                              </a:rPr>
                              <m:t>𝑡</m:t>
                            </m:r>
                            <m:r>
                              <a:rPr lang="en-US" sz="2400" i="1">
                                <a:latin typeface="Cambria Math"/>
                                <a:cs typeface="Times New Roman" panose="02020603050405020304" pitchFamily="18" charset="0"/>
                              </a:rPr>
                              <m:t>+</m:t>
                            </m:r>
                            <m:sSub>
                              <m:sSubPr>
                                <m:ctrlPr>
                                  <a:rPr lang="en-US" sz="2400" i="1">
                                    <a:solidFill>
                                      <a:srgbClr val="FF0000"/>
                                    </a:solidFill>
                                    <a:latin typeface="Cambria Math" panose="02040503050406030204" pitchFamily="18" charset="0"/>
                                    <a:cs typeface="Times New Roman" panose="02020603050405020304" pitchFamily="18" charset="0"/>
                                  </a:rPr>
                                </m:ctrlPr>
                              </m:sSubPr>
                              <m:e>
                                <m:r>
                                  <a:rPr lang="en-US" sz="2400" i="1">
                                    <a:solidFill>
                                      <a:srgbClr val="FF0000"/>
                                    </a:solidFill>
                                    <a:latin typeface="Cambria Math"/>
                                    <a:ea typeface="Cambria Math"/>
                                    <a:cs typeface="Times New Roman" panose="02020603050405020304" pitchFamily="18" charset="0"/>
                                  </a:rPr>
                                  <m:t>𝜑</m:t>
                                </m:r>
                              </m:e>
                              <m:sub>
                                <m:r>
                                  <a:rPr lang="en-US" sz="2400" i="1">
                                    <a:solidFill>
                                      <a:srgbClr val="FF0000"/>
                                    </a:solidFill>
                                    <a:latin typeface="Cambria Math"/>
                                    <a:ea typeface="Cambria Math"/>
                                    <a:cs typeface="Times New Roman" panose="02020603050405020304" pitchFamily="18" charset="0"/>
                                  </a:rPr>
                                  <m:t>2</m:t>
                                </m:r>
                              </m:sub>
                            </m:sSub>
                          </m:e>
                        </m:d>
                      </m:e>
                    </m:func>
                    <m:r>
                      <a:rPr lang="en-US" sz="2400" i="1">
                        <a:solidFill>
                          <a:srgbClr val="FF0000"/>
                        </a:solidFill>
                        <a:latin typeface="Cambria Math"/>
                        <a:cs typeface="Times New Roman" panose="02020603050405020304" pitchFamily="18" charset="0"/>
                      </a:rPr>
                      <m:t> </m:t>
                    </m:r>
                  </m:oMath>
                </a14:m>
                <a:r>
                  <a:rPr lang="en-IN" sz="2400" dirty="0">
                    <a:latin typeface="Times New Roman" pitchFamily="18" charset="0"/>
                    <a:cs typeface="Times New Roman" pitchFamily="18" charset="0"/>
                  </a:rPr>
                  <a:t>for a under damped system</a:t>
                </a:r>
              </a:p>
              <a:p>
                <a:endParaRPr lang="en-IN" sz="2400" dirty="0">
                  <a:latin typeface="Times New Roman" pitchFamily="18" charset="0"/>
                  <a:cs typeface="Times New Roman" pitchFamily="18" charset="0"/>
                </a:endParaRPr>
              </a:p>
              <a:p>
                <a:r>
                  <a:rPr lang="en-IN" sz="2400" dirty="0">
                    <a:latin typeface="Times New Roman" pitchFamily="18" charset="0"/>
                    <a:cs typeface="Times New Roman" pitchFamily="18" charset="0"/>
                  </a:rPr>
                  <a:t>The particular integral  is a steady state harmonic oscillation having a frequency equal to that of excitation and the displacement vector lags the force vector by some angle.</a:t>
                </a:r>
              </a:p>
              <a:p>
                <a:endParaRPr lang="en-US" sz="2400" dirty="0">
                  <a:latin typeface="Times New Roman" pitchFamily="18" charset="0"/>
                  <a:cs typeface="Times New Roman" pitchFamily="18" charset="0"/>
                </a:endParaRPr>
              </a:p>
              <a:p>
                <a:r>
                  <a:rPr lang="en-IN" sz="2400" dirty="0">
                    <a:latin typeface="Times New Roman" pitchFamily="18" charset="0"/>
                    <a:cs typeface="Times New Roman" pitchFamily="18" charset="0"/>
                  </a:rPr>
                  <a:t> Assume,</a:t>
                </a:r>
                <a:r>
                  <a:rPr lang="en-IN" sz="2400" dirty="0">
                    <a:cs typeface="Times New Roman" pitchFamily="18" charset="0"/>
                  </a:rPr>
                  <a:t> </a:t>
                </a:r>
                <a14:m>
                  <m:oMath xmlns:m="http://schemas.openxmlformats.org/officeDocument/2006/math">
                    <m:sSub>
                      <m:sSubPr>
                        <m:ctrlPr>
                          <a:rPr lang="en-IN" sz="2400" i="1" smtClean="0">
                            <a:solidFill>
                              <a:srgbClr val="FF0000"/>
                            </a:solidFill>
                            <a:latin typeface="Cambria Math" panose="02040503050406030204" pitchFamily="18" charset="0"/>
                            <a:cs typeface="Times New Roman" pitchFamily="18" charset="0"/>
                          </a:rPr>
                        </m:ctrlPr>
                      </m:sSubPr>
                      <m:e>
                        <m:r>
                          <a:rPr lang="en-US" sz="2400" b="0" i="1" smtClean="0">
                            <a:solidFill>
                              <a:srgbClr val="FF0000"/>
                            </a:solidFill>
                            <a:latin typeface="Cambria Math"/>
                            <a:cs typeface="Times New Roman" pitchFamily="18" charset="0"/>
                          </a:rPr>
                          <m:t>𝑥</m:t>
                        </m:r>
                      </m:e>
                      <m:sub>
                        <m:r>
                          <a:rPr lang="en-US" sz="2400" b="0" i="1" smtClean="0">
                            <a:solidFill>
                              <a:srgbClr val="FF0000"/>
                            </a:solidFill>
                            <a:latin typeface="Cambria Math"/>
                            <a:cs typeface="Times New Roman" pitchFamily="18" charset="0"/>
                          </a:rPr>
                          <m:t>𝑝</m:t>
                        </m:r>
                      </m:sub>
                    </m:sSub>
                    <m:r>
                      <a:rPr lang="en-US" sz="2400" b="0" i="1" smtClean="0">
                        <a:solidFill>
                          <a:srgbClr val="FF0000"/>
                        </a:solidFill>
                        <a:latin typeface="Cambria Math"/>
                        <a:cs typeface="Times New Roman" pitchFamily="18" charset="0"/>
                      </a:rPr>
                      <m:t>=</m:t>
                    </m:r>
                    <m:r>
                      <a:rPr lang="en-US" sz="2400" b="0" i="1" smtClean="0">
                        <a:solidFill>
                          <a:srgbClr val="FF0000"/>
                        </a:solidFill>
                        <a:latin typeface="Cambria Math"/>
                        <a:cs typeface="Times New Roman" pitchFamily="18" charset="0"/>
                      </a:rPr>
                      <m:t>𝑋</m:t>
                    </m:r>
                    <m:func>
                      <m:funcPr>
                        <m:ctrlPr>
                          <a:rPr lang="en-US" sz="2400" b="0" i="1" smtClean="0">
                            <a:solidFill>
                              <a:srgbClr val="FF0000"/>
                            </a:solidFill>
                            <a:latin typeface="Cambria Math" panose="02040503050406030204" pitchFamily="18" charset="0"/>
                            <a:cs typeface="Times New Roman" pitchFamily="18" charset="0"/>
                          </a:rPr>
                        </m:ctrlPr>
                      </m:funcPr>
                      <m:fName>
                        <m:r>
                          <m:rPr>
                            <m:sty m:val="p"/>
                          </m:rPr>
                          <a:rPr lang="en-US" sz="2400" b="0" i="0" smtClean="0">
                            <a:solidFill>
                              <a:srgbClr val="FF0000"/>
                            </a:solidFill>
                            <a:latin typeface="Cambria Math"/>
                            <a:cs typeface="Times New Roman" pitchFamily="18" charset="0"/>
                          </a:rPr>
                          <m:t>sin</m:t>
                        </m:r>
                      </m:fName>
                      <m:e>
                        <m:d>
                          <m:dPr>
                            <m:ctrlPr>
                              <a:rPr lang="en-US" sz="2400" b="0" i="1" smtClean="0">
                                <a:solidFill>
                                  <a:srgbClr val="FF0000"/>
                                </a:solidFill>
                                <a:latin typeface="Cambria Math" panose="02040503050406030204" pitchFamily="18" charset="0"/>
                                <a:cs typeface="Times New Roman" pitchFamily="18" charset="0"/>
                              </a:rPr>
                            </m:ctrlPr>
                          </m:dPr>
                          <m:e>
                            <m:r>
                              <a:rPr lang="en-US" sz="2400" b="0" i="1" smtClean="0">
                                <a:solidFill>
                                  <a:srgbClr val="FF0000"/>
                                </a:solidFill>
                                <a:latin typeface="Cambria Math"/>
                                <a:ea typeface="Cambria Math"/>
                                <a:cs typeface="Times New Roman" pitchFamily="18" charset="0"/>
                              </a:rPr>
                              <m:t>𝜔</m:t>
                            </m:r>
                            <m:r>
                              <a:rPr lang="en-US" sz="2400" b="0" i="1" smtClean="0">
                                <a:solidFill>
                                  <a:srgbClr val="FF0000"/>
                                </a:solidFill>
                                <a:latin typeface="Cambria Math"/>
                                <a:ea typeface="Cambria Math"/>
                                <a:cs typeface="Times New Roman" pitchFamily="18" charset="0"/>
                              </a:rPr>
                              <m:t>𝑡</m:t>
                            </m:r>
                            <m:r>
                              <a:rPr lang="en-US" sz="2400" b="0" i="1" smtClean="0">
                                <a:solidFill>
                                  <a:srgbClr val="FF0000"/>
                                </a:solidFill>
                                <a:latin typeface="Cambria Math"/>
                                <a:ea typeface="Cambria Math"/>
                                <a:cs typeface="Times New Roman" pitchFamily="18" charset="0"/>
                              </a:rPr>
                              <m:t>−</m:t>
                            </m:r>
                            <m:r>
                              <a:rPr lang="en-US" sz="2400" b="0" i="1" smtClean="0">
                                <a:solidFill>
                                  <a:srgbClr val="FF0000"/>
                                </a:solidFill>
                                <a:latin typeface="Cambria Math"/>
                                <a:ea typeface="Cambria Math"/>
                                <a:cs typeface="Times New Roman" pitchFamily="18" charset="0"/>
                              </a:rPr>
                              <m:t>𝜑</m:t>
                            </m:r>
                          </m:e>
                        </m:d>
                      </m:e>
                    </m:func>
                  </m:oMath>
                </a14:m>
                <a:r>
                  <a:rPr lang="en-IN" sz="2400" dirty="0">
                    <a:latin typeface="Times New Roman" pitchFamily="18" charset="0"/>
                    <a:cs typeface="Times New Roman" pitchFamily="18" charset="0"/>
                  </a:rPr>
                  <a:t>, where </a:t>
                </a:r>
                <a14:m>
                  <m:oMath xmlns:m="http://schemas.openxmlformats.org/officeDocument/2006/math">
                    <m:sSub>
                      <m:sSubPr>
                        <m:ctrlPr>
                          <a:rPr lang="en-IN"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cs typeface="Times New Roman" pitchFamily="18" charset="0"/>
                          </a:rPr>
                          <m:t>𝑥</m:t>
                        </m:r>
                      </m:e>
                      <m:sub>
                        <m:r>
                          <a:rPr lang="en-US" sz="2400" i="1">
                            <a:solidFill>
                              <a:srgbClr val="FF0000"/>
                            </a:solidFill>
                            <a:latin typeface="Cambria Math"/>
                            <a:cs typeface="Times New Roman" pitchFamily="18" charset="0"/>
                          </a:rPr>
                          <m:t>𝑝</m:t>
                        </m:r>
                      </m:sub>
                    </m:sSub>
                    <m:r>
                      <a:rPr lang="en-US" sz="2400" b="0" i="1" smtClean="0">
                        <a:solidFill>
                          <a:srgbClr val="FF0000"/>
                        </a:solidFill>
                        <a:latin typeface="Cambria Math"/>
                        <a:cs typeface="Times New Roman" pitchFamily="18" charset="0"/>
                      </a:rPr>
                      <m:t>=</m:t>
                    </m:r>
                  </m:oMath>
                </a14:m>
                <a:r>
                  <a:rPr lang="en-IN" sz="2400" dirty="0">
                    <a:latin typeface="Times New Roman" pitchFamily="18" charset="0"/>
                    <a:cs typeface="Times New Roman" pitchFamily="18" charset="0"/>
                  </a:rPr>
                  <a:t>particular integral, </a:t>
                </a:r>
                <a14:m>
                  <m:oMath xmlns:m="http://schemas.openxmlformats.org/officeDocument/2006/math">
                    <m:r>
                      <a:rPr lang="en-US" sz="2400" i="1">
                        <a:solidFill>
                          <a:srgbClr val="FF0000"/>
                        </a:solidFill>
                        <a:latin typeface="Cambria Math"/>
                        <a:cs typeface="Times New Roman" pitchFamily="18" charset="0"/>
                      </a:rPr>
                      <m:t>𝑋</m:t>
                    </m:r>
                    <m:r>
                      <a:rPr lang="en-US" sz="2400" b="0" i="1" smtClean="0">
                        <a:solidFill>
                          <a:srgbClr val="FF0000"/>
                        </a:solidFill>
                        <a:latin typeface="Cambria Math"/>
                        <a:cs typeface="Times New Roman" pitchFamily="18" charset="0"/>
                      </a:rPr>
                      <m:t>=</m:t>
                    </m:r>
                  </m:oMath>
                </a14:m>
                <a:r>
                  <a:rPr lang="en-IN" sz="2400" dirty="0">
                    <a:latin typeface="Times New Roman" pitchFamily="18" charset="0"/>
                    <a:cs typeface="Times New Roman" pitchFamily="18" charset="0"/>
                  </a:rPr>
                  <a:t>amplitude of vibration and </a:t>
                </a:r>
                <a14:m>
                  <m:oMath xmlns:m="http://schemas.openxmlformats.org/officeDocument/2006/math">
                    <m:r>
                      <a:rPr lang="en-US" sz="2400" i="1">
                        <a:solidFill>
                          <a:srgbClr val="FF0000"/>
                        </a:solidFill>
                        <a:latin typeface="Cambria Math"/>
                        <a:ea typeface="Cambria Math"/>
                        <a:cs typeface="Times New Roman" pitchFamily="18" charset="0"/>
                      </a:rPr>
                      <m:t>𝜑</m:t>
                    </m:r>
                    <m:r>
                      <a:rPr lang="en-US" sz="2400" b="0" i="0" smtClean="0">
                        <a:solidFill>
                          <a:srgbClr val="FF0000"/>
                        </a:solidFill>
                        <a:latin typeface="Cambria Math"/>
                        <a:ea typeface="Cambria Math"/>
                        <a:cs typeface="Times New Roman" pitchFamily="18" charset="0"/>
                      </a:rPr>
                      <m:t>=</m:t>
                    </m:r>
                  </m:oMath>
                </a14:m>
                <a:r>
                  <a:rPr lang="en-IN" sz="2400" dirty="0">
                    <a:latin typeface="Times New Roman" pitchFamily="18" charset="0"/>
                    <a:cs typeface="Times New Roman" pitchFamily="18" charset="0"/>
                  </a:rPr>
                  <a:t> angle by which the displacement lags the force.</a:t>
                </a:r>
                <a:endParaRPr lang="en-IN" sz="2400" dirty="0">
                  <a:solidFill>
                    <a:schemeClr val="tx1"/>
                  </a:solidFill>
                  <a:latin typeface="Times New Roman" pitchFamily="18" charset="0"/>
                  <a:cs typeface="Times New Roman" pitchFamily="18" charset="0"/>
                </a:endParaRPr>
              </a:p>
            </p:txBody>
          </p:sp>
        </mc:Choice>
        <mc:Fallback xmlns="">
          <p:sp>
            <p:nvSpPr>
              <p:cNvPr id="105" name="Rectangle 104"/>
              <p:cNvSpPr>
                <a:spLocks noRot="1" noChangeAspect="1" noMove="1" noResize="1" noEditPoints="1" noAdjustHandles="1" noChangeArrowheads="1" noChangeShapeType="1" noTextEdit="1"/>
              </p:cNvSpPr>
              <p:nvPr/>
            </p:nvSpPr>
            <p:spPr>
              <a:xfrm>
                <a:off x="223328" y="1095300"/>
                <a:ext cx="11769969" cy="5102872"/>
              </a:xfrm>
              <a:prstGeom prst="rect">
                <a:avLst/>
              </a:prstGeom>
              <a:blipFill rotWithShape="1">
                <a:blip r:embed="rId2"/>
                <a:stretch>
                  <a:fillRect l="-829" t="-956" b="-1792"/>
                </a:stretch>
              </a:blipFill>
            </p:spPr>
            <p:txBody>
              <a:bodyPr/>
              <a:lstStyle/>
              <a:p>
                <a:r>
                  <a:rPr lang="en-IN">
                    <a:noFill/>
                  </a:rPr>
                  <a:t> </a:t>
                </a:r>
              </a:p>
            </p:txBody>
          </p:sp>
        </mc:Fallback>
      </mc:AlternateContent>
    </p:spTree>
    <p:extLst>
      <p:ext uri="{BB962C8B-B14F-4D97-AF65-F5344CB8AC3E}">
        <p14:creationId xmlns:p14="http://schemas.microsoft.com/office/powerpoint/2010/main" val="3288101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Forced vibration with harmonic excitation (Solution)</a:t>
            </a:r>
            <a:endParaRPr lang="en-IN" sz="3600" dirty="0">
              <a:solidFill>
                <a:srgbClr val="7030A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05" name="Rectangle 104"/>
              <p:cNvSpPr/>
              <p:nvPr/>
            </p:nvSpPr>
            <p:spPr>
              <a:xfrm>
                <a:off x="223328" y="1095300"/>
                <a:ext cx="11769969" cy="4958152"/>
              </a:xfrm>
              <a:prstGeom prst="rect">
                <a:avLst/>
              </a:prstGeom>
            </p:spPr>
            <p:txBody>
              <a:bodyPr wrap="square">
                <a:spAutoFit/>
              </a:bodyPr>
              <a:lstStyle/>
              <a:p>
                <a:r>
                  <a:rPr lang="en-IN" sz="2400" dirty="0">
                    <a:latin typeface="Times New Roman" pitchFamily="18" charset="0"/>
                    <a:cs typeface="Times New Roman" pitchFamily="18" charset="0"/>
                  </a:rPr>
                  <a:t> Thus ,</a:t>
                </a:r>
                <a:r>
                  <a:rPr lang="en-IN" sz="2400" dirty="0">
                    <a:cs typeface="Times New Roman" pitchFamily="18" charset="0"/>
                  </a:rPr>
                  <a:t> </a:t>
                </a:r>
                <a14:m>
                  <m:oMath xmlns:m="http://schemas.openxmlformats.org/officeDocument/2006/math">
                    <m:sSub>
                      <m:sSubPr>
                        <m:ctrlPr>
                          <a:rPr lang="en-IN" sz="2400" i="1" smtClean="0">
                            <a:solidFill>
                              <a:srgbClr val="FF0000"/>
                            </a:solidFill>
                            <a:latin typeface="Cambria Math" panose="02040503050406030204" pitchFamily="18" charset="0"/>
                            <a:cs typeface="Times New Roman" pitchFamily="18" charset="0"/>
                          </a:rPr>
                        </m:ctrlPr>
                      </m:sSubPr>
                      <m:e>
                        <m:acc>
                          <m:accPr>
                            <m:chr m:val="̇"/>
                            <m:ctrlPr>
                              <a:rPr lang="en-IN" sz="2400" i="1" smtClean="0">
                                <a:solidFill>
                                  <a:srgbClr val="FF0000"/>
                                </a:solidFill>
                                <a:latin typeface="Cambria Math" panose="02040503050406030204" pitchFamily="18" charset="0"/>
                                <a:cs typeface="Times New Roman" pitchFamily="18" charset="0"/>
                              </a:rPr>
                            </m:ctrlPr>
                          </m:accPr>
                          <m:e>
                            <m:r>
                              <a:rPr lang="en-US" sz="2400" b="0" i="1" smtClean="0">
                                <a:solidFill>
                                  <a:srgbClr val="FF0000"/>
                                </a:solidFill>
                                <a:latin typeface="Cambria Math"/>
                                <a:cs typeface="Times New Roman" pitchFamily="18" charset="0"/>
                              </a:rPr>
                              <m:t>𝑥</m:t>
                            </m:r>
                          </m:e>
                        </m:acc>
                      </m:e>
                      <m:sub>
                        <m:r>
                          <a:rPr lang="en-US" sz="2400" b="0" i="1" smtClean="0">
                            <a:solidFill>
                              <a:srgbClr val="FF0000"/>
                            </a:solidFill>
                            <a:latin typeface="Cambria Math"/>
                            <a:cs typeface="Times New Roman" pitchFamily="18" charset="0"/>
                          </a:rPr>
                          <m:t>𝑝</m:t>
                        </m:r>
                      </m:sub>
                    </m:sSub>
                    <m:r>
                      <a:rPr lang="en-US" sz="2400" b="0" i="1" smtClean="0">
                        <a:solidFill>
                          <a:srgbClr val="FF0000"/>
                        </a:solidFill>
                        <a:latin typeface="Cambria Math"/>
                        <a:cs typeface="Times New Roman" pitchFamily="18" charset="0"/>
                      </a:rPr>
                      <m:t>=</m:t>
                    </m:r>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 </m:t>
                    </m:r>
                    <m:r>
                      <a:rPr lang="en-US" sz="2400" i="1">
                        <a:solidFill>
                          <a:srgbClr val="FF0000"/>
                        </a:solidFill>
                        <a:latin typeface="Cambria Math"/>
                        <a:cs typeface="Times New Roman" pitchFamily="18" charset="0"/>
                      </a:rPr>
                      <m:t>𝑋</m:t>
                    </m:r>
                    <m:func>
                      <m:funcPr>
                        <m:ctrlPr>
                          <a:rPr lang="en-US" sz="2400" i="1">
                            <a:solidFill>
                              <a:srgbClr val="FF0000"/>
                            </a:solidFill>
                            <a:latin typeface="Cambria Math" panose="02040503050406030204" pitchFamily="18" charset="0"/>
                            <a:cs typeface="Times New Roman" pitchFamily="18" charset="0"/>
                          </a:rPr>
                        </m:ctrlPr>
                      </m:funcPr>
                      <m:fName>
                        <m:r>
                          <m:rPr>
                            <m:sty m:val="p"/>
                          </m:rPr>
                          <a:rPr lang="en-US" sz="2400" b="0" i="0" smtClean="0">
                            <a:solidFill>
                              <a:srgbClr val="FF0000"/>
                            </a:solidFill>
                            <a:latin typeface="Cambria Math"/>
                            <a:cs typeface="Times New Roman" pitchFamily="18" charset="0"/>
                          </a:rPr>
                          <m:t>cos</m:t>
                        </m:r>
                      </m:fName>
                      <m:e>
                        <m:d>
                          <m:dPr>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𝑡</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𝜑</m:t>
                            </m:r>
                          </m:e>
                        </m:d>
                      </m:e>
                    </m:func>
                    <m:r>
                      <a:rPr lang="en-US" sz="2400" b="0" i="1" smtClean="0">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𝜔</m:t>
                    </m:r>
                    <m:r>
                      <a:rPr lang="en-US" sz="2400" b="0" i="1" smtClean="0">
                        <a:solidFill>
                          <a:srgbClr val="FF0000"/>
                        </a:solidFill>
                        <a:latin typeface="Cambria Math"/>
                        <a:ea typeface="Cambria Math"/>
                        <a:cs typeface="Times New Roman" pitchFamily="18" charset="0"/>
                      </a:rPr>
                      <m:t> </m:t>
                    </m:r>
                    <m:r>
                      <a:rPr lang="en-US" sz="2400" b="0" i="1" smtClean="0">
                        <a:solidFill>
                          <a:srgbClr val="FF0000"/>
                        </a:solidFill>
                        <a:latin typeface="Cambria Math"/>
                        <a:cs typeface="Times New Roman" pitchFamily="18" charset="0"/>
                      </a:rPr>
                      <m:t>𝑋</m:t>
                    </m:r>
                    <m:func>
                      <m:funcPr>
                        <m:ctrlPr>
                          <a:rPr lang="en-US" sz="2400" i="1">
                            <a:solidFill>
                              <a:srgbClr val="FF0000"/>
                            </a:solidFill>
                            <a:latin typeface="Cambria Math" panose="02040503050406030204" pitchFamily="18" charset="0"/>
                            <a:cs typeface="Times New Roman" pitchFamily="18" charset="0"/>
                          </a:rPr>
                        </m:ctrlPr>
                      </m:funcPr>
                      <m:fName>
                        <m:r>
                          <m:rPr>
                            <m:sty m:val="p"/>
                          </m:rPr>
                          <a:rPr lang="en-US" sz="2400">
                            <a:solidFill>
                              <a:srgbClr val="FF0000"/>
                            </a:solidFill>
                            <a:latin typeface="Cambria Math"/>
                            <a:cs typeface="Times New Roman" pitchFamily="18" charset="0"/>
                          </a:rPr>
                          <m:t>sin</m:t>
                        </m:r>
                      </m:fName>
                      <m:e>
                        <m:d>
                          <m:dPr>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𝑡</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𝜑</m:t>
                            </m:r>
                            <m:r>
                              <a:rPr lang="en-US" sz="2400" b="0" i="1" smtClean="0">
                                <a:solidFill>
                                  <a:srgbClr val="FF0000"/>
                                </a:solidFill>
                                <a:latin typeface="Cambria Math"/>
                                <a:ea typeface="Cambria Math"/>
                                <a:cs typeface="Times New Roman" pitchFamily="18" charset="0"/>
                              </a:rPr>
                              <m:t>+</m:t>
                            </m:r>
                            <m:f>
                              <m:fPr>
                                <m:type m:val="lin"/>
                                <m:ctrlPr>
                                  <a:rPr lang="en-US" sz="2400" b="0" i="1" smtClean="0">
                                    <a:solidFill>
                                      <a:srgbClr val="FF0000"/>
                                    </a:solidFill>
                                    <a:latin typeface="Cambria Math" panose="02040503050406030204" pitchFamily="18" charset="0"/>
                                    <a:ea typeface="Cambria Math"/>
                                    <a:cs typeface="Times New Roman" pitchFamily="18" charset="0"/>
                                  </a:rPr>
                                </m:ctrlPr>
                              </m:fPr>
                              <m:num>
                                <m:r>
                                  <a:rPr lang="en-US" sz="2400" b="0" i="1" smtClean="0">
                                    <a:solidFill>
                                      <a:srgbClr val="FF0000"/>
                                    </a:solidFill>
                                    <a:latin typeface="Cambria Math"/>
                                    <a:ea typeface="Cambria Math"/>
                                    <a:cs typeface="Times New Roman" pitchFamily="18" charset="0"/>
                                  </a:rPr>
                                  <m:t>𝜋</m:t>
                                </m:r>
                              </m:num>
                              <m:den>
                                <m:r>
                                  <a:rPr lang="en-US" sz="2400" b="0" i="1" smtClean="0">
                                    <a:solidFill>
                                      <a:srgbClr val="FF0000"/>
                                    </a:solidFill>
                                    <a:latin typeface="Cambria Math"/>
                                    <a:ea typeface="Cambria Math"/>
                                    <a:cs typeface="Times New Roman" pitchFamily="18" charset="0"/>
                                  </a:rPr>
                                  <m:t>2</m:t>
                                </m:r>
                              </m:den>
                            </m:f>
                          </m:e>
                        </m:d>
                      </m:e>
                    </m:func>
                  </m:oMath>
                </a14:m>
                <a:r>
                  <a:rPr lang="en-IN" sz="2400" dirty="0">
                    <a:latin typeface="Times New Roman" pitchFamily="18" charset="0"/>
                    <a:cs typeface="Times New Roman" pitchFamily="18" charset="0"/>
                  </a:rPr>
                  <a:t>, </a:t>
                </a:r>
              </a:p>
              <a:p>
                <a:endParaRPr lang="en-IN" sz="2400" dirty="0">
                  <a:latin typeface="Times New Roman" pitchFamily="18" charset="0"/>
                  <a:cs typeface="Times New Roman" pitchFamily="18" charset="0"/>
                </a:endParaRPr>
              </a:p>
              <a:p>
                <a:r>
                  <a:rPr lang="en-US" sz="2400" dirty="0">
                    <a:solidFill>
                      <a:schemeClr val="tx1"/>
                    </a:solidFill>
                    <a:latin typeface="Times New Roman" pitchFamily="18" charset="0"/>
                    <a:cs typeface="Times New Roman" pitchFamily="18" charset="0"/>
                  </a:rPr>
                  <a:t>and      </a:t>
                </a:r>
                <a14:m>
                  <m:oMath xmlns:m="http://schemas.openxmlformats.org/officeDocument/2006/math">
                    <m:sSub>
                      <m:sSubPr>
                        <m:ctrlPr>
                          <a:rPr lang="en-IN" sz="2400" i="1">
                            <a:solidFill>
                              <a:srgbClr val="FF0000"/>
                            </a:solidFill>
                            <a:latin typeface="Cambria Math" panose="02040503050406030204" pitchFamily="18" charset="0"/>
                            <a:cs typeface="Times New Roman" pitchFamily="18" charset="0"/>
                          </a:rPr>
                        </m:ctrlPr>
                      </m:sSubPr>
                      <m:e>
                        <m:acc>
                          <m:accPr>
                            <m:chr m:val="̈"/>
                            <m:ctrlPr>
                              <a:rPr lang="en-IN" sz="2400" i="1" smtClean="0">
                                <a:solidFill>
                                  <a:srgbClr val="FF0000"/>
                                </a:solidFill>
                                <a:latin typeface="Cambria Math" panose="02040503050406030204" pitchFamily="18" charset="0"/>
                                <a:cs typeface="Times New Roman" pitchFamily="18" charset="0"/>
                              </a:rPr>
                            </m:ctrlPr>
                          </m:accPr>
                          <m:e>
                            <m:r>
                              <a:rPr lang="en-US" sz="2400" b="0" i="1" smtClean="0">
                                <a:solidFill>
                                  <a:srgbClr val="FF0000"/>
                                </a:solidFill>
                                <a:latin typeface="Cambria Math"/>
                                <a:cs typeface="Times New Roman" pitchFamily="18" charset="0"/>
                              </a:rPr>
                              <m:t>𝑥</m:t>
                            </m:r>
                          </m:e>
                        </m:acc>
                      </m:e>
                      <m:sub>
                        <m:r>
                          <a:rPr lang="en-US" sz="2400" i="1">
                            <a:solidFill>
                              <a:srgbClr val="FF0000"/>
                            </a:solidFill>
                            <a:latin typeface="Cambria Math"/>
                            <a:cs typeface="Times New Roman" pitchFamily="18" charset="0"/>
                          </a:rPr>
                          <m:t>𝑝</m:t>
                        </m:r>
                      </m:sub>
                    </m:sSub>
                    <m:r>
                      <a:rPr lang="en-US" sz="2400" i="1">
                        <a:solidFill>
                          <a:srgbClr val="FF0000"/>
                        </a:solidFill>
                        <a:latin typeface="Cambria Math"/>
                        <a:cs typeface="Times New Roman" pitchFamily="18" charset="0"/>
                      </a:rPr>
                      <m:t>=</m:t>
                    </m:r>
                    <m:r>
                      <a:rPr lang="en-US" sz="2400" b="0" i="1" smtClean="0">
                        <a:solidFill>
                          <a:srgbClr val="FF0000"/>
                        </a:solidFill>
                        <a:latin typeface="Cambria Math"/>
                        <a:cs typeface="Times New Roman" pitchFamily="18" charset="0"/>
                      </a:rPr>
                      <m:t>−</m:t>
                    </m:r>
                    <m:sSup>
                      <m:sSupPr>
                        <m:ctrlPr>
                          <a:rPr lang="en-US" sz="2400" i="1" smtClean="0">
                            <a:solidFill>
                              <a:srgbClr val="FF0000"/>
                            </a:solidFill>
                            <a:latin typeface="Cambria Math" panose="02040503050406030204" pitchFamily="18" charset="0"/>
                            <a:cs typeface="Times New Roman" pitchFamily="18" charset="0"/>
                          </a:rPr>
                        </m:ctrlPr>
                      </m:sSupPr>
                      <m:e>
                        <m:r>
                          <a:rPr lang="en-US" sz="2400" i="1">
                            <a:solidFill>
                              <a:srgbClr val="FF0000"/>
                            </a:solidFill>
                            <a:latin typeface="Cambria Math"/>
                            <a:ea typeface="Cambria Math"/>
                            <a:cs typeface="Times New Roman" pitchFamily="18" charset="0"/>
                          </a:rPr>
                          <m:t>𝜔</m:t>
                        </m:r>
                      </m:e>
                      <m:sup>
                        <m:r>
                          <a:rPr lang="en-US" sz="2400" b="0" i="1" smtClean="0">
                            <a:solidFill>
                              <a:srgbClr val="FF0000"/>
                            </a:solidFill>
                            <a:latin typeface="Cambria Math"/>
                            <a:cs typeface="Times New Roman" pitchFamily="18" charset="0"/>
                          </a:rPr>
                          <m:t>2</m:t>
                        </m:r>
                      </m:sup>
                    </m:sSup>
                    <m:r>
                      <a:rPr lang="en-US" sz="2400" i="1">
                        <a:solidFill>
                          <a:srgbClr val="FF0000"/>
                        </a:solidFill>
                        <a:latin typeface="Cambria Math"/>
                        <a:cs typeface="Times New Roman" pitchFamily="18" charset="0"/>
                      </a:rPr>
                      <m:t>𝑋</m:t>
                    </m:r>
                    <m:func>
                      <m:funcPr>
                        <m:ctrlPr>
                          <a:rPr lang="en-US" sz="2400" i="1">
                            <a:solidFill>
                              <a:srgbClr val="FF0000"/>
                            </a:solidFill>
                            <a:latin typeface="Cambria Math" panose="02040503050406030204" pitchFamily="18" charset="0"/>
                            <a:cs typeface="Times New Roman" pitchFamily="18" charset="0"/>
                          </a:rPr>
                        </m:ctrlPr>
                      </m:funcPr>
                      <m:fName>
                        <m:r>
                          <m:rPr>
                            <m:sty m:val="p"/>
                          </m:rPr>
                          <a:rPr lang="en-US" sz="2400" b="0" i="0" smtClean="0">
                            <a:solidFill>
                              <a:srgbClr val="FF0000"/>
                            </a:solidFill>
                            <a:latin typeface="Cambria Math"/>
                            <a:cs typeface="Times New Roman" pitchFamily="18" charset="0"/>
                          </a:rPr>
                          <m:t>sin</m:t>
                        </m:r>
                      </m:fName>
                      <m:e>
                        <m:d>
                          <m:dPr>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𝑡</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𝜑</m:t>
                            </m:r>
                          </m:e>
                        </m:d>
                      </m:e>
                    </m:func>
                    <m:r>
                      <a:rPr lang="en-US" sz="2400" i="1">
                        <a:solidFill>
                          <a:srgbClr val="FF0000"/>
                        </a:solidFill>
                        <a:latin typeface="Cambria Math"/>
                        <a:ea typeface="Cambria Math"/>
                        <a:cs typeface="Times New Roman" pitchFamily="18" charset="0"/>
                      </a:rPr>
                      <m:t>=</m:t>
                    </m:r>
                    <m:sSup>
                      <m:sSupPr>
                        <m:ctrlPr>
                          <a:rPr lang="en-US" sz="2400" i="1">
                            <a:solidFill>
                              <a:srgbClr val="FF0000"/>
                            </a:solidFill>
                            <a:latin typeface="Cambria Math" panose="02040503050406030204" pitchFamily="18" charset="0"/>
                            <a:cs typeface="Times New Roman" pitchFamily="18" charset="0"/>
                          </a:rPr>
                        </m:ctrlPr>
                      </m:sSupPr>
                      <m:e>
                        <m:r>
                          <a:rPr lang="en-US" sz="2400" i="1">
                            <a:solidFill>
                              <a:srgbClr val="FF0000"/>
                            </a:solidFill>
                            <a:latin typeface="Cambria Math"/>
                            <a:ea typeface="Cambria Math"/>
                            <a:cs typeface="Times New Roman" pitchFamily="18" charset="0"/>
                          </a:rPr>
                          <m:t>𝜔</m:t>
                        </m:r>
                      </m:e>
                      <m:sup>
                        <m:r>
                          <a:rPr lang="en-US" sz="2400" i="1">
                            <a:solidFill>
                              <a:srgbClr val="FF0000"/>
                            </a:solidFill>
                            <a:latin typeface="Cambria Math"/>
                            <a:cs typeface="Times New Roman" pitchFamily="18" charset="0"/>
                          </a:rPr>
                          <m:t>2</m:t>
                        </m:r>
                      </m:sup>
                    </m:sSup>
                    <m:r>
                      <a:rPr lang="en-US" sz="2400" i="1">
                        <a:solidFill>
                          <a:srgbClr val="FF0000"/>
                        </a:solidFill>
                        <a:latin typeface="Cambria Math"/>
                        <a:cs typeface="Times New Roman" pitchFamily="18" charset="0"/>
                      </a:rPr>
                      <m:t>𝑋</m:t>
                    </m:r>
                    <m:func>
                      <m:funcPr>
                        <m:ctrlPr>
                          <a:rPr lang="en-US" sz="2400" i="1">
                            <a:solidFill>
                              <a:srgbClr val="FF0000"/>
                            </a:solidFill>
                            <a:latin typeface="Cambria Math" panose="02040503050406030204" pitchFamily="18" charset="0"/>
                            <a:cs typeface="Times New Roman" pitchFamily="18" charset="0"/>
                          </a:rPr>
                        </m:ctrlPr>
                      </m:funcPr>
                      <m:fName>
                        <m:r>
                          <m:rPr>
                            <m:sty m:val="p"/>
                          </m:rPr>
                          <a:rPr lang="en-US" sz="2400">
                            <a:solidFill>
                              <a:srgbClr val="FF0000"/>
                            </a:solidFill>
                            <a:latin typeface="Cambria Math"/>
                            <a:cs typeface="Times New Roman" pitchFamily="18" charset="0"/>
                          </a:rPr>
                          <m:t>sin</m:t>
                        </m:r>
                      </m:fName>
                      <m:e>
                        <m:d>
                          <m:dPr>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𝑡</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𝜑</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𝜋</m:t>
                            </m:r>
                          </m:e>
                        </m:d>
                      </m:e>
                    </m:func>
                  </m:oMath>
                </a14:m>
                <a:endParaRPr lang="en-IN" sz="2400" dirty="0">
                  <a:solidFill>
                    <a:schemeClr val="tx1"/>
                  </a:solidFill>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r>
                  <a:rPr lang="en-US" sz="2400" dirty="0">
                    <a:solidFill>
                      <a:schemeClr val="tx1"/>
                    </a:solidFill>
                    <a:latin typeface="Times New Roman" pitchFamily="18" charset="0"/>
                    <a:cs typeface="Times New Roman" pitchFamily="18" charset="0"/>
                  </a:rPr>
                  <a:t>Substituting this in differential equation we get</a:t>
                </a:r>
              </a:p>
              <a:p>
                <a:endParaRPr lang="en-US" sz="2400" dirty="0">
                  <a:solidFill>
                    <a:schemeClr val="tx1"/>
                  </a:solidFill>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n-US" sz="2400" i="1">
                          <a:latin typeface="Cambria Math"/>
                          <a:cs typeface="Times New Roman" panose="02020603050405020304" pitchFamily="18" charset="0"/>
                        </a:rPr>
                        <m:t>𝑚</m:t>
                      </m:r>
                      <m:sSup>
                        <m:sSupPr>
                          <m:ctrlPr>
                            <a:rPr lang="en-US" sz="2400" i="1">
                              <a:solidFill>
                                <a:srgbClr val="FF0000"/>
                              </a:solidFill>
                              <a:latin typeface="Cambria Math" panose="02040503050406030204" pitchFamily="18" charset="0"/>
                              <a:cs typeface="Times New Roman" pitchFamily="18" charset="0"/>
                            </a:rPr>
                          </m:ctrlPr>
                        </m:sSupPr>
                        <m:e>
                          <m:r>
                            <a:rPr lang="en-US" sz="2400" i="1">
                              <a:solidFill>
                                <a:srgbClr val="FF0000"/>
                              </a:solidFill>
                              <a:latin typeface="Cambria Math"/>
                              <a:ea typeface="Cambria Math"/>
                              <a:cs typeface="Times New Roman" pitchFamily="18" charset="0"/>
                            </a:rPr>
                            <m:t>𝜔</m:t>
                          </m:r>
                        </m:e>
                        <m:sup>
                          <m:r>
                            <a:rPr lang="en-US" sz="2400" i="1">
                              <a:solidFill>
                                <a:srgbClr val="FF0000"/>
                              </a:solidFill>
                              <a:latin typeface="Cambria Math"/>
                              <a:cs typeface="Times New Roman" pitchFamily="18" charset="0"/>
                            </a:rPr>
                            <m:t>2</m:t>
                          </m:r>
                        </m:sup>
                      </m:sSup>
                      <m:r>
                        <a:rPr lang="en-US" sz="2400" i="1">
                          <a:solidFill>
                            <a:srgbClr val="FF0000"/>
                          </a:solidFill>
                          <a:latin typeface="Cambria Math"/>
                          <a:cs typeface="Times New Roman" pitchFamily="18" charset="0"/>
                        </a:rPr>
                        <m:t>𝑋</m:t>
                      </m:r>
                      <m:func>
                        <m:funcPr>
                          <m:ctrlPr>
                            <a:rPr lang="en-US" sz="2400" i="1">
                              <a:solidFill>
                                <a:srgbClr val="FF0000"/>
                              </a:solidFill>
                              <a:latin typeface="Cambria Math" panose="02040503050406030204" pitchFamily="18" charset="0"/>
                              <a:cs typeface="Times New Roman" pitchFamily="18" charset="0"/>
                            </a:rPr>
                          </m:ctrlPr>
                        </m:funcPr>
                        <m:fName>
                          <m:r>
                            <m:rPr>
                              <m:sty m:val="p"/>
                            </m:rPr>
                            <a:rPr lang="en-US" sz="2400">
                              <a:solidFill>
                                <a:srgbClr val="FF0000"/>
                              </a:solidFill>
                              <a:latin typeface="Cambria Math"/>
                              <a:cs typeface="Times New Roman" pitchFamily="18" charset="0"/>
                            </a:rPr>
                            <m:t>sin</m:t>
                          </m:r>
                        </m:fName>
                        <m:e>
                          <m:d>
                            <m:dPr>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𝑡</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𝜑</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𝜋</m:t>
                              </m:r>
                            </m:e>
                          </m:d>
                        </m:e>
                      </m:func>
                      <m:r>
                        <a:rPr lang="en-US" sz="2400" i="1">
                          <a:latin typeface="Cambria Math"/>
                          <a:cs typeface="Times New Roman" panose="02020603050405020304" pitchFamily="18" charset="0"/>
                        </a:rPr>
                        <m:t>+</m:t>
                      </m:r>
                      <m:r>
                        <a:rPr lang="en-US" sz="2400" i="1">
                          <a:latin typeface="Cambria Math"/>
                          <a:cs typeface="Times New Roman" panose="02020603050405020304" pitchFamily="18" charset="0"/>
                        </a:rPr>
                        <m:t>𝐶</m:t>
                      </m:r>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 </m:t>
                      </m:r>
                      <m:r>
                        <a:rPr lang="en-US" sz="2400" i="1">
                          <a:solidFill>
                            <a:srgbClr val="FF0000"/>
                          </a:solidFill>
                          <a:latin typeface="Cambria Math"/>
                          <a:cs typeface="Times New Roman" pitchFamily="18" charset="0"/>
                        </a:rPr>
                        <m:t>𝑋</m:t>
                      </m:r>
                      <m:func>
                        <m:funcPr>
                          <m:ctrlPr>
                            <a:rPr lang="en-US" sz="2400" i="1">
                              <a:solidFill>
                                <a:srgbClr val="FF0000"/>
                              </a:solidFill>
                              <a:latin typeface="Cambria Math" panose="02040503050406030204" pitchFamily="18" charset="0"/>
                              <a:cs typeface="Times New Roman" pitchFamily="18" charset="0"/>
                            </a:rPr>
                          </m:ctrlPr>
                        </m:funcPr>
                        <m:fName>
                          <m:r>
                            <m:rPr>
                              <m:sty m:val="p"/>
                            </m:rPr>
                            <a:rPr lang="en-US" sz="2400">
                              <a:solidFill>
                                <a:srgbClr val="FF0000"/>
                              </a:solidFill>
                              <a:latin typeface="Cambria Math"/>
                              <a:cs typeface="Times New Roman" pitchFamily="18" charset="0"/>
                            </a:rPr>
                            <m:t>sin</m:t>
                          </m:r>
                        </m:fName>
                        <m:e>
                          <m:d>
                            <m:dPr>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𝑡</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𝜑</m:t>
                              </m:r>
                              <m:r>
                                <a:rPr lang="en-US" sz="2400" i="1">
                                  <a:solidFill>
                                    <a:srgbClr val="FF0000"/>
                                  </a:solidFill>
                                  <a:latin typeface="Cambria Math"/>
                                  <a:ea typeface="Cambria Math"/>
                                  <a:cs typeface="Times New Roman" pitchFamily="18" charset="0"/>
                                </a:rPr>
                                <m:t>+</m:t>
                              </m:r>
                              <m:f>
                                <m:fPr>
                                  <m:type m:val="lin"/>
                                  <m:ctrlPr>
                                    <a:rPr lang="en-US" sz="2400" i="1">
                                      <a:solidFill>
                                        <a:srgbClr val="FF0000"/>
                                      </a:solidFill>
                                      <a:latin typeface="Cambria Math" panose="02040503050406030204" pitchFamily="18" charset="0"/>
                                      <a:ea typeface="Cambria Math"/>
                                      <a:cs typeface="Times New Roman" pitchFamily="18" charset="0"/>
                                    </a:rPr>
                                  </m:ctrlPr>
                                </m:fPr>
                                <m:num>
                                  <m:r>
                                    <a:rPr lang="en-US" sz="2400" i="1">
                                      <a:solidFill>
                                        <a:srgbClr val="FF0000"/>
                                      </a:solidFill>
                                      <a:latin typeface="Cambria Math"/>
                                      <a:ea typeface="Cambria Math"/>
                                      <a:cs typeface="Times New Roman" pitchFamily="18" charset="0"/>
                                    </a:rPr>
                                    <m:t>𝜋</m:t>
                                  </m:r>
                                </m:num>
                                <m:den>
                                  <m:r>
                                    <a:rPr lang="en-US" sz="2400" i="1">
                                      <a:solidFill>
                                        <a:srgbClr val="FF0000"/>
                                      </a:solidFill>
                                      <a:latin typeface="Cambria Math"/>
                                      <a:ea typeface="Cambria Math"/>
                                      <a:cs typeface="Times New Roman" pitchFamily="18" charset="0"/>
                                    </a:rPr>
                                    <m:t>2</m:t>
                                  </m:r>
                                </m:den>
                              </m:f>
                            </m:e>
                          </m:d>
                        </m:e>
                      </m:func>
                      <m:r>
                        <a:rPr lang="en-US" sz="2400" b="0" i="1" smtClean="0">
                          <a:solidFill>
                            <a:schemeClr val="tx1"/>
                          </a:solidFill>
                          <a:latin typeface="Cambria Math"/>
                          <a:ea typeface="Cambria Math"/>
                          <a:cs typeface="Times New Roman" pitchFamily="18" charset="0"/>
                        </a:rPr>
                        <m:t>+</m:t>
                      </m:r>
                      <m:r>
                        <a:rPr lang="en-IN" sz="2400" i="1">
                          <a:latin typeface="Cambria Math" panose="02040503050406030204" pitchFamily="18" charset="0"/>
                          <a:cs typeface="Times New Roman" panose="02020603050405020304" pitchFamily="18" charset="0"/>
                        </a:rPr>
                        <m:t>𝐾</m:t>
                      </m:r>
                      <m:r>
                        <a:rPr lang="en-US" sz="2400" i="1">
                          <a:solidFill>
                            <a:srgbClr val="FF0000"/>
                          </a:solidFill>
                          <a:latin typeface="Cambria Math"/>
                          <a:cs typeface="Times New Roman" pitchFamily="18" charset="0"/>
                        </a:rPr>
                        <m:t>𝑋</m:t>
                      </m:r>
                      <m:func>
                        <m:funcPr>
                          <m:ctrlPr>
                            <a:rPr lang="en-US" sz="2400" i="1">
                              <a:solidFill>
                                <a:srgbClr val="FF0000"/>
                              </a:solidFill>
                              <a:latin typeface="Cambria Math" panose="02040503050406030204" pitchFamily="18" charset="0"/>
                              <a:cs typeface="Times New Roman" pitchFamily="18" charset="0"/>
                            </a:rPr>
                          </m:ctrlPr>
                        </m:funcPr>
                        <m:fName>
                          <m:r>
                            <m:rPr>
                              <m:sty m:val="p"/>
                            </m:rPr>
                            <a:rPr lang="en-US" sz="2400">
                              <a:solidFill>
                                <a:srgbClr val="FF0000"/>
                              </a:solidFill>
                              <a:latin typeface="Cambria Math"/>
                              <a:cs typeface="Times New Roman" pitchFamily="18" charset="0"/>
                            </a:rPr>
                            <m:t>sin</m:t>
                          </m:r>
                        </m:fName>
                        <m:e>
                          <m:d>
                            <m:dPr>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𝑡</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𝜑</m:t>
                              </m:r>
                            </m:e>
                          </m:d>
                        </m:e>
                      </m:func>
                      <m:r>
                        <a:rPr lang="en-US" sz="2400" i="1">
                          <a:latin typeface="Cambria Math"/>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a:cs typeface="Times New Roman" panose="02020603050405020304" pitchFamily="18" charset="0"/>
                            </a:rPr>
                            <m:t>𝐹</m:t>
                          </m:r>
                        </m:e>
                        <m:sub>
                          <m:r>
                            <a:rPr lang="en-US" sz="2400" i="1">
                              <a:latin typeface="Cambria Math"/>
                              <a:cs typeface="Times New Roman" panose="02020603050405020304" pitchFamily="18" charset="0"/>
                            </a:rPr>
                            <m:t>0</m:t>
                          </m:r>
                        </m:sub>
                      </m:sSub>
                      <m:func>
                        <m:funcPr>
                          <m:ctrlPr>
                            <a:rPr lang="en-US" sz="2400" i="1">
                              <a:latin typeface="Cambria Math" panose="02040503050406030204" pitchFamily="18" charset="0"/>
                              <a:cs typeface="Times New Roman" panose="02020603050405020304" pitchFamily="18" charset="0"/>
                            </a:rPr>
                          </m:ctrlPr>
                        </m:funcPr>
                        <m:fName>
                          <m:r>
                            <m:rPr>
                              <m:sty m:val="p"/>
                            </m:rPr>
                            <a:rPr lang="en-US" sz="2400">
                              <a:latin typeface="Cambria Math"/>
                              <a:cs typeface="Times New Roman" panose="02020603050405020304" pitchFamily="18" charset="0"/>
                            </a:rPr>
                            <m:t>sin</m:t>
                          </m:r>
                        </m:fName>
                        <m:e>
                          <m:r>
                            <a:rPr lang="en-US" sz="2400" i="1">
                              <a:latin typeface="Cambria Math"/>
                              <a:ea typeface="Cambria Math"/>
                              <a:cs typeface="Times New Roman" panose="02020603050405020304" pitchFamily="18" charset="0"/>
                            </a:rPr>
                            <m:t>𝜔</m:t>
                          </m:r>
                          <m:r>
                            <a:rPr lang="en-US" sz="2400" i="1">
                              <a:latin typeface="Cambria Math"/>
                              <a:ea typeface="Cambria Math"/>
                              <a:cs typeface="Times New Roman" panose="02020603050405020304" pitchFamily="18" charset="0"/>
                            </a:rPr>
                            <m:t>𝑡</m:t>
                          </m:r>
                        </m:e>
                      </m:func>
                    </m:oMath>
                  </m:oMathPara>
                </a14:m>
                <a:endParaRPr lang="en-IN" sz="2400" dirty="0">
                  <a:solidFill>
                    <a:schemeClr val="tx1"/>
                  </a:solidFill>
                  <a:latin typeface="Times New Roman" pitchFamily="18" charset="0"/>
                  <a:cs typeface="Times New Roman" pitchFamily="18" charset="0"/>
                </a:endParaRPr>
              </a:p>
              <a:p>
                <a:endParaRPr lang="en-IN" sz="2400" dirty="0">
                  <a:solidFill>
                    <a:schemeClr val="tx1"/>
                  </a:solidFill>
                  <a:latin typeface="Times New Roman" pitchFamily="18" charset="0"/>
                  <a:cs typeface="Times New Roman" pitchFamily="18" charset="0"/>
                </a:endParaRPr>
              </a:p>
              <a:p>
                <a:r>
                  <a:rPr lang="en-US" sz="2400" dirty="0">
                    <a:latin typeface="Times New Roman" pitchFamily="18" charset="0"/>
                    <a:cs typeface="Times New Roman" pitchFamily="18" charset="0"/>
                  </a:rPr>
                  <a:t>Or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a:cs typeface="Times New Roman" panose="02020603050405020304" pitchFamily="18" charset="0"/>
                          </a:rPr>
                          <m:t>𝐹</m:t>
                        </m:r>
                      </m:e>
                      <m:sub>
                        <m:r>
                          <a:rPr lang="en-US" sz="2400" i="1">
                            <a:latin typeface="Cambria Math"/>
                            <a:cs typeface="Times New Roman" panose="02020603050405020304" pitchFamily="18" charset="0"/>
                          </a:rPr>
                          <m:t>0</m:t>
                        </m:r>
                      </m:sub>
                    </m:sSub>
                    <m:func>
                      <m:funcPr>
                        <m:ctrlPr>
                          <a:rPr lang="en-US" sz="2400" i="1">
                            <a:latin typeface="Cambria Math" panose="02040503050406030204" pitchFamily="18" charset="0"/>
                            <a:cs typeface="Times New Roman" panose="02020603050405020304" pitchFamily="18" charset="0"/>
                          </a:rPr>
                        </m:ctrlPr>
                      </m:funcPr>
                      <m:fName>
                        <m:r>
                          <m:rPr>
                            <m:sty m:val="p"/>
                          </m:rPr>
                          <a:rPr lang="en-US" sz="2400">
                            <a:latin typeface="Cambria Math"/>
                            <a:cs typeface="Times New Roman" panose="02020603050405020304" pitchFamily="18" charset="0"/>
                          </a:rPr>
                          <m:t>sin</m:t>
                        </m:r>
                      </m:fName>
                      <m:e>
                        <m:r>
                          <a:rPr lang="en-US" sz="2400" i="1">
                            <a:latin typeface="Cambria Math"/>
                            <a:ea typeface="Cambria Math"/>
                            <a:cs typeface="Times New Roman" panose="02020603050405020304" pitchFamily="18" charset="0"/>
                          </a:rPr>
                          <m:t>𝜔</m:t>
                        </m:r>
                        <m:r>
                          <a:rPr lang="en-US" sz="2400" i="1">
                            <a:latin typeface="Cambria Math"/>
                            <a:ea typeface="Cambria Math"/>
                            <a:cs typeface="Times New Roman" panose="02020603050405020304" pitchFamily="18" charset="0"/>
                          </a:rPr>
                          <m:t>𝑡</m:t>
                        </m:r>
                      </m:e>
                    </m:func>
                    <m:r>
                      <a:rPr lang="en-US" sz="2400" b="0" i="1" smtClean="0">
                        <a:latin typeface="Cambria Math"/>
                        <a:ea typeface="Cambria Math"/>
                        <a:cs typeface="Times New Roman" panose="02020603050405020304" pitchFamily="18" charset="0"/>
                      </a:rPr>
                      <m:t>−</m:t>
                    </m:r>
                    <m:r>
                      <a:rPr lang="en-IN" sz="2400" i="1">
                        <a:latin typeface="Cambria Math" panose="02040503050406030204" pitchFamily="18" charset="0"/>
                        <a:cs typeface="Times New Roman" panose="02020603050405020304" pitchFamily="18" charset="0"/>
                      </a:rPr>
                      <m:t>𝐾</m:t>
                    </m:r>
                    <m:r>
                      <a:rPr lang="en-US" sz="2400" i="1">
                        <a:solidFill>
                          <a:srgbClr val="FF0000"/>
                        </a:solidFill>
                        <a:latin typeface="Cambria Math"/>
                        <a:cs typeface="Times New Roman" pitchFamily="18" charset="0"/>
                      </a:rPr>
                      <m:t>𝑋</m:t>
                    </m:r>
                    <m:func>
                      <m:funcPr>
                        <m:ctrlPr>
                          <a:rPr lang="en-US" sz="2400" i="1">
                            <a:solidFill>
                              <a:srgbClr val="FF0000"/>
                            </a:solidFill>
                            <a:latin typeface="Cambria Math" panose="02040503050406030204" pitchFamily="18" charset="0"/>
                            <a:cs typeface="Times New Roman" pitchFamily="18" charset="0"/>
                          </a:rPr>
                        </m:ctrlPr>
                      </m:funcPr>
                      <m:fName>
                        <m:r>
                          <m:rPr>
                            <m:sty m:val="p"/>
                          </m:rPr>
                          <a:rPr lang="en-US" sz="2400">
                            <a:solidFill>
                              <a:srgbClr val="FF0000"/>
                            </a:solidFill>
                            <a:latin typeface="Cambria Math"/>
                            <a:cs typeface="Times New Roman" pitchFamily="18" charset="0"/>
                          </a:rPr>
                          <m:t>sin</m:t>
                        </m:r>
                      </m:fName>
                      <m:e>
                        <m:d>
                          <m:dPr>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𝑡</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𝜑</m:t>
                            </m:r>
                          </m:e>
                        </m:d>
                      </m:e>
                    </m:func>
                    <m:r>
                      <a:rPr lang="en-US" sz="2400" b="0" i="1" smtClean="0">
                        <a:solidFill>
                          <a:schemeClr val="tx1"/>
                        </a:solidFill>
                        <a:latin typeface="Cambria Math"/>
                        <a:ea typeface="Cambria Math"/>
                        <a:cs typeface="Times New Roman" pitchFamily="18" charset="0"/>
                      </a:rPr>
                      <m:t>−</m:t>
                    </m:r>
                    <m:r>
                      <a:rPr lang="en-US" sz="2400" i="1">
                        <a:latin typeface="Cambria Math"/>
                        <a:cs typeface="Times New Roman" panose="02020603050405020304" pitchFamily="18" charset="0"/>
                      </a:rPr>
                      <m:t>𝐶</m:t>
                    </m:r>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 </m:t>
                    </m:r>
                    <m:r>
                      <a:rPr lang="en-US" sz="2400" i="1">
                        <a:solidFill>
                          <a:srgbClr val="FF0000"/>
                        </a:solidFill>
                        <a:latin typeface="Cambria Math"/>
                        <a:cs typeface="Times New Roman" pitchFamily="18" charset="0"/>
                      </a:rPr>
                      <m:t>𝑋</m:t>
                    </m:r>
                    <m:func>
                      <m:funcPr>
                        <m:ctrlPr>
                          <a:rPr lang="en-US" sz="2400" i="1">
                            <a:solidFill>
                              <a:srgbClr val="FF0000"/>
                            </a:solidFill>
                            <a:latin typeface="Cambria Math" panose="02040503050406030204" pitchFamily="18" charset="0"/>
                            <a:cs typeface="Times New Roman" pitchFamily="18" charset="0"/>
                          </a:rPr>
                        </m:ctrlPr>
                      </m:funcPr>
                      <m:fName>
                        <m:r>
                          <m:rPr>
                            <m:sty m:val="p"/>
                          </m:rPr>
                          <a:rPr lang="en-US" sz="2400">
                            <a:solidFill>
                              <a:srgbClr val="FF0000"/>
                            </a:solidFill>
                            <a:latin typeface="Cambria Math"/>
                            <a:cs typeface="Times New Roman" pitchFamily="18" charset="0"/>
                          </a:rPr>
                          <m:t>sin</m:t>
                        </m:r>
                      </m:fName>
                      <m:e>
                        <m:d>
                          <m:dPr>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𝑡</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𝜑</m:t>
                            </m:r>
                            <m:r>
                              <a:rPr lang="en-US" sz="2400" i="1">
                                <a:solidFill>
                                  <a:srgbClr val="FF0000"/>
                                </a:solidFill>
                                <a:latin typeface="Cambria Math"/>
                                <a:ea typeface="Cambria Math"/>
                                <a:cs typeface="Times New Roman" pitchFamily="18" charset="0"/>
                              </a:rPr>
                              <m:t>+</m:t>
                            </m:r>
                            <m:f>
                              <m:fPr>
                                <m:type m:val="lin"/>
                                <m:ctrlPr>
                                  <a:rPr lang="en-US" sz="2400" i="1">
                                    <a:solidFill>
                                      <a:srgbClr val="FF0000"/>
                                    </a:solidFill>
                                    <a:latin typeface="Cambria Math" panose="02040503050406030204" pitchFamily="18" charset="0"/>
                                    <a:ea typeface="Cambria Math"/>
                                    <a:cs typeface="Times New Roman" pitchFamily="18" charset="0"/>
                                  </a:rPr>
                                </m:ctrlPr>
                              </m:fPr>
                              <m:num>
                                <m:r>
                                  <a:rPr lang="en-US" sz="2400" i="1">
                                    <a:solidFill>
                                      <a:srgbClr val="FF0000"/>
                                    </a:solidFill>
                                    <a:latin typeface="Cambria Math"/>
                                    <a:ea typeface="Cambria Math"/>
                                    <a:cs typeface="Times New Roman" pitchFamily="18" charset="0"/>
                                  </a:rPr>
                                  <m:t>𝜋</m:t>
                                </m:r>
                              </m:num>
                              <m:den>
                                <m:r>
                                  <a:rPr lang="en-US" sz="2400" i="1">
                                    <a:solidFill>
                                      <a:srgbClr val="FF0000"/>
                                    </a:solidFill>
                                    <a:latin typeface="Cambria Math"/>
                                    <a:ea typeface="Cambria Math"/>
                                    <a:cs typeface="Times New Roman" pitchFamily="18" charset="0"/>
                                  </a:rPr>
                                  <m:t>2</m:t>
                                </m:r>
                              </m:den>
                            </m:f>
                          </m:e>
                        </m:d>
                      </m:e>
                    </m:func>
                    <m:r>
                      <a:rPr lang="en-US" sz="2400" b="0" i="1" smtClean="0">
                        <a:solidFill>
                          <a:schemeClr val="tx1"/>
                        </a:solidFill>
                        <a:latin typeface="Cambria Math"/>
                        <a:ea typeface="Cambria Math"/>
                        <a:cs typeface="Times New Roman" pitchFamily="18" charset="0"/>
                      </a:rPr>
                      <m:t>−</m:t>
                    </m:r>
                    <m:r>
                      <a:rPr lang="en-US" sz="2400" i="1">
                        <a:latin typeface="Cambria Math"/>
                        <a:cs typeface="Times New Roman" panose="02020603050405020304" pitchFamily="18" charset="0"/>
                      </a:rPr>
                      <m:t>𝑚</m:t>
                    </m:r>
                    <m:sSup>
                      <m:sSupPr>
                        <m:ctrlPr>
                          <a:rPr lang="en-US" sz="2400" i="1">
                            <a:solidFill>
                              <a:srgbClr val="FF0000"/>
                            </a:solidFill>
                            <a:latin typeface="Cambria Math" panose="02040503050406030204" pitchFamily="18" charset="0"/>
                            <a:cs typeface="Times New Roman" pitchFamily="18" charset="0"/>
                          </a:rPr>
                        </m:ctrlPr>
                      </m:sSupPr>
                      <m:e>
                        <m:r>
                          <a:rPr lang="en-US" sz="2400" i="1">
                            <a:solidFill>
                              <a:srgbClr val="FF0000"/>
                            </a:solidFill>
                            <a:latin typeface="Cambria Math"/>
                            <a:ea typeface="Cambria Math"/>
                            <a:cs typeface="Times New Roman" pitchFamily="18" charset="0"/>
                          </a:rPr>
                          <m:t>𝜔</m:t>
                        </m:r>
                      </m:e>
                      <m:sup>
                        <m:r>
                          <a:rPr lang="en-US" sz="2400" i="1">
                            <a:solidFill>
                              <a:srgbClr val="FF0000"/>
                            </a:solidFill>
                            <a:latin typeface="Cambria Math"/>
                            <a:cs typeface="Times New Roman" pitchFamily="18" charset="0"/>
                          </a:rPr>
                          <m:t>2</m:t>
                        </m:r>
                      </m:sup>
                    </m:sSup>
                    <m:r>
                      <a:rPr lang="en-US" sz="2400" i="1">
                        <a:solidFill>
                          <a:srgbClr val="FF0000"/>
                        </a:solidFill>
                        <a:latin typeface="Cambria Math"/>
                        <a:cs typeface="Times New Roman" pitchFamily="18" charset="0"/>
                      </a:rPr>
                      <m:t>𝑋</m:t>
                    </m:r>
                    <m:func>
                      <m:funcPr>
                        <m:ctrlPr>
                          <a:rPr lang="en-US" sz="2400" i="1">
                            <a:solidFill>
                              <a:srgbClr val="FF0000"/>
                            </a:solidFill>
                            <a:latin typeface="Cambria Math" panose="02040503050406030204" pitchFamily="18" charset="0"/>
                            <a:cs typeface="Times New Roman" pitchFamily="18" charset="0"/>
                          </a:rPr>
                        </m:ctrlPr>
                      </m:funcPr>
                      <m:fName>
                        <m:r>
                          <m:rPr>
                            <m:sty m:val="p"/>
                          </m:rPr>
                          <a:rPr lang="en-US" sz="2400">
                            <a:solidFill>
                              <a:srgbClr val="FF0000"/>
                            </a:solidFill>
                            <a:latin typeface="Cambria Math"/>
                            <a:cs typeface="Times New Roman" pitchFamily="18" charset="0"/>
                          </a:rPr>
                          <m:t>sin</m:t>
                        </m:r>
                      </m:fName>
                      <m:e>
                        <m:d>
                          <m:dPr>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𝑡</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𝜑</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𝜋</m:t>
                            </m:r>
                          </m:e>
                        </m:d>
                      </m:e>
                    </m:func>
                    <m:r>
                      <a:rPr lang="en-US" sz="2400" i="1">
                        <a:latin typeface="Cambria Math"/>
                        <a:cs typeface="Times New Roman" panose="02020603050405020304" pitchFamily="18" charset="0"/>
                      </a:rPr>
                      <m:t>=</m:t>
                    </m:r>
                    <m:r>
                      <a:rPr lang="en-US" sz="2400" b="0" i="1" smtClean="0">
                        <a:latin typeface="Cambria Math"/>
                        <a:cs typeface="Times New Roman" panose="02020603050405020304" pitchFamily="18" charset="0"/>
                      </a:rPr>
                      <m:t>0</m:t>
                    </m:r>
                  </m:oMath>
                </a14:m>
                <a:endParaRPr lang="en-US" sz="2400" b="0" dirty="0">
                  <a:latin typeface="Times New Roman" pitchFamily="18" charset="0"/>
                  <a:cs typeface="Times New Roman" panose="02020603050405020304" pitchFamily="18" charset="0"/>
                </a:endParaRP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Thus, four forces in magnitude and direction acts on the  body. The forces are the impressed force, spring force, damping force and inertia force respectively.</a:t>
                </a:r>
                <a:endParaRPr lang="en-IN" sz="2400" dirty="0">
                  <a:latin typeface="Times New Roman" pitchFamily="18" charset="0"/>
                  <a:cs typeface="Times New Roman" pitchFamily="18" charset="0"/>
                </a:endParaRPr>
              </a:p>
              <a:p>
                <a:endParaRPr lang="en-IN" sz="2400" dirty="0">
                  <a:solidFill>
                    <a:schemeClr val="tx1"/>
                  </a:solidFill>
                  <a:latin typeface="Times New Roman" pitchFamily="18" charset="0"/>
                  <a:cs typeface="Times New Roman" pitchFamily="18" charset="0"/>
                </a:endParaRPr>
              </a:p>
            </p:txBody>
          </p:sp>
        </mc:Choice>
        <mc:Fallback xmlns="">
          <p:sp>
            <p:nvSpPr>
              <p:cNvPr id="105" name="Rectangle 104"/>
              <p:cNvSpPr>
                <a:spLocks noRot="1" noChangeAspect="1" noMove="1" noResize="1" noEditPoints="1" noAdjustHandles="1" noChangeArrowheads="1" noChangeShapeType="1" noTextEdit="1"/>
              </p:cNvSpPr>
              <p:nvPr/>
            </p:nvSpPr>
            <p:spPr>
              <a:xfrm>
                <a:off x="223328" y="1095300"/>
                <a:ext cx="11769969" cy="4958152"/>
              </a:xfrm>
              <a:prstGeom prst="rect">
                <a:avLst/>
              </a:prstGeom>
              <a:blipFill rotWithShape="1">
                <a:blip r:embed="rId2"/>
                <a:stretch>
                  <a:fillRect l="-829" t="-11562"/>
                </a:stretch>
              </a:blipFill>
            </p:spPr>
            <p:txBody>
              <a:bodyPr/>
              <a:lstStyle/>
              <a:p>
                <a:r>
                  <a:rPr lang="en-IN">
                    <a:noFill/>
                  </a:rPr>
                  <a:t> </a:t>
                </a:r>
              </a:p>
            </p:txBody>
          </p:sp>
        </mc:Fallback>
      </mc:AlternateContent>
    </p:spTree>
    <p:extLst>
      <p:ext uri="{BB962C8B-B14F-4D97-AF65-F5344CB8AC3E}">
        <p14:creationId xmlns:p14="http://schemas.microsoft.com/office/powerpoint/2010/main" val="532007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Forced vibration with harmonic excitation (Solution)</a:t>
            </a:r>
            <a:endParaRPr lang="en-IN" sz="3600" dirty="0">
              <a:solidFill>
                <a:srgbClr val="7030A0"/>
              </a:solidFill>
              <a:latin typeface="Times New Roman" pitchFamily="18" charset="0"/>
              <a:cs typeface="Times New Roman" pitchFamily="18" charset="0"/>
            </a:endParaRPr>
          </a:p>
        </p:txBody>
      </p:sp>
      <p:cxnSp>
        <p:nvCxnSpPr>
          <p:cNvPr id="5" name="Straight Connector 4"/>
          <p:cNvCxnSpPr/>
          <p:nvPr/>
        </p:nvCxnSpPr>
        <p:spPr>
          <a:xfrm>
            <a:off x="672860" y="4199683"/>
            <a:ext cx="5355171" cy="0"/>
          </a:xfrm>
          <a:prstGeom prst="line">
            <a:avLst/>
          </a:prstGeom>
          <a:ln w="28575">
            <a:solidFill>
              <a:schemeClr val="tx1"/>
            </a:solidFill>
            <a:headEnd type="none"/>
            <a:tailEnd type="stealth" w="lg" len="lg"/>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073592" y="1362974"/>
            <a:ext cx="0" cy="4381314"/>
          </a:xfrm>
          <a:prstGeom prst="line">
            <a:avLst/>
          </a:prstGeom>
          <a:ln w="28575">
            <a:solidFill>
              <a:schemeClr val="tx1"/>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380000">
            <a:off x="1573692" y="3653927"/>
            <a:ext cx="0" cy="1097280"/>
          </a:xfrm>
          <a:prstGeom prst="line">
            <a:avLst/>
          </a:prstGeom>
          <a:ln w="28575">
            <a:solidFill>
              <a:schemeClr val="tx1"/>
            </a:solidFill>
            <a:prstDash val="solid"/>
            <a:headEnd type="none"/>
            <a:tailEnd type="stealth" w="lg" len="lg"/>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380000">
            <a:off x="2835744" y="3111511"/>
            <a:ext cx="0" cy="1097280"/>
          </a:xfrm>
          <a:prstGeom prst="line">
            <a:avLst/>
          </a:prstGeom>
          <a:ln w="28575">
            <a:solidFill>
              <a:schemeClr val="tx1"/>
            </a:solidFill>
            <a:prstDash val="dash"/>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4020000">
            <a:off x="2421928" y="3792823"/>
            <a:ext cx="0" cy="1371600"/>
          </a:xfrm>
          <a:prstGeom prst="line">
            <a:avLst/>
          </a:prstGeom>
          <a:ln w="28575">
            <a:solidFill>
              <a:schemeClr val="tx1"/>
            </a:solidFill>
            <a:prstDash val="solid"/>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4020000">
            <a:off x="4354235" y="2274902"/>
            <a:ext cx="0" cy="2743200"/>
          </a:xfrm>
          <a:prstGeom prst="line">
            <a:avLst/>
          </a:prstGeom>
          <a:ln w="28575">
            <a:solidFill>
              <a:schemeClr val="tx1"/>
            </a:solidFill>
            <a:prstDash val="solid"/>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4020000">
            <a:off x="3901190" y="1247599"/>
            <a:ext cx="0" cy="2743200"/>
          </a:xfrm>
          <a:prstGeom prst="line">
            <a:avLst/>
          </a:prstGeom>
          <a:ln w="28575">
            <a:solidFill>
              <a:schemeClr val="tx1"/>
            </a:solidFill>
            <a:prstDash val="solid"/>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4020000">
            <a:off x="1990603" y="2743777"/>
            <a:ext cx="0" cy="1371600"/>
          </a:xfrm>
          <a:prstGeom prst="line">
            <a:avLst/>
          </a:prstGeom>
          <a:ln w="28575">
            <a:solidFill>
              <a:schemeClr val="tx1"/>
            </a:solidFill>
            <a:prstDash val="solid"/>
            <a:headEnd type="none"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3056340" y="2083272"/>
            <a:ext cx="2090162" cy="2110134"/>
          </a:xfrm>
          <a:prstGeom prst="line">
            <a:avLst/>
          </a:prstGeom>
          <a:ln w="28575">
            <a:solidFill>
              <a:schemeClr val="tx1"/>
            </a:solidFill>
            <a:prstDash val="solid"/>
            <a:headEnd type="stealth" w="lg" len="lg"/>
            <a:tailEnd type="non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Rectangle 16"/>
              <p:cNvSpPr/>
              <p:nvPr/>
            </p:nvSpPr>
            <p:spPr>
              <a:xfrm>
                <a:off x="820473" y="4236482"/>
                <a:ext cx="94109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a:cs typeface="Times New Roman" panose="02020603050405020304" pitchFamily="18" charset="0"/>
                        </a:rPr>
                        <m:t>𝐶</m:t>
                      </m:r>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 </m:t>
                      </m:r>
                      <m:r>
                        <a:rPr lang="en-US" sz="2400" i="1">
                          <a:solidFill>
                            <a:srgbClr val="FF0000"/>
                          </a:solidFill>
                          <a:latin typeface="Cambria Math"/>
                          <a:cs typeface="Times New Roman" pitchFamily="18" charset="0"/>
                        </a:rPr>
                        <m:t>𝑋</m:t>
                      </m:r>
                    </m:oMath>
                  </m:oMathPara>
                </a14:m>
                <a:endParaRPr lang="en-IN" sz="2400" dirty="0"/>
              </a:p>
            </p:txBody>
          </p:sp>
        </mc:Choice>
        <mc:Fallback xmlns="">
          <p:sp>
            <p:nvSpPr>
              <p:cNvPr id="17" name="Rectangle 16"/>
              <p:cNvSpPr>
                <a:spLocks noRot="1" noChangeAspect="1" noMove="1" noResize="1" noEditPoints="1" noAdjustHandles="1" noChangeArrowheads="1" noChangeShapeType="1" noTextEdit="1"/>
              </p:cNvSpPr>
              <p:nvPr/>
            </p:nvSpPr>
            <p:spPr>
              <a:xfrm>
                <a:off x="820473" y="4236482"/>
                <a:ext cx="941091" cy="461665"/>
              </a:xfrm>
              <a:prstGeom prst="rect">
                <a:avLst/>
              </a:prstGeom>
              <a:blipFill rotWithShape="1">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414035" y="2925909"/>
                <a:ext cx="75129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cs typeface="Times New Roman" panose="02020603050405020304" pitchFamily="18" charset="0"/>
                        </a:rPr>
                        <m:t>𝐾</m:t>
                      </m:r>
                      <m:r>
                        <a:rPr lang="en-US" sz="2400" i="1">
                          <a:solidFill>
                            <a:srgbClr val="FF0000"/>
                          </a:solidFill>
                          <a:latin typeface="Cambria Math"/>
                          <a:ea typeface="Cambria Math"/>
                          <a:cs typeface="Times New Roman" pitchFamily="18" charset="0"/>
                        </a:rPr>
                        <m:t> </m:t>
                      </m:r>
                      <m:r>
                        <a:rPr lang="en-US" sz="2400" i="1">
                          <a:solidFill>
                            <a:srgbClr val="FF0000"/>
                          </a:solidFill>
                          <a:latin typeface="Cambria Math"/>
                          <a:cs typeface="Times New Roman" pitchFamily="18" charset="0"/>
                        </a:rPr>
                        <m:t>𝑋</m:t>
                      </m:r>
                    </m:oMath>
                  </m:oMathPara>
                </a14:m>
                <a:endParaRPr lang="en-IN" sz="2400" dirty="0"/>
              </a:p>
            </p:txBody>
          </p:sp>
        </mc:Choice>
        <mc:Fallback xmlns="">
          <p:sp>
            <p:nvSpPr>
              <p:cNvPr id="20" name="Rectangle 19"/>
              <p:cNvSpPr>
                <a:spLocks noRot="1" noChangeAspect="1" noMove="1" noResize="1" noEditPoints="1" noAdjustHandles="1" noChangeArrowheads="1" noChangeShapeType="1" noTextEdit="1"/>
              </p:cNvSpPr>
              <p:nvPr/>
            </p:nvSpPr>
            <p:spPr>
              <a:xfrm>
                <a:off x="1414035" y="2925909"/>
                <a:ext cx="751296" cy="461665"/>
              </a:xfrm>
              <a:prstGeom prst="rect">
                <a:avLst/>
              </a:prstGeom>
              <a:blipFill rotWithShape="1">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1921979" y="4575653"/>
                <a:ext cx="109536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a:cs typeface="Times New Roman" panose="02020603050405020304" pitchFamily="18" charset="0"/>
                        </a:rPr>
                        <m:t>𝑚</m:t>
                      </m:r>
                      <m:sSup>
                        <m:sSupPr>
                          <m:ctrlPr>
                            <a:rPr lang="en-US" sz="2400" i="1">
                              <a:solidFill>
                                <a:srgbClr val="FF0000"/>
                              </a:solidFill>
                              <a:latin typeface="Cambria Math" panose="02040503050406030204" pitchFamily="18" charset="0"/>
                              <a:cs typeface="Times New Roman" pitchFamily="18" charset="0"/>
                            </a:rPr>
                          </m:ctrlPr>
                        </m:sSupPr>
                        <m:e>
                          <m:r>
                            <a:rPr lang="en-US" sz="2400" i="1">
                              <a:solidFill>
                                <a:srgbClr val="FF0000"/>
                              </a:solidFill>
                              <a:latin typeface="Cambria Math"/>
                              <a:ea typeface="Cambria Math"/>
                              <a:cs typeface="Times New Roman" pitchFamily="18" charset="0"/>
                            </a:rPr>
                            <m:t>𝜔</m:t>
                          </m:r>
                        </m:e>
                        <m:sup>
                          <m:r>
                            <a:rPr lang="en-US" sz="2400" i="1">
                              <a:solidFill>
                                <a:srgbClr val="FF0000"/>
                              </a:solidFill>
                              <a:latin typeface="Cambria Math"/>
                              <a:cs typeface="Times New Roman" pitchFamily="18" charset="0"/>
                            </a:rPr>
                            <m:t>2</m:t>
                          </m:r>
                        </m:sup>
                      </m:sSup>
                      <m:r>
                        <a:rPr lang="en-US" sz="2400" i="1">
                          <a:solidFill>
                            <a:srgbClr val="FF0000"/>
                          </a:solidFill>
                          <a:latin typeface="Cambria Math"/>
                          <a:cs typeface="Times New Roman" pitchFamily="18" charset="0"/>
                        </a:rPr>
                        <m:t>𝑋</m:t>
                      </m:r>
                    </m:oMath>
                  </m:oMathPara>
                </a14:m>
                <a:endParaRPr lang="en-IN" sz="2400" dirty="0"/>
              </a:p>
            </p:txBody>
          </p:sp>
        </mc:Choice>
        <mc:Fallback xmlns="">
          <p:sp>
            <p:nvSpPr>
              <p:cNvPr id="19" name="Rectangle 18"/>
              <p:cNvSpPr>
                <a:spLocks noRot="1" noChangeAspect="1" noMove="1" noResize="1" noEditPoints="1" noAdjustHandles="1" noChangeArrowheads="1" noChangeShapeType="1" noTextEdit="1"/>
              </p:cNvSpPr>
              <p:nvPr/>
            </p:nvSpPr>
            <p:spPr>
              <a:xfrm>
                <a:off x="1921979" y="4575653"/>
                <a:ext cx="1095364" cy="461665"/>
              </a:xfrm>
              <a:prstGeom prst="rect">
                <a:avLst/>
              </a:prstGeom>
              <a:blipFill rotWithShape="1">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5640333" y="2972075"/>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b="0" i="1" smtClean="0">
                          <a:latin typeface="Cambria Math" panose="02040503050406030204" pitchFamily="18" charset="0"/>
                          <a:cs typeface="Times New Roman" panose="02020603050405020304" pitchFamily="18" charset="0"/>
                        </a:rPr>
                        <m:t>𝑥</m:t>
                      </m:r>
                    </m:oMath>
                  </m:oMathPara>
                </a14:m>
                <a:endParaRPr lang="en-IN" sz="2400" dirty="0"/>
              </a:p>
            </p:txBody>
          </p:sp>
        </mc:Choice>
        <mc:Fallback xmlns="">
          <p:sp>
            <p:nvSpPr>
              <p:cNvPr id="22" name="Rectangle 21"/>
              <p:cNvSpPr>
                <a:spLocks noRot="1" noChangeAspect="1" noMove="1" noResize="1" noEditPoints="1" noAdjustHandles="1" noChangeArrowheads="1" noChangeShapeType="1" noTextEdit="1"/>
              </p:cNvSpPr>
              <p:nvPr/>
            </p:nvSpPr>
            <p:spPr>
              <a:xfrm>
                <a:off x="5640333" y="2972075"/>
                <a:ext cx="426399" cy="461665"/>
              </a:xfrm>
              <a:prstGeom prst="rect">
                <a:avLst/>
              </a:prstGeom>
              <a:blipFill rotWithShape="1">
                <a:blip r:embed="rId5"/>
                <a:stretch>
                  <a:fillRect/>
                </a:stretch>
              </a:blipFill>
            </p:spPr>
            <p:txBody>
              <a:bodyPr/>
              <a:lstStyle/>
              <a:p>
                <a:r>
                  <a:rPr lang="en-IN">
                    <a:noFill/>
                  </a:rPr>
                  <a:t> </a:t>
                </a:r>
              </a:p>
            </p:txBody>
          </p:sp>
        </mc:Fallback>
      </mc:AlternateContent>
      <p:sp>
        <p:nvSpPr>
          <p:cNvPr id="21" name="Rectangle 20"/>
          <p:cNvSpPr/>
          <p:nvPr/>
        </p:nvSpPr>
        <p:spPr>
          <a:xfrm>
            <a:off x="4477607" y="4248117"/>
            <a:ext cx="1550424" cy="369332"/>
          </a:xfrm>
          <a:prstGeom prst="rect">
            <a:avLst/>
          </a:prstGeom>
        </p:spPr>
        <p:txBody>
          <a:bodyPr wrap="none">
            <a:spAutoFit/>
          </a:bodyPr>
          <a:lstStyle/>
          <a:p>
            <a:r>
              <a:rPr lang="en-US" dirty="0">
                <a:latin typeface="Times New Roman" pitchFamily="18" charset="0"/>
                <a:cs typeface="Times New Roman" pitchFamily="18" charset="0"/>
              </a:rPr>
              <a:t>Reference axis</a:t>
            </a:r>
            <a:endParaRPr lang="en-IN" dirty="0"/>
          </a:p>
        </p:txBody>
      </p:sp>
      <p:sp>
        <p:nvSpPr>
          <p:cNvPr id="24" name="Rectangle 23"/>
          <p:cNvSpPr/>
          <p:nvPr/>
        </p:nvSpPr>
        <p:spPr>
          <a:xfrm>
            <a:off x="1159667" y="1362974"/>
            <a:ext cx="1896673" cy="369332"/>
          </a:xfrm>
          <a:prstGeom prst="rect">
            <a:avLst/>
          </a:prstGeom>
        </p:spPr>
        <p:txBody>
          <a:bodyPr wrap="none">
            <a:spAutoFit/>
          </a:bodyPr>
          <a:lstStyle/>
          <a:p>
            <a:r>
              <a:rPr lang="en-US" dirty="0">
                <a:latin typeface="Times New Roman" pitchFamily="18" charset="0"/>
                <a:cs typeface="Times New Roman" pitchFamily="18" charset="0"/>
              </a:rPr>
              <a:t>Perpendicular axis</a:t>
            </a:r>
            <a:endParaRPr lang="en-IN" dirty="0"/>
          </a:p>
        </p:txBody>
      </p:sp>
      <mc:AlternateContent xmlns:mc="http://schemas.openxmlformats.org/markup-compatibility/2006" xmlns:a14="http://schemas.microsoft.com/office/drawing/2010/main">
        <mc:Choice Requires="a14">
          <p:sp>
            <p:nvSpPr>
              <p:cNvPr id="26" name="Rectangle 25"/>
              <p:cNvSpPr/>
              <p:nvPr/>
            </p:nvSpPr>
            <p:spPr>
              <a:xfrm>
                <a:off x="3004580" y="4143377"/>
                <a:ext cx="4694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𝑂</m:t>
                      </m:r>
                    </m:oMath>
                  </m:oMathPara>
                </a14:m>
                <a:endParaRPr lang="en-IN" sz="2400" dirty="0"/>
              </a:p>
            </p:txBody>
          </p:sp>
        </mc:Choice>
        <mc:Fallback xmlns="">
          <p:sp>
            <p:nvSpPr>
              <p:cNvPr id="26" name="Rectangle 25"/>
              <p:cNvSpPr>
                <a:spLocks noRot="1" noChangeAspect="1" noMove="1" noResize="1" noEditPoints="1" noAdjustHandles="1" noChangeArrowheads="1" noChangeShapeType="1" noTextEdit="1"/>
              </p:cNvSpPr>
              <p:nvPr/>
            </p:nvSpPr>
            <p:spPr>
              <a:xfrm>
                <a:off x="3004580" y="4143377"/>
                <a:ext cx="469487" cy="461665"/>
              </a:xfrm>
              <a:prstGeom prst="rect">
                <a:avLst/>
              </a:prstGeom>
              <a:blipFill rotWithShape="1">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2189787" y="2693461"/>
                <a:ext cx="4694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𝐵</m:t>
                      </m:r>
                    </m:oMath>
                  </m:oMathPara>
                </a14:m>
                <a:endParaRPr lang="en-IN" sz="2400" dirty="0"/>
              </a:p>
            </p:txBody>
          </p:sp>
        </mc:Choice>
        <mc:Fallback xmlns="">
          <p:sp>
            <p:nvSpPr>
              <p:cNvPr id="27" name="Rectangle 26"/>
              <p:cNvSpPr>
                <a:spLocks noRot="1" noChangeAspect="1" noMove="1" noResize="1" noEditPoints="1" noAdjustHandles="1" noChangeArrowheads="1" noChangeShapeType="1" noTextEdit="1"/>
              </p:cNvSpPr>
              <p:nvPr/>
            </p:nvSpPr>
            <p:spPr>
              <a:xfrm>
                <a:off x="2189787" y="2693461"/>
                <a:ext cx="469487" cy="461665"/>
              </a:xfrm>
              <a:prstGeom prst="rect">
                <a:avLst/>
              </a:prstGeom>
              <a:blipFill rotWithShape="1">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5163755" y="1732306"/>
                <a:ext cx="4694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𝐴</m:t>
                      </m:r>
                    </m:oMath>
                  </m:oMathPara>
                </a14:m>
                <a:endParaRPr lang="en-IN" sz="2400" dirty="0"/>
              </a:p>
            </p:txBody>
          </p:sp>
        </mc:Choice>
        <mc:Fallback xmlns="">
          <p:sp>
            <p:nvSpPr>
              <p:cNvPr id="28" name="Rectangle 27"/>
              <p:cNvSpPr>
                <a:spLocks noRot="1" noChangeAspect="1" noMove="1" noResize="1" noEditPoints="1" noAdjustHandles="1" noChangeArrowheads="1" noChangeShapeType="1" noTextEdit="1"/>
              </p:cNvSpPr>
              <p:nvPr/>
            </p:nvSpPr>
            <p:spPr>
              <a:xfrm>
                <a:off x="5163755" y="1732306"/>
                <a:ext cx="469487" cy="461665"/>
              </a:xfrm>
              <a:prstGeom prst="rect">
                <a:avLst/>
              </a:prstGeom>
              <a:blipFill rotWithShape="1">
                <a:blip r:embed="rId8"/>
                <a:stretch>
                  <a:fillRect/>
                </a:stretch>
              </a:blipFill>
            </p:spPr>
            <p:txBody>
              <a:bodyPr/>
              <a:lstStyle/>
              <a:p>
                <a:r>
                  <a:rPr lang="en-IN">
                    <a:noFill/>
                  </a:rPr>
                  <a:t> </a:t>
                </a:r>
              </a:p>
            </p:txBody>
          </p:sp>
        </mc:Fallback>
      </mc:AlternateContent>
      <p:sp>
        <p:nvSpPr>
          <p:cNvPr id="25" name="Arc 24"/>
          <p:cNvSpPr>
            <a:spLocks noChangeAspect="1"/>
          </p:cNvSpPr>
          <p:nvPr/>
        </p:nvSpPr>
        <p:spPr>
          <a:xfrm>
            <a:off x="2347132" y="3455548"/>
            <a:ext cx="1463040" cy="1463040"/>
          </a:xfrm>
          <a:prstGeom prst="arc">
            <a:avLst>
              <a:gd name="adj1" fmla="val 18740775"/>
              <a:gd name="adj2" fmla="val 0"/>
            </a:avLst>
          </a:prstGeom>
          <a:ln w="190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400"/>
          </a:p>
        </p:txBody>
      </p:sp>
      <p:sp>
        <p:nvSpPr>
          <p:cNvPr id="30" name="Arc 29"/>
          <p:cNvSpPr>
            <a:spLocks noChangeAspect="1"/>
          </p:cNvSpPr>
          <p:nvPr/>
        </p:nvSpPr>
        <p:spPr>
          <a:xfrm>
            <a:off x="1948670" y="3062317"/>
            <a:ext cx="2286000" cy="2286000"/>
          </a:xfrm>
          <a:prstGeom prst="arc">
            <a:avLst>
              <a:gd name="adj1" fmla="val 18740775"/>
              <a:gd name="adj2" fmla="val 20187154"/>
            </a:avLst>
          </a:prstGeom>
          <a:ln w="190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400"/>
          </a:p>
        </p:txBody>
      </p:sp>
      <mc:AlternateContent xmlns:mc="http://schemas.openxmlformats.org/markup-compatibility/2006" xmlns:a14="http://schemas.microsoft.com/office/drawing/2010/main">
        <mc:Choice Requires="a14">
          <p:sp>
            <p:nvSpPr>
              <p:cNvPr id="29" name="Rectangle 28"/>
              <p:cNvSpPr/>
              <p:nvPr/>
            </p:nvSpPr>
            <p:spPr>
              <a:xfrm>
                <a:off x="3745913" y="3727635"/>
                <a:ext cx="60574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solidFill>
                            <a:srgbClr val="FF0000"/>
                          </a:solidFill>
                          <a:latin typeface="Cambria Math"/>
                          <a:ea typeface="Cambria Math"/>
                          <a:cs typeface="Times New Roman" pitchFamily="18" charset="0"/>
                        </a:rPr>
                        <m:t>𝜔</m:t>
                      </m:r>
                      <m:r>
                        <a:rPr lang="en-US" sz="2400" b="0" i="1" smtClean="0">
                          <a:solidFill>
                            <a:srgbClr val="FF0000"/>
                          </a:solidFill>
                          <a:latin typeface="Cambria Math"/>
                          <a:ea typeface="Cambria Math"/>
                          <a:cs typeface="Times New Roman" pitchFamily="18" charset="0"/>
                        </a:rPr>
                        <m:t>𝑡</m:t>
                      </m:r>
                    </m:oMath>
                  </m:oMathPara>
                </a14:m>
                <a:endParaRPr lang="en-IN" sz="2400" dirty="0"/>
              </a:p>
            </p:txBody>
          </p:sp>
        </mc:Choice>
        <mc:Fallback xmlns="">
          <p:sp>
            <p:nvSpPr>
              <p:cNvPr id="29" name="Rectangle 28"/>
              <p:cNvSpPr>
                <a:spLocks noRot="1" noChangeAspect="1" noMove="1" noResize="1" noEditPoints="1" noAdjustHandles="1" noChangeArrowheads="1" noChangeShapeType="1" noTextEdit="1"/>
              </p:cNvSpPr>
              <p:nvPr/>
            </p:nvSpPr>
            <p:spPr>
              <a:xfrm>
                <a:off x="3745913" y="3727635"/>
                <a:ext cx="605743" cy="461665"/>
              </a:xfrm>
              <a:prstGeom prst="rect">
                <a:avLst/>
              </a:prstGeom>
              <a:blipFill rotWithShape="1">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3978235" y="3202907"/>
                <a:ext cx="46859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a:ea typeface="Cambria Math"/>
                          <a:cs typeface="Times New Roman" pitchFamily="18" charset="0"/>
                        </a:rPr>
                        <m:t>𝜑</m:t>
                      </m:r>
                    </m:oMath>
                  </m:oMathPara>
                </a14:m>
                <a:endParaRPr lang="en-IN" sz="2400" dirty="0"/>
              </a:p>
            </p:txBody>
          </p:sp>
        </mc:Choice>
        <mc:Fallback xmlns="">
          <p:sp>
            <p:nvSpPr>
              <p:cNvPr id="32" name="Rectangle 31"/>
              <p:cNvSpPr>
                <a:spLocks noRot="1" noChangeAspect="1" noMove="1" noResize="1" noEditPoints="1" noAdjustHandles="1" noChangeArrowheads="1" noChangeShapeType="1" noTextEdit="1"/>
              </p:cNvSpPr>
              <p:nvPr/>
            </p:nvSpPr>
            <p:spPr>
              <a:xfrm>
                <a:off x="3978235" y="3202907"/>
                <a:ext cx="468590" cy="461665"/>
              </a:xfrm>
              <a:prstGeom prst="rect">
                <a:avLst/>
              </a:prstGeom>
              <a:blipFill rotWithShape="1">
                <a:blip r:embed="rId10"/>
                <a:stretch>
                  <a:fillRect b="-9211"/>
                </a:stretch>
              </a:blipFill>
            </p:spPr>
            <p:txBody>
              <a:bodyPr/>
              <a:lstStyle/>
              <a:p>
                <a:r>
                  <a:rPr lang="en-IN">
                    <a:noFill/>
                  </a:rPr>
                  <a:t> </a:t>
                </a:r>
              </a:p>
            </p:txBody>
          </p:sp>
        </mc:Fallback>
      </mc:AlternateContent>
      <p:cxnSp>
        <p:nvCxnSpPr>
          <p:cNvPr id="33" name="Straight Connector 32"/>
          <p:cNvCxnSpPr/>
          <p:nvPr/>
        </p:nvCxnSpPr>
        <p:spPr>
          <a:xfrm rot="-1380000">
            <a:off x="8277722" y="4017348"/>
            <a:ext cx="0" cy="1097280"/>
          </a:xfrm>
          <a:prstGeom prst="line">
            <a:avLst/>
          </a:prstGeom>
          <a:ln w="28575">
            <a:solidFill>
              <a:schemeClr val="tx1"/>
            </a:solidFill>
            <a:prstDash val="dash"/>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4020000">
            <a:off x="9343168" y="2153436"/>
            <a:ext cx="0" cy="2743200"/>
          </a:xfrm>
          <a:prstGeom prst="line">
            <a:avLst/>
          </a:prstGeom>
          <a:ln w="28575">
            <a:solidFill>
              <a:schemeClr val="tx1"/>
            </a:solidFill>
            <a:prstDash val="solid"/>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8498318" y="2989109"/>
            <a:ext cx="2090162" cy="2110134"/>
          </a:xfrm>
          <a:prstGeom prst="line">
            <a:avLst/>
          </a:prstGeom>
          <a:ln w="28575">
            <a:solidFill>
              <a:schemeClr val="tx1"/>
            </a:solidFill>
            <a:prstDash val="solid"/>
            <a:headEnd type="stealth" w="lg" len="lg"/>
            <a:tailEnd type="none" w="lg" len="lg"/>
          </a:ln>
        </p:spPr>
        <p:style>
          <a:lnRef idx="1">
            <a:schemeClr val="accent1"/>
          </a:lnRef>
          <a:fillRef idx="0">
            <a:schemeClr val="accent1"/>
          </a:fillRef>
          <a:effectRef idx="0">
            <a:schemeClr val="accent1"/>
          </a:effectRef>
          <a:fontRef idx="minor">
            <a:schemeClr val="tx1"/>
          </a:fontRef>
        </p:style>
      </p:cxnSp>
      <p:sp>
        <p:nvSpPr>
          <p:cNvPr id="36" name="Arc 35"/>
          <p:cNvSpPr>
            <a:spLocks noChangeAspect="1"/>
          </p:cNvSpPr>
          <p:nvPr/>
        </p:nvSpPr>
        <p:spPr>
          <a:xfrm>
            <a:off x="9125691" y="1931682"/>
            <a:ext cx="2286000" cy="2286000"/>
          </a:xfrm>
          <a:prstGeom prst="arc">
            <a:avLst>
              <a:gd name="adj1" fmla="val 7537506"/>
              <a:gd name="adj2" fmla="val 9422375"/>
            </a:avLst>
          </a:prstGeom>
          <a:ln w="190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31" name="Rectangle 30"/>
              <p:cNvSpPr/>
              <p:nvPr/>
            </p:nvSpPr>
            <p:spPr>
              <a:xfrm>
                <a:off x="4477607" y="2596624"/>
                <a:ext cx="5500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a:cs typeface="Times New Roman" panose="02020603050405020304" pitchFamily="18" charset="0"/>
                            </a:rPr>
                            <m:t>𝐹</m:t>
                          </m:r>
                        </m:e>
                        <m:sub>
                          <m:r>
                            <a:rPr lang="en-US" sz="2400" i="1">
                              <a:latin typeface="Cambria Math"/>
                              <a:cs typeface="Times New Roman" panose="02020603050405020304" pitchFamily="18" charset="0"/>
                            </a:rPr>
                            <m:t>0</m:t>
                          </m:r>
                        </m:sub>
                      </m:sSub>
                    </m:oMath>
                  </m:oMathPara>
                </a14:m>
                <a:endParaRPr lang="en-IN" sz="2400" dirty="0"/>
              </a:p>
            </p:txBody>
          </p:sp>
        </mc:Choice>
        <mc:Fallback xmlns="">
          <p:sp>
            <p:nvSpPr>
              <p:cNvPr id="31" name="Rectangle 30"/>
              <p:cNvSpPr>
                <a:spLocks noRot="1" noChangeAspect="1" noMove="1" noResize="1" noEditPoints="1" noAdjustHandles="1" noChangeArrowheads="1" noChangeShapeType="1" noTextEdit="1"/>
              </p:cNvSpPr>
              <p:nvPr/>
            </p:nvSpPr>
            <p:spPr>
              <a:xfrm>
                <a:off x="4477607" y="2596624"/>
                <a:ext cx="550087" cy="461665"/>
              </a:xfrm>
              <a:prstGeom prst="rect">
                <a:avLst/>
              </a:prstGeom>
              <a:blipFill rotWithShape="1">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Rectangle 38"/>
              <p:cNvSpPr/>
              <p:nvPr/>
            </p:nvSpPr>
            <p:spPr>
              <a:xfrm>
                <a:off x="9718604" y="3668850"/>
                <a:ext cx="5500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a:cs typeface="Times New Roman" panose="02020603050405020304" pitchFamily="18" charset="0"/>
                            </a:rPr>
                            <m:t>𝐹</m:t>
                          </m:r>
                        </m:e>
                        <m:sub>
                          <m:r>
                            <a:rPr lang="en-US" sz="2400" i="1">
                              <a:latin typeface="Cambria Math"/>
                              <a:cs typeface="Times New Roman" panose="02020603050405020304" pitchFamily="18" charset="0"/>
                            </a:rPr>
                            <m:t>0</m:t>
                          </m:r>
                        </m:sub>
                      </m:sSub>
                    </m:oMath>
                  </m:oMathPara>
                </a14:m>
                <a:endParaRPr lang="en-IN" sz="2400" dirty="0"/>
              </a:p>
            </p:txBody>
          </p:sp>
        </mc:Choice>
        <mc:Fallback xmlns="">
          <p:sp>
            <p:nvSpPr>
              <p:cNvPr id="39" name="Rectangle 38"/>
              <p:cNvSpPr>
                <a:spLocks noRot="1" noChangeAspect="1" noMove="1" noResize="1" noEditPoints="1" noAdjustHandles="1" noChangeArrowheads="1" noChangeShapeType="1" noTextEdit="1"/>
              </p:cNvSpPr>
              <p:nvPr/>
            </p:nvSpPr>
            <p:spPr>
              <a:xfrm>
                <a:off x="9718604" y="3668850"/>
                <a:ext cx="550087" cy="461665"/>
              </a:xfrm>
              <a:prstGeom prst="rect">
                <a:avLst/>
              </a:prstGeom>
              <a:blipFill rotWithShape="1">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7954780" y="2941154"/>
                <a:ext cx="18825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cs typeface="Times New Roman" panose="02020603050405020304" pitchFamily="18" charset="0"/>
                        </a:rPr>
                        <m:t>𝐾𝑋</m:t>
                      </m:r>
                      <m:r>
                        <a:rPr lang="en-US" sz="2400" b="0" i="1" smtClean="0">
                          <a:latin typeface="Cambria Math"/>
                          <a:cs typeface="Times New Roman" panose="02020603050405020304" pitchFamily="18" charset="0"/>
                        </a:rPr>
                        <m:t>−</m:t>
                      </m:r>
                      <m:r>
                        <a:rPr lang="en-US" sz="2400" i="1">
                          <a:latin typeface="Cambria Math"/>
                          <a:cs typeface="Times New Roman" panose="02020603050405020304" pitchFamily="18" charset="0"/>
                        </a:rPr>
                        <m:t>𝑚</m:t>
                      </m:r>
                      <m:sSup>
                        <m:sSupPr>
                          <m:ctrlPr>
                            <a:rPr lang="en-US" sz="2400" i="1">
                              <a:solidFill>
                                <a:srgbClr val="FF0000"/>
                              </a:solidFill>
                              <a:latin typeface="Cambria Math" panose="02040503050406030204" pitchFamily="18" charset="0"/>
                              <a:cs typeface="Times New Roman" pitchFamily="18" charset="0"/>
                            </a:rPr>
                          </m:ctrlPr>
                        </m:sSupPr>
                        <m:e>
                          <m:r>
                            <a:rPr lang="en-US" sz="2400" i="1">
                              <a:solidFill>
                                <a:srgbClr val="FF0000"/>
                              </a:solidFill>
                              <a:latin typeface="Cambria Math"/>
                              <a:ea typeface="Cambria Math"/>
                              <a:cs typeface="Times New Roman" pitchFamily="18" charset="0"/>
                            </a:rPr>
                            <m:t>𝜔</m:t>
                          </m:r>
                        </m:e>
                        <m:sup>
                          <m:r>
                            <a:rPr lang="en-US" sz="2400" i="1">
                              <a:solidFill>
                                <a:srgbClr val="FF0000"/>
                              </a:solidFill>
                              <a:latin typeface="Cambria Math"/>
                              <a:cs typeface="Times New Roman" pitchFamily="18" charset="0"/>
                            </a:rPr>
                            <m:t>2</m:t>
                          </m:r>
                        </m:sup>
                      </m:sSup>
                      <m:r>
                        <a:rPr lang="en-US" sz="2400" i="1">
                          <a:solidFill>
                            <a:srgbClr val="FF0000"/>
                          </a:solidFill>
                          <a:latin typeface="Cambria Math"/>
                          <a:cs typeface="Times New Roman" pitchFamily="18" charset="0"/>
                        </a:rPr>
                        <m:t>𝑋</m:t>
                      </m:r>
                    </m:oMath>
                  </m:oMathPara>
                </a14:m>
                <a:endParaRPr lang="en-IN" sz="2400" dirty="0"/>
              </a:p>
            </p:txBody>
          </p:sp>
        </mc:Choice>
        <mc:Fallback xmlns="">
          <p:sp>
            <p:nvSpPr>
              <p:cNvPr id="40" name="Rectangle 39"/>
              <p:cNvSpPr>
                <a:spLocks noRot="1" noChangeAspect="1" noMove="1" noResize="1" noEditPoints="1" noAdjustHandles="1" noChangeArrowheads="1" noChangeShapeType="1" noTextEdit="1"/>
              </p:cNvSpPr>
              <p:nvPr/>
            </p:nvSpPr>
            <p:spPr>
              <a:xfrm>
                <a:off x="7954780" y="2941154"/>
                <a:ext cx="1882503" cy="461665"/>
              </a:xfrm>
              <a:prstGeom prst="rect">
                <a:avLst/>
              </a:prstGeom>
              <a:blipFill rotWithShape="1">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Rectangle 40"/>
              <p:cNvSpPr/>
              <p:nvPr/>
            </p:nvSpPr>
            <p:spPr>
              <a:xfrm>
                <a:off x="8409809" y="5171798"/>
                <a:ext cx="4694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𝑂</m:t>
                      </m:r>
                    </m:oMath>
                  </m:oMathPara>
                </a14:m>
                <a:endParaRPr lang="en-IN" sz="2400" dirty="0"/>
              </a:p>
            </p:txBody>
          </p:sp>
        </mc:Choice>
        <mc:Fallback xmlns="">
          <p:sp>
            <p:nvSpPr>
              <p:cNvPr id="41" name="Rectangle 40"/>
              <p:cNvSpPr>
                <a:spLocks noRot="1" noChangeAspect="1" noMove="1" noResize="1" noEditPoints="1" noAdjustHandles="1" noChangeArrowheads="1" noChangeShapeType="1" noTextEdit="1"/>
              </p:cNvSpPr>
              <p:nvPr/>
            </p:nvSpPr>
            <p:spPr>
              <a:xfrm>
                <a:off x="8409809" y="5171798"/>
                <a:ext cx="469487" cy="461665"/>
              </a:xfrm>
              <a:prstGeom prst="rect">
                <a:avLst/>
              </a:prstGeom>
              <a:blipFill rotWithShape="1">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7595016" y="3721882"/>
                <a:ext cx="4694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𝐵</m:t>
                      </m:r>
                    </m:oMath>
                  </m:oMathPara>
                </a14:m>
                <a:endParaRPr lang="en-IN" sz="2400" dirty="0"/>
              </a:p>
            </p:txBody>
          </p:sp>
        </mc:Choice>
        <mc:Fallback xmlns="">
          <p:sp>
            <p:nvSpPr>
              <p:cNvPr id="42" name="Rectangle 41"/>
              <p:cNvSpPr>
                <a:spLocks noRot="1" noChangeAspect="1" noMove="1" noResize="1" noEditPoints="1" noAdjustHandles="1" noChangeArrowheads="1" noChangeShapeType="1" noTextEdit="1"/>
              </p:cNvSpPr>
              <p:nvPr/>
            </p:nvSpPr>
            <p:spPr>
              <a:xfrm>
                <a:off x="7595016" y="3721882"/>
                <a:ext cx="469487" cy="461665"/>
              </a:xfrm>
              <a:prstGeom prst="rect">
                <a:avLst/>
              </a:prstGeom>
              <a:blipFill rotWithShape="1">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10588480" y="2619199"/>
                <a:ext cx="4694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𝐴</m:t>
                      </m:r>
                    </m:oMath>
                  </m:oMathPara>
                </a14:m>
                <a:endParaRPr lang="en-IN" sz="2400" dirty="0"/>
              </a:p>
            </p:txBody>
          </p:sp>
        </mc:Choice>
        <mc:Fallback xmlns="">
          <p:sp>
            <p:nvSpPr>
              <p:cNvPr id="43" name="Rectangle 42"/>
              <p:cNvSpPr>
                <a:spLocks noRot="1" noChangeAspect="1" noMove="1" noResize="1" noEditPoints="1" noAdjustHandles="1" noChangeArrowheads="1" noChangeShapeType="1" noTextEdit="1"/>
              </p:cNvSpPr>
              <p:nvPr/>
            </p:nvSpPr>
            <p:spPr>
              <a:xfrm>
                <a:off x="10588480" y="2619199"/>
                <a:ext cx="469487" cy="461665"/>
              </a:xfrm>
              <a:prstGeom prst="rect">
                <a:avLst/>
              </a:prstGeom>
              <a:blipFill rotWithShape="1">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Rectangle 37"/>
              <p:cNvSpPr/>
              <p:nvPr/>
            </p:nvSpPr>
            <p:spPr>
              <a:xfrm>
                <a:off x="257834" y="5754234"/>
                <a:ext cx="11612113"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a:cs typeface="Times New Roman" panose="02020603050405020304" pitchFamily="18" charset="0"/>
                            </a:rPr>
                            <m:t>𝐹</m:t>
                          </m:r>
                        </m:e>
                        <m:sub>
                          <m:r>
                            <a:rPr lang="en-US" sz="2400" i="1">
                              <a:latin typeface="Cambria Math"/>
                              <a:cs typeface="Times New Roman" panose="02020603050405020304" pitchFamily="18" charset="0"/>
                            </a:rPr>
                            <m:t>0</m:t>
                          </m:r>
                        </m:sub>
                      </m:sSub>
                      <m:func>
                        <m:funcPr>
                          <m:ctrlPr>
                            <a:rPr lang="en-US" sz="2400" i="1">
                              <a:latin typeface="Cambria Math" panose="02040503050406030204" pitchFamily="18" charset="0"/>
                              <a:cs typeface="Times New Roman" panose="02020603050405020304" pitchFamily="18" charset="0"/>
                            </a:rPr>
                          </m:ctrlPr>
                        </m:funcPr>
                        <m:fName>
                          <m:r>
                            <m:rPr>
                              <m:sty m:val="p"/>
                            </m:rPr>
                            <a:rPr lang="en-US" sz="2400">
                              <a:latin typeface="Cambria Math"/>
                              <a:cs typeface="Times New Roman" panose="02020603050405020304" pitchFamily="18" charset="0"/>
                            </a:rPr>
                            <m:t>sin</m:t>
                          </m:r>
                        </m:fName>
                        <m:e>
                          <m:r>
                            <a:rPr lang="en-US" sz="2400" i="1">
                              <a:latin typeface="Cambria Math"/>
                              <a:ea typeface="Cambria Math"/>
                              <a:cs typeface="Times New Roman" panose="02020603050405020304" pitchFamily="18" charset="0"/>
                            </a:rPr>
                            <m:t>𝜔</m:t>
                          </m:r>
                          <m:r>
                            <a:rPr lang="en-US" sz="2400" i="1">
                              <a:latin typeface="Cambria Math"/>
                              <a:ea typeface="Cambria Math"/>
                              <a:cs typeface="Times New Roman" panose="02020603050405020304" pitchFamily="18" charset="0"/>
                            </a:rPr>
                            <m:t>𝑡</m:t>
                          </m:r>
                        </m:e>
                      </m:func>
                      <m:r>
                        <a:rPr lang="en-US" sz="2400" i="1">
                          <a:latin typeface="Cambria Math"/>
                          <a:ea typeface="Cambria Math"/>
                          <a:cs typeface="Times New Roman" panose="02020603050405020304" pitchFamily="18" charset="0"/>
                        </a:rPr>
                        <m:t>−</m:t>
                      </m:r>
                      <m:r>
                        <a:rPr lang="en-IN" sz="2400" i="1">
                          <a:latin typeface="Cambria Math" panose="02040503050406030204" pitchFamily="18" charset="0"/>
                          <a:cs typeface="Times New Roman" panose="02020603050405020304" pitchFamily="18" charset="0"/>
                        </a:rPr>
                        <m:t>𝐾</m:t>
                      </m:r>
                      <m:r>
                        <a:rPr lang="en-US" sz="2400" i="1">
                          <a:solidFill>
                            <a:srgbClr val="FF0000"/>
                          </a:solidFill>
                          <a:latin typeface="Cambria Math"/>
                          <a:cs typeface="Times New Roman" pitchFamily="18" charset="0"/>
                        </a:rPr>
                        <m:t>𝑋</m:t>
                      </m:r>
                      <m:func>
                        <m:funcPr>
                          <m:ctrlPr>
                            <a:rPr lang="en-US" sz="2400" i="1">
                              <a:solidFill>
                                <a:srgbClr val="FF0000"/>
                              </a:solidFill>
                              <a:latin typeface="Cambria Math" panose="02040503050406030204" pitchFamily="18" charset="0"/>
                              <a:cs typeface="Times New Roman" pitchFamily="18" charset="0"/>
                            </a:rPr>
                          </m:ctrlPr>
                        </m:funcPr>
                        <m:fName>
                          <m:r>
                            <m:rPr>
                              <m:sty m:val="p"/>
                            </m:rPr>
                            <a:rPr lang="en-US" sz="2400">
                              <a:solidFill>
                                <a:srgbClr val="FF0000"/>
                              </a:solidFill>
                              <a:latin typeface="Cambria Math"/>
                              <a:cs typeface="Times New Roman" pitchFamily="18" charset="0"/>
                            </a:rPr>
                            <m:t>sin</m:t>
                          </m:r>
                        </m:fName>
                        <m:e>
                          <m:d>
                            <m:dPr>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𝑡</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𝜑</m:t>
                              </m:r>
                            </m:e>
                          </m:d>
                        </m:e>
                      </m:func>
                      <m:r>
                        <a:rPr lang="en-US" sz="2400" i="1">
                          <a:latin typeface="Cambria Math"/>
                          <a:ea typeface="Cambria Math"/>
                          <a:cs typeface="Times New Roman" pitchFamily="18" charset="0"/>
                        </a:rPr>
                        <m:t>−</m:t>
                      </m:r>
                      <m:r>
                        <a:rPr lang="en-US" sz="2400" i="1">
                          <a:latin typeface="Cambria Math"/>
                          <a:cs typeface="Times New Roman" panose="02020603050405020304" pitchFamily="18" charset="0"/>
                        </a:rPr>
                        <m:t>𝐶</m:t>
                      </m:r>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 </m:t>
                      </m:r>
                      <m:r>
                        <a:rPr lang="en-US" sz="2400" i="1">
                          <a:solidFill>
                            <a:srgbClr val="FF0000"/>
                          </a:solidFill>
                          <a:latin typeface="Cambria Math"/>
                          <a:cs typeface="Times New Roman" pitchFamily="18" charset="0"/>
                        </a:rPr>
                        <m:t>𝑋</m:t>
                      </m:r>
                      <m:func>
                        <m:funcPr>
                          <m:ctrlPr>
                            <a:rPr lang="en-US" sz="2400" i="1">
                              <a:solidFill>
                                <a:srgbClr val="FF0000"/>
                              </a:solidFill>
                              <a:latin typeface="Cambria Math" panose="02040503050406030204" pitchFamily="18" charset="0"/>
                              <a:cs typeface="Times New Roman" pitchFamily="18" charset="0"/>
                            </a:rPr>
                          </m:ctrlPr>
                        </m:funcPr>
                        <m:fName>
                          <m:r>
                            <m:rPr>
                              <m:sty m:val="p"/>
                            </m:rPr>
                            <a:rPr lang="en-US" sz="2400">
                              <a:solidFill>
                                <a:srgbClr val="FF0000"/>
                              </a:solidFill>
                              <a:latin typeface="Cambria Math"/>
                              <a:cs typeface="Times New Roman" pitchFamily="18" charset="0"/>
                            </a:rPr>
                            <m:t>sin</m:t>
                          </m:r>
                        </m:fName>
                        <m:e>
                          <m:d>
                            <m:dPr>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𝑡</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𝜑</m:t>
                              </m:r>
                              <m:r>
                                <a:rPr lang="en-US" sz="2400" i="1">
                                  <a:solidFill>
                                    <a:srgbClr val="FF0000"/>
                                  </a:solidFill>
                                  <a:latin typeface="Cambria Math"/>
                                  <a:ea typeface="Cambria Math"/>
                                  <a:cs typeface="Times New Roman" pitchFamily="18" charset="0"/>
                                </a:rPr>
                                <m:t>+</m:t>
                              </m:r>
                              <m:f>
                                <m:fPr>
                                  <m:type m:val="lin"/>
                                  <m:ctrlPr>
                                    <a:rPr lang="en-US" sz="2400" i="1">
                                      <a:solidFill>
                                        <a:srgbClr val="FF0000"/>
                                      </a:solidFill>
                                      <a:latin typeface="Cambria Math" panose="02040503050406030204" pitchFamily="18" charset="0"/>
                                      <a:ea typeface="Cambria Math"/>
                                      <a:cs typeface="Times New Roman" pitchFamily="18" charset="0"/>
                                    </a:rPr>
                                  </m:ctrlPr>
                                </m:fPr>
                                <m:num>
                                  <m:r>
                                    <a:rPr lang="en-US" sz="2400" i="1">
                                      <a:solidFill>
                                        <a:srgbClr val="FF0000"/>
                                      </a:solidFill>
                                      <a:latin typeface="Cambria Math"/>
                                      <a:ea typeface="Cambria Math"/>
                                      <a:cs typeface="Times New Roman" pitchFamily="18" charset="0"/>
                                    </a:rPr>
                                    <m:t>𝜋</m:t>
                                  </m:r>
                                </m:num>
                                <m:den>
                                  <m:r>
                                    <a:rPr lang="en-US" sz="2400" i="1">
                                      <a:solidFill>
                                        <a:srgbClr val="FF0000"/>
                                      </a:solidFill>
                                      <a:latin typeface="Cambria Math"/>
                                      <a:ea typeface="Cambria Math"/>
                                      <a:cs typeface="Times New Roman" pitchFamily="18" charset="0"/>
                                    </a:rPr>
                                    <m:t>2</m:t>
                                  </m:r>
                                </m:den>
                              </m:f>
                            </m:e>
                          </m:d>
                        </m:e>
                      </m:func>
                      <m:r>
                        <a:rPr lang="en-US" sz="2400" i="1">
                          <a:latin typeface="Cambria Math"/>
                          <a:ea typeface="Cambria Math"/>
                          <a:cs typeface="Times New Roman" pitchFamily="18" charset="0"/>
                        </a:rPr>
                        <m:t>−</m:t>
                      </m:r>
                      <m:r>
                        <a:rPr lang="en-US" sz="2400" i="1">
                          <a:latin typeface="Cambria Math"/>
                          <a:cs typeface="Times New Roman" panose="02020603050405020304" pitchFamily="18" charset="0"/>
                        </a:rPr>
                        <m:t>𝑚</m:t>
                      </m:r>
                      <m:sSup>
                        <m:sSupPr>
                          <m:ctrlPr>
                            <a:rPr lang="en-US" sz="2400" i="1">
                              <a:solidFill>
                                <a:srgbClr val="FF0000"/>
                              </a:solidFill>
                              <a:latin typeface="Cambria Math" panose="02040503050406030204" pitchFamily="18" charset="0"/>
                              <a:cs typeface="Times New Roman" pitchFamily="18" charset="0"/>
                            </a:rPr>
                          </m:ctrlPr>
                        </m:sSupPr>
                        <m:e>
                          <m:r>
                            <a:rPr lang="en-US" sz="2400" i="1">
                              <a:solidFill>
                                <a:srgbClr val="FF0000"/>
                              </a:solidFill>
                              <a:latin typeface="Cambria Math"/>
                              <a:ea typeface="Cambria Math"/>
                              <a:cs typeface="Times New Roman" pitchFamily="18" charset="0"/>
                            </a:rPr>
                            <m:t>𝜔</m:t>
                          </m:r>
                        </m:e>
                        <m:sup>
                          <m:r>
                            <a:rPr lang="en-US" sz="2400" i="1">
                              <a:solidFill>
                                <a:srgbClr val="FF0000"/>
                              </a:solidFill>
                              <a:latin typeface="Cambria Math"/>
                              <a:cs typeface="Times New Roman" pitchFamily="18" charset="0"/>
                            </a:rPr>
                            <m:t>2</m:t>
                          </m:r>
                        </m:sup>
                      </m:sSup>
                      <m:r>
                        <a:rPr lang="en-US" sz="2400" i="1">
                          <a:solidFill>
                            <a:srgbClr val="FF0000"/>
                          </a:solidFill>
                          <a:latin typeface="Cambria Math"/>
                          <a:cs typeface="Times New Roman" pitchFamily="18" charset="0"/>
                        </a:rPr>
                        <m:t>𝑋</m:t>
                      </m:r>
                      <m:func>
                        <m:funcPr>
                          <m:ctrlPr>
                            <a:rPr lang="en-US" sz="2400" i="1">
                              <a:solidFill>
                                <a:srgbClr val="FF0000"/>
                              </a:solidFill>
                              <a:latin typeface="Cambria Math" panose="02040503050406030204" pitchFamily="18" charset="0"/>
                              <a:cs typeface="Times New Roman" pitchFamily="18" charset="0"/>
                            </a:rPr>
                          </m:ctrlPr>
                        </m:funcPr>
                        <m:fName>
                          <m:r>
                            <m:rPr>
                              <m:sty m:val="p"/>
                            </m:rPr>
                            <a:rPr lang="en-US" sz="2400">
                              <a:solidFill>
                                <a:srgbClr val="FF0000"/>
                              </a:solidFill>
                              <a:latin typeface="Cambria Math"/>
                              <a:cs typeface="Times New Roman" pitchFamily="18" charset="0"/>
                            </a:rPr>
                            <m:t>sin</m:t>
                          </m:r>
                        </m:fName>
                        <m:e>
                          <m:d>
                            <m:dPr>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𝑡</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𝜑</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𝜋</m:t>
                              </m:r>
                            </m:e>
                          </m:d>
                        </m:e>
                      </m:func>
                      <m:r>
                        <a:rPr lang="en-US" sz="2400" i="1">
                          <a:latin typeface="Cambria Math"/>
                          <a:cs typeface="Times New Roman" panose="02020603050405020304" pitchFamily="18" charset="0"/>
                        </a:rPr>
                        <m:t>=0</m:t>
                      </m:r>
                    </m:oMath>
                  </m:oMathPara>
                </a14:m>
                <a:endParaRPr lang="en-US" sz="2400" dirty="0">
                  <a:latin typeface="Times New Roman" pitchFamily="18" charset="0"/>
                  <a:cs typeface="Times New Roman" panose="02020603050405020304" pitchFamily="18" charset="0"/>
                </a:endParaRPr>
              </a:p>
            </p:txBody>
          </p:sp>
        </mc:Choice>
        <mc:Fallback xmlns="">
          <p:sp>
            <p:nvSpPr>
              <p:cNvPr id="38" name="Rectangle 37"/>
              <p:cNvSpPr>
                <a:spLocks noRot="1" noChangeAspect="1" noMove="1" noResize="1" noEditPoints="1" noAdjustHandles="1" noChangeArrowheads="1" noChangeShapeType="1" noTextEdit="1"/>
              </p:cNvSpPr>
              <p:nvPr/>
            </p:nvSpPr>
            <p:spPr>
              <a:xfrm>
                <a:off x="257834" y="5754234"/>
                <a:ext cx="11612113" cy="461665"/>
              </a:xfrm>
              <a:prstGeom prst="rect">
                <a:avLst/>
              </a:prstGeom>
              <a:blipFill rotWithShape="1">
                <a:blip r:embed="rId17"/>
                <a:stretch>
                  <a:fillRect t="-123684" b="-19210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Rectangle 44"/>
              <p:cNvSpPr/>
              <p:nvPr/>
            </p:nvSpPr>
            <p:spPr>
              <a:xfrm>
                <a:off x="8965561" y="3681712"/>
                <a:ext cx="46859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a:ea typeface="Cambria Math"/>
                          <a:cs typeface="Times New Roman" pitchFamily="18" charset="0"/>
                        </a:rPr>
                        <m:t>𝜑</m:t>
                      </m:r>
                    </m:oMath>
                  </m:oMathPara>
                </a14:m>
                <a:endParaRPr lang="en-IN" sz="2400" dirty="0"/>
              </a:p>
            </p:txBody>
          </p:sp>
        </mc:Choice>
        <mc:Fallback xmlns="">
          <p:sp>
            <p:nvSpPr>
              <p:cNvPr id="45" name="Rectangle 44"/>
              <p:cNvSpPr>
                <a:spLocks noRot="1" noChangeAspect="1" noMove="1" noResize="1" noEditPoints="1" noAdjustHandles="1" noChangeArrowheads="1" noChangeShapeType="1" noTextEdit="1"/>
              </p:cNvSpPr>
              <p:nvPr/>
            </p:nvSpPr>
            <p:spPr>
              <a:xfrm>
                <a:off x="8965561" y="3681712"/>
                <a:ext cx="468590" cy="461665"/>
              </a:xfrm>
              <a:prstGeom prst="rect">
                <a:avLst/>
              </a:prstGeom>
              <a:blipFill rotWithShape="1">
                <a:blip r:embed="rId18"/>
                <a:stretch>
                  <a:fillRect b="-921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7318681" y="4617449"/>
                <a:ext cx="94109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a:cs typeface="Times New Roman" panose="02020603050405020304" pitchFamily="18" charset="0"/>
                        </a:rPr>
                        <m:t>𝐶</m:t>
                      </m:r>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 </m:t>
                      </m:r>
                      <m:r>
                        <a:rPr lang="en-US" sz="2400" i="1">
                          <a:solidFill>
                            <a:srgbClr val="FF0000"/>
                          </a:solidFill>
                          <a:latin typeface="Cambria Math"/>
                          <a:cs typeface="Times New Roman" pitchFamily="18" charset="0"/>
                        </a:rPr>
                        <m:t>𝑋</m:t>
                      </m:r>
                    </m:oMath>
                  </m:oMathPara>
                </a14:m>
                <a:endParaRPr lang="en-IN" sz="2400" dirty="0"/>
              </a:p>
            </p:txBody>
          </p:sp>
        </mc:Choice>
        <mc:Fallback xmlns="">
          <p:sp>
            <p:nvSpPr>
              <p:cNvPr id="46" name="Rectangle 45"/>
              <p:cNvSpPr>
                <a:spLocks noRot="1" noChangeAspect="1" noMove="1" noResize="1" noEditPoints="1" noAdjustHandles="1" noChangeArrowheads="1" noChangeShapeType="1" noTextEdit="1"/>
              </p:cNvSpPr>
              <p:nvPr/>
            </p:nvSpPr>
            <p:spPr>
              <a:xfrm>
                <a:off x="7318681" y="4617449"/>
                <a:ext cx="941091" cy="461665"/>
              </a:xfrm>
              <a:prstGeom prst="rect">
                <a:avLst/>
              </a:prstGeom>
              <a:blipFill rotWithShape="1">
                <a:blip r:embed="rId1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80005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Forced vibration with harmonic excitation (Solution)</a:t>
            </a:r>
            <a:endParaRPr lang="en-IN" sz="3600" dirty="0">
              <a:solidFill>
                <a:srgbClr val="7030A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Rectangle 2"/>
              <p:cNvSpPr/>
              <p:nvPr/>
            </p:nvSpPr>
            <p:spPr>
              <a:xfrm>
                <a:off x="552091" y="1138517"/>
                <a:ext cx="11179834" cy="4893647"/>
              </a:xfrm>
              <a:prstGeom prst="rect">
                <a:avLst/>
              </a:prstGeom>
            </p:spPr>
            <p:txBody>
              <a:bodyPr wrap="square">
                <a:spAutoFit/>
              </a:bodyPr>
              <a:lstStyle/>
              <a:p>
                <a:r>
                  <a:rPr lang="en-US" sz="2400" dirty="0">
                    <a:latin typeface="Times New Roman" pitchFamily="18" charset="0"/>
                    <a:cs typeface="Times New Roman" pitchFamily="18" charset="0"/>
                  </a:rPr>
                  <a:t>The following points are observed from the vector diagram:</a:t>
                </a:r>
              </a:p>
              <a:p>
                <a:endParaRPr lang="en-US" sz="2400" dirty="0">
                  <a:latin typeface="Times New Roman" pitchFamily="18" charset="0"/>
                  <a:cs typeface="Times New Roman" pitchFamily="18" charset="0"/>
                </a:endParaRPr>
              </a:p>
              <a:p>
                <a:pPr marL="342900" indent="-342900">
                  <a:buFont typeface="Wingdings" pitchFamily="2" charset="2"/>
                  <a:buChar char="ü"/>
                </a:pPr>
                <a:r>
                  <a:rPr lang="en-US" sz="2400" dirty="0">
                    <a:solidFill>
                      <a:srgbClr val="FF0000"/>
                    </a:solidFill>
                    <a:latin typeface="Times New Roman" pitchFamily="18" charset="0"/>
                    <a:cs typeface="Times New Roman" pitchFamily="18" charset="0"/>
                  </a:rPr>
                  <a:t>Displacement lags the impressed force by an angle </a:t>
                </a:r>
                <a14:m>
                  <m:oMath xmlns:m="http://schemas.openxmlformats.org/officeDocument/2006/math">
                    <m:r>
                      <a:rPr lang="en-US" sz="2400" i="1" smtClean="0">
                        <a:solidFill>
                          <a:srgbClr val="FF0000"/>
                        </a:solidFill>
                        <a:latin typeface="Cambria Math"/>
                        <a:ea typeface="Cambria Math"/>
                        <a:cs typeface="Times New Roman" pitchFamily="18" charset="0"/>
                      </a:rPr>
                      <m:t>𝜑</m:t>
                    </m:r>
                  </m:oMath>
                </a14:m>
                <a:r>
                  <a:rPr lang="en-IN" sz="2400" dirty="0">
                    <a:solidFill>
                      <a:srgbClr val="FF0000"/>
                    </a:solidFill>
                    <a:latin typeface="Times New Roman" pitchFamily="18" charset="0"/>
                    <a:cs typeface="Times New Roman" pitchFamily="18" charset="0"/>
                  </a:rPr>
                  <a:t>.</a:t>
                </a:r>
              </a:p>
              <a:p>
                <a:pPr marL="342900" indent="-342900">
                  <a:buFont typeface="Wingdings" pitchFamily="2" charset="2"/>
                  <a:buChar char="ü"/>
                </a:pPr>
                <a:endParaRPr lang="en-US" sz="2400" dirty="0">
                  <a:solidFill>
                    <a:srgbClr val="FF0000"/>
                  </a:solidFill>
                  <a:latin typeface="Times New Roman" pitchFamily="18" charset="0"/>
                  <a:cs typeface="Times New Roman" pitchFamily="18" charset="0"/>
                </a:endParaRPr>
              </a:p>
              <a:p>
                <a:pPr marL="342900" indent="-342900">
                  <a:buFont typeface="Wingdings" pitchFamily="2" charset="2"/>
                  <a:buChar char="ü"/>
                </a:pPr>
                <a:r>
                  <a:rPr lang="en-US" sz="2400" dirty="0">
                    <a:solidFill>
                      <a:srgbClr val="00B050"/>
                    </a:solidFill>
                    <a:latin typeface="Times New Roman" pitchFamily="18" charset="0"/>
                    <a:cs typeface="Times New Roman" pitchFamily="18" charset="0"/>
                  </a:rPr>
                  <a:t>The spring force is always opposite in the direction of displacement.</a:t>
                </a:r>
              </a:p>
              <a:p>
                <a:pPr marL="342900" indent="-342900">
                  <a:buFont typeface="Wingdings" pitchFamily="2" charset="2"/>
                  <a:buChar char="ü"/>
                </a:pPr>
                <a:endParaRPr lang="en-US" sz="2400" dirty="0">
                  <a:solidFill>
                    <a:srgbClr val="00B050"/>
                  </a:solidFill>
                  <a:latin typeface="Times New Roman" pitchFamily="18" charset="0"/>
                  <a:cs typeface="Times New Roman" pitchFamily="18" charset="0"/>
                </a:endParaRPr>
              </a:p>
              <a:p>
                <a:pPr marL="342900" indent="-342900">
                  <a:buFont typeface="Wingdings" pitchFamily="2" charset="2"/>
                  <a:buChar char="ü"/>
                </a:pPr>
                <a:r>
                  <a:rPr lang="en-US" sz="2400" dirty="0">
                    <a:solidFill>
                      <a:srgbClr val="7030A0"/>
                    </a:solidFill>
                    <a:latin typeface="Times New Roman" pitchFamily="18" charset="0"/>
                    <a:cs typeface="Times New Roman" pitchFamily="18" charset="0"/>
                  </a:rPr>
                  <a:t>The damping force lags the displacement by </a:t>
                </a:r>
                <a14:m>
                  <m:oMath xmlns:m="http://schemas.openxmlformats.org/officeDocument/2006/math">
                    <m:sSup>
                      <m:sSupPr>
                        <m:ctrlPr>
                          <a:rPr lang="en-US" sz="2400" i="1" smtClean="0">
                            <a:solidFill>
                              <a:srgbClr val="7030A0"/>
                            </a:solidFill>
                            <a:latin typeface="Cambria Math" panose="02040503050406030204" pitchFamily="18" charset="0"/>
                            <a:cs typeface="Times New Roman" pitchFamily="18" charset="0"/>
                          </a:rPr>
                        </m:ctrlPr>
                      </m:sSupPr>
                      <m:e>
                        <m:r>
                          <a:rPr lang="en-US" sz="2400" b="0" i="1" smtClean="0">
                            <a:solidFill>
                              <a:srgbClr val="7030A0"/>
                            </a:solidFill>
                            <a:latin typeface="Cambria Math"/>
                            <a:cs typeface="Times New Roman" pitchFamily="18" charset="0"/>
                          </a:rPr>
                          <m:t>90</m:t>
                        </m:r>
                      </m:e>
                      <m:sup>
                        <m:r>
                          <a:rPr lang="en-US" sz="2400" b="0" i="1" smtClean="0">
                            <a:solidFill>
                              <a:srgbClr val="7030A0"/>
                            </a:solidFill>
                            <a:latin typeface="Cambria Math"/>
                            <a:cs typeface="Times New Roman" pitchFamily="18" charset="0"/>
                          </a:rPr>
                          <m:t>0</m:t>
                        </m:r>
                      </m:sup>
                    </m:sSup>
                    <m:r>
                      <a:rPr lang="en-US" sz="2400" b="0" i="1" smtClean="0">
                        <a:solidFill>
                          <a:srgbClr val="7030A0"/>
                        </a:solidFill>
                        <a:latin typeface="Cambria Math"/>
                        <a:cs typeface="Times New Roman" pitchFamily="18" charset="0"/>
                      </a:rPr>
                      <m:t>. </m:t>
                    </m:r>
                  </m:oMath>
                </a14:m>
                <a:r>
                  <a:rPr lang="en-US" sz="2400" dirty="0">
                    <a:solidFill>
                      <a:srgbClr val="7030A0"/>
                    </a:solidFill>
                    <a:latin typeface="Times New Roman" pitchFamily="18" charset="0"/>
                    <a:cs typeface="Times New Roman" pitchFamily="18" charset="0"/>
                  </a:rPr>
                  <a:t> Since the velocity leads the displacement by </a:t>
                </a:r>
                <a14:m>
                  <m:oMath xmlns:m="http://schemas.openxmlformats.org/officeDocument/2006/math">
                    <m:sSup>
                      <m:sSupPr>
                        <m:ctrlPr>
                          <a:rPr lang="en-US" sz="2400" i="1">
                            <a:solidFill>
                              <a:srgbClr val="7030A0"/>
                            </a:solidFill>
                            <a:latin typeface="Cambria Math" panose="02040503050406030204" pitchFamily="18" charset="0"/>
                            <a:cs typeface="Times New Roman" pitchFamily="18" charset="0"/>
                          </a:rPr>
                        </m:ctrlPr>
                      </m:sSupPr>
                      <m:e>
                        <m:r>
                          <a:rPr lang="en-US" sz="2400" i="1">
                            <a:solidFill>
                              <a:srgbClr val="7030A0"/>
                            </a:solidFill>
                            <a:latin typeface="Cambria Math"/>
                            <a:cs typeface="Times New Roman" pitchFamily="18" charset="0"/>
                          </a:rPr>
                          <m:t>90</m:t>
                        </m:r>
                      </m:e>
                      <m:sup>
                        <m:r>
                          <a:rPr lang="en-US" sz="2400" i="1">
                            <a:solidFill>
                              <a:srgbClr val="7030A0"/>
                            </a:solidFill>
                            <a:latin typeface="Cambria Math"/>
                            <a:cs typeface="Times New Roman" pitchFamily="18" charset="0"/>
                          </a:rPr>
                          <m:t>0</m:t>
                        </m:r>
                      </m:sup>
                    </m:sSup>
                  </m:oMath>
                </a14:m>
                <a:r>
                  <a:rPr lang="en-US" sz="2400" dirty="0">
                    <a:solidFill>
                      <a:srgbClr val="7030A0"/>
                    </a:solidFill>
                    <a:latin typeface="Times New Roman" pitchFamily="18" charset="0"/>
                    <a:cs typeface="Times New Roman" pitchFamily="18" charset="0"/>
                  </a:rPr>
                  <a:t>, it follows that damping force is always opposite in the direction of displacement. </a:t>
                </a:r>
              </a:p>
              <a:p>
                <a:pPr marL="342900" indent="-342900">
                  <a:buFont typeface="Wingdings" pitchFamily="2" charset="2"/>
                  <a:buChar char="ü"/>
                </a:pPr>
                <a:endParaRPr lang="en-US" sz="2400" dirty="0">
                  <a:solidFill>
                    <a:srgbClr val="7030A0"/>
                  </a:solidFill>
                  <a:latin typeface="Times New Roman" pitchFamily="18" charset="0"/>
                  <a:cs typeface="Times New Roman" pitchFamily="18" charset="0"/>
                </a:endParaRPr>
              </a:p>
              <a:p>
                <a:pPr marL="342900" indent="-342900">
                  <a:buFont typeface="Wingdings" pitchFamily="2" charset="2"/>
                  <a:buChar char="ü"/>
                </a:pPr>
                <a:r>
                  <a:rPr lang="en-US" sz="2400" dirty="0">
                    <a:solidFill>
                      <a:srgbClr val="00B0F0"/>
                    </a:solidFill>
                    <a:latin typeface="Times New Roman" pitchFamily="18" charset="0"/>
                    <a:cs typeface="Times New Roman" pitchFamily="18" charset="0"/>
                  </a:rPr>
                  <a:t>The inertia force is in phase with displacement. Since the acceleration is out of phase with displacement, therefore the inertia force is always opposite to the direction of displacement.  </a:t>
                </a:r>
                <a:endParaRPr lang="en-IN" sz="2400" dirty="0">
                  <a:solidFill>
                    <a:srgbClr val="00B0F0"/>
                  </a:solidFill>
                  <a:latin typeface="Times New Roman" pitchFamily="18" charset="0"/>
                  <a:cs typeface="Times New Roman"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552091" y="1138517"/>
                <a:ext cx="11179834" cy="4893647"/>
              </a:xfrm>
              <a:prstGeom prst="rect">
                <a:avLst/>
              </a:prstGeom>
              <a:blipFill rotWithShape="1">
                <a:blip r:embed="rId2"/>
                <a:stretch>
                  <a:fillRect l="-872" t="-996" b="-1868"/>
                </a:stretch>
              </a:blipFill>
            </p:spPr>
            <p:txBody>
              <a:bodyPr/>
              <a:lstStyle/>
              <a:p>
                <a:r>
                  <a:rPr lang="en-IN">
                    <a:noFill/>
                  </a:rPr>
                  <a:t> </a:t>
                </a:r>
              </a:p>
            </p:txBody>
          </p:sp>
        </mc:Fallback>
      </mc:AlternateContent>
    </p:spTree>
    <p:extLst>
      <p:ext uri="{BB962C8B-B14F-4D97-AF65-F5344CB8AC3E}">
        <p14:creationId xmlns:p14="http://schemas.microsoft.com/office/powerpoint/2010/main" val="3249580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Forced vibration with harmonic excitation (Solution)</a:t>
            </a:r>
            <a:endParaRPr lang="en-IN" sz="3600" dirty="0">
              <a:solidFill>
                <a:srgbClr val="7030A0"/>
              </a:solidFill>
              <a:latin typeface="Times New Roman" pitchFamily="18" charset="0"/>
              <a:cs typeface="Times New Roman" pitchFamily="18" charset="0"/>
            </a:endParaRPr>
          </a:p>
        </p:txBody>
      </p:sp>
      <p:cxnSp>
        <p:nvCxnSpPr>
          <p:cNvPr id="5" name="Straight Connector 4"/>
          <p:cNvCxnSpPr/>
          <p:nvPr/>
        </p:nvCxnSpPr>
        <p:spPr>
          <a:xfrm rot="-1380000">
            <a:off x="8859328" y="3039851"/>
            <a:ext cx="0" cy="1097280"/>
          </a:xfrm>
          <a:prstGeom prst="line">
            <a:avLst/>
          </a:prstGeom>
          <a:ln w="28575">
            <a:solidFill>
              <a:schemeClr val="tx1"/>
            </a:solidFill>
            <a:prstDash val="dash"/>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rot="4020000">
            <a:off x="9924774" y="1175939"/>
            <a:ext cx="0" cy="2743200"/>
          </a:xfrm>
          <a:prstGeom prst="line">
            <a:avLst/>
          </a:prstGeom>
          <a:ln w="28575">
            <a:solidFill>
              <a:schemeClr val="tx1"/>
            </a:solidFill>
            <a:prstDash val="solid"/>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9079924" y="2011612"/>
            <a:ext cx="2090162" cy="2110134"/>
          </a:xfrm>
          <a:prstGeom prst="line">
            <a:avLst/>
          </a:prstGeom>
          <a:ln w="28575">
            <a:solidFill>
              <a:schemeClr val="tx1"/>
            </a:solidFill>
            <a:prstDash val="solid"/>
            <a:headEnd type="stealth" w="lg" len="lg"/>
            <a:tailEnd type="none" w="lg" len="lg"/>
          </a:ln>
        </p:spPr>
        <p:style>
          <a:lnRef idx="1">
            <a:schemeClr val="accent1"/>
          </a:lnRef>
          <a:fillRef idx="0">
            <a:schemeClr val="accent1"/>
          </a:fillRef>
          <a:effectRef idx="0">
            <a:schemeClr val="accent1"/>
          </a:effectRef>
          <a:fontRef idx="minor">
            <a:schemeClr val="tx1"/>
          </a:fontRef>
        </p:style>
      </p:cxnSp>
      <p:sp>
        <p:nvSpPr>
          <p:cNvPr id="9" name="Arc 8"/>
          <p:cNvSpPr>
            <a:spLocks noChangeAspect="1"/>
          </p:cNvSpPr>
          <p:nvPr/>
        </p:nvSpPr>
        <p:spPr>
          <a:xfrm>
            <a:off x="9707297" y="954185"/>
            <a:ext cx="2286000" cy="2286000"/>
          </a:xfrm>
          <a:prstGeom prst="arc">
            <a:avLst>
              <a:gd name="adj1" fmla="val 7537506"/>
              <a:gd name="adj2" fmla="val 9422375"/>
            </a:avLst>
          </a:prstGeom>
          <a:ln w="19050">
            <a:solidFill>
              <a:schemeClr val="tx1"/>
            </a:solidFill>
            <a:headEnd type="stealth" w="lg" len="lg"/>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0" name="Rectangle 9"/>
              <p:cNvSpPr/>
              <p:nvPr/>
            </p:nvSpPr>
            <p:spPr>
              <a:xfrm>
                <a:off x="10300210" y="2691353"/>
                <a:ext cx="5500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a:cs typeface="Times New Roman" panose="02020603050405020304" pitchFamily="18" charset="0"/>
                            </a:rPr>
                            <m:t>𝐹</m:t>
                          </m:r>
                        </m:e>
                        <m:sub>
                          <m:r>
                            <a:rPr lang="en-US" sz="2400" i="1">
                              <a:latin typeface="Cambria Math"/>
                              <a:cs typeface="Times New Roman" panose="02020603050405020304" pitchFamily="18" charset="0"/>
                            </a:rPr>
                            <m:t>0</m:t>
                          </m:r>
                        </m:sub>
                      </m:sSub>
                    </m:oMath>
                  </m:oMathPara>
                </a14:m>
                <a:endParaRPr lang="en-IN" sz="2400" dirty="0"/>
              </a:p>
            </p:txBody>
          </p:sp>
        </mc:Choice>
        <mc:Fallback xmlns="">
          <p:sp>
            <p:nvSpPr>
              <p:cNvPr id="10" name="Rectangle 9"/>
              <p:cNvSpPr>
                <a:spLocks noRot="1" noChangeAspect="1" noMove="1" noResize="1" noEditPoints="1" noAdjustHandles="1" noChangeArrowheads="1" noChangeShapeType="1" noTextEdit="1"/>
              </p:cNvSpPr>
              <p:nvPr/>
            </p:nvSpPr>
            <p:spPr>
              <a:xfrm>
                <a:off x="10300210" y="2691353"/>
                <a:ext cx="550087" cy="461665"/>
              </a:xfrm>
              <a:prstGeom prst="rect">
                <a:avLst/>
              </a:prstGeom>
              <a:blipFill rotWithShape="1">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8536386" y="1963657"/>
                <a:ext cx="18825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cs typeface="Times New Roman" panose="02020603050405020304" pitchFamily="18" charset="0"/>
                        </a:rPr>
                        <m:t>𝐾𝑋</m:t>
                      </m:r>
                      <m:r>
                        <a:rPr lang="en-US" sz="2400" b="0" i="1" smtClean="0">
                          <a:latin typeface="Cambria Math"/>
                          <a:cs typeface="Times New Roman" panose="02020603050405020304" pitchFamily="18" charset="0"/>
                        </a:rPr>
                        <m:t>−</m:t>
                      </m:r>
                      <m:r>
                        <a:rPr lang="en-US" sz="2400" i="1">
                          <a:latin typeface="Cambria Math"/>
                          <a:cs typeface="Times New Roman" panose="02020603050405020304" pitchFamily="18" charset="0"/>
                        </a:rPr>
                        <m:t>𝑚</m:t>
                      </m:r>
                      <m:sSup>
                        <m:sSupPr>
                          <m:ctrlPr>
                            <a:rPr lang="en-US" sz="2400" i="1">
                              <a:solidFill>
                                <a:srgbClr val="FF0000"/>
                              </a:solidFill>
                              <a:latin typeface="Cambria Math" panose="02040503050406030204" pitchFamily="18" charset="0"/>
                              <a:cs typeface="Times New Roman" pitchFamily="18" charset="0"/>
                            </a:rPr>
                          </m:ctrlPr>
                        </m:sSupPr>
                        <m:e>
                          <m:r>
                            <a:rPr lang="en-US" sz="2400" i="1">
                              <a:solidFill>
                                <a:srgbClr val="FF0000"/>
                              </a:solidFill>
                              <a:latin typeface="Cambria Math"/>
                              <a:ea typeface="Cambria Math"/>
                              <a:cs typeface="Times New Roman" pitchFamily="18" charset="0"/>
                            </a:rPr>
                            <m:t>𝜔</m:t>
                          </m:r>
                        </m:e>
                        <m:sup>
                          <m:r>
                            <a:rPr lang="en-US" sz="2400" i="1">
                              <a:solidFill>
                                <a:srgbClr val="FF0000"/>
                              </a:solidFill>
                              <a:latin typeface="Cambria Math"/>
                              <a:cs typeface="Times New Roman" pitchFamily="18" charset="0"/>
                            </a:rPr>
                            <m:t>2</m:t>
                          </m:r>
                        </m:sup>
                      </m:sSup>
                      <m:r>
                        <a:rPr lang="en-US" sz="2400" i="1">
                          <a:solidFill>
                            <a:srgbClr val="FF0000"/>
                          </a:solidFill>
                          <a:latin typeface="Cambria Math"/>
                          <a:cs typeface="Times New Roman" pitchFamily="18" charset="0"/>
                        </a:rPr>
                        <m:t>𝑋</m:t>
                      </m:r>
                    </m:oMath>
                  </m:oMathPara>
                </a14:m>
                <a:endParaRPr lang="en-IN" sz="2400" dirty="0"/>
              </a:p>
            </p:txBody>
          </p:sp>
        </mc:Choice>
        <mc:Fallback xmlns="">
          <p:sp>
            <p:nvSpPr>
              <p:cNvPr id="11" name="Rectangle 10"/>
              <p:cNvSpPr>
                <a:spLocks noRot="1" noChangeAspect="1" noMove="1" noResize="1" noEditPoints="1" noAdjustHandles="1" noChangeArrowheads="1" noChangeShapeType="1" noTextEdit="1"/>
              </p:cNvSpPr>
              <p:nvPr/>
            </p:nvSpPr>
            <p:spPr>
              <a:xfrm>
                <a:off x="8536386" y="1963657"/>
                <a:ext cx="1882503" cy="461665"/>
              </a:xfrm>
              <a:prstGeom prst="rect">
                <a:avLst/>
              </a:prstGeom>
              <a:blipFill rotWithShape="1">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9226158" y="3890913"/>
                <a:ext cx="4694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𝑂</m:t>
                      </m:r>
                    </m:oMath>
                  </m:oMathPara>
                </a14:m>
                <a:endParaRPr lang="en-IN" sz="2400" dirty="0"/>
              </a:p>
            </p:txBody>
          </p:sp>
        </mc:Choice>
        <mc:Fallback xmlns="">
          <p:sp>
            <p:nvSpPr>
              <p:cNvPr id="12" name="Rectangle 11"/>
              <p:cNvSpPr>
                <a:spLocks noRot="1" noChangeAspect="1" noMove="1" noResize="1" noEditPoints="1" noAdjustHandles="1" noChangeArrowheads="1" noChangeShapeType="1" noTextEdit="1"/>
              </p:cNvSpPr>
              <p:nvPr/>
            </p:nvSpPr>
            <p:spPr>
              <a:xfrm>
                <a:off x="9226158" y="3890913"/>
                <a:ext cx="469487" cy="461665"/>
              </a:xfrm>
              <a:prstGeom prst="rect">
                <a:avLst/>
              </a:prstGeom>
              <a:blipFill rotWithShape="1">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8176622" y="2744385"/>
                <a:ext cx="4694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𝐵</m:t>
                      </m:r>
                    </m:oMath>
                  </m:oMathPara>
                </a14:m>
                <a:endParaRPr lang="en-IN" sz="2400" dirty="0"/>
              </a:p>
            </p:txBody>
          </p:sp>
        </mc:Choice>
        <mc:Fallback xmlns="">
          <p:sp>
            <p:nvSpPr>
              <p:cNvPr id="13" name="Rectangle 12"/>
              <p:cNvSpPr>
                <a:spLocks noRot="1" noChangeAspect="1" noMove="1" noResize="1" noEditPoints="1" noAdjustHandles="1" noChangeArrowheads="1" noChangeShapeType="1" noTextEdit="1"/>
              </p:cNvSpPr>
              <p:nvPr/>
            </p:nvSpPr>
            <p:spPr>
              <a:xfrm>
                <a:off x="8176622" y="2744385"/>
                <a:ext cx="469487" cy="461665"/>
              </a:xfrm>
              <a:prstGeom prst="rect">
                <a:avLst/>
              </a:prstGeom>
              <a:blipFill rotWithShape="1">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1170086" y="1641702"/>
                <a:ext cx="4694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𝐴</m:t>
                      </m:r>
                    </m:oMath>
                  </m:oMathPara>
                </a14:m>
                <a:endParaRPr lang="en-IN" sz="2400" dirty="0"/>
              </a:p>
            </p:txBody>
          </p:sp>
        </mc:Choice>
        <mc:Fallback xmlns="">
          <p:sp>
            <p:nvSpPr>
              <p:cNvPr id="14" name="Rectangle 13"/>
              <p:cNvSpPr>
                <a:spLocks noRot="1" noChangeAspect="1" noMove="1" noResize="1" noEditPoints="1" noAdjustHandles="1" noChangeArrowheads="1" noChangeShapeType="1" noTextEdit="1"/>
              </p:cNvSpPr>
              <p:nvPr/>
            </p:nvSpPr>
            <p:spPr>
              <a:xfrm>
                <a:off x="11170086" y="1641702"/>
                <a:ext cx="469487" cy="461665"/>
              </a:xfrm>
              <a:prstGeom prst="rect">
                <a:avLst/>
              </a:prstGeom>
              <a:blipFill rotWithShape="1">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9547167" y="2704215"/>
                <a:ext cx="46859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a:ea typeface="Cambria Math"/>
                          <a:cs typeface="Times New Roman" pitchFamily="18" charset="0"/>
                        </a:rPr>
                        <m:t>𝜑</m:t>
                      </m:r>
                    </m:oMath>
                  </m:oMathPara>
                </a14:m>
                <a:endParaRPr lang="en-IN" sz="2400" dirty="0"/>
              </a:p>
            </p:txBody>
          </p:sp>
        </mc:Choice>
        <mc:Fallback xmlns="">
          <p:sp>
            <p:nvSpPr>
              <p:cNvPr id="15" name="Rectangle 14"/>
              <p:cNvSpPr>
                <a:spLocks noRot="1" noChangeAspect="1" noMove="1" noResize="1" noEditPoints="1" noAdjustHandles="1" noChangeArrowheads="1" noChangeShapeType="1" noTextEdit="1"/>
              </p:cNvSpPr>
              <p:nvPr/>
            </p:nvSpPr>
            <p:spPr>
              <a:xfrm>
                <a:off x="9547167" y="2704215"/>
                <a:ext cx="468590" cy="461665"/>
              </a:xfrm>
              <a:prstGeom prst="rect">
                <a:avLst/>
              </a:prstGeom>
              <a:blipFill rotWithShape="1">
                <a:blip r:embed="rId7"/>
                <a:stretch>
                  <a:fillRect b="-10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7900287" y="3639952"/>
                <a:ext cx="94109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a:cs typeface="Times New Roman" panose="02020603050405020304" pitchFamily="18" charset="0"/>
                        </a:rPr>
                        <m:t>𝐶</m:t>
                      </m:r>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 </m:t>
                      </m:r>
                      <m:r>
                        <a:rPr lang="en-US" sz="2400" i="1">
                          <a:solidFill>
                            <a:srgbClr val="FF0000"/>
                          </a:solidFill>
                          <a:latin typeface="Cambria Math"/>
                          <a:cs typeface="Times New Roman" pitchFamily="18" charset="0"/>
                        </a:rPr>
                        <m:t>𝑋</m:t>
                      </m:r>
                    </m:oMath>
                  </m:oMathPara>
                </a14:m>
                <a:endParaRPr lang="en-IN" sz="2400" dirty="0"/>
              </a:p>
            </p:txBody>
          </p:sp>
        </mc:Choice>
        <mc:Fallback xmlns="">
          <p:sp>
            <p:nvSpPr>
              <p:cNvPr id="16" name="Rectangle 15"/>
              <p:cNvSpPr>
                <a:spLocks noRot="1" noChangeAspect="1" noMove="1" noResize="1" noEditPoints="1" noAdjustHandles="1" noChangeArrowheads="1" noChangeShapeType="1" noTextEdit="1"/>
              </p:cNvSpPr>
              <p:nvPr/>
            </p:nvSpPr>
            <p:spPr>
              <a:xfrm>
                <a:off x="7900287" y="3639952"/>
                <a:ext cx="941091" cy="461665"/>
              </a:xfrm>
              <a:prstGeom prst="rect">
                <a:avLst/>
              </a:prstGeom>
              <a:blipFill rotWithShape="1">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223328" y="1138517"/>
                <a:ext cx="11416245" cy="461665"/>
              </a:xfrm>
              <a:prstGeom prst="rect">
                <a:avLst/>
              </a:prstGeom>
            </p:spPr>
            <p:txBody>
              <a:bodyPr wrap="square">
                <a:spAutoFit/>
              </a:bodyPr>
              <a:lstStyle/>
              <a:p>
                <a:r>
                  <a:rPr lang="en-US" sz="2400" dirty="0">
                    <a:latin typeface="Times New Roman" pitchFamily="18" charset="0"/>
                    <a:cs typeface="Times New Roman" pitchFamily="18" charset="0"/>
                  </a:rPr>
                  <a:t>To find the values of  </a:t>
                </a:r>
                <a14:m>
                  <m:oMath xmlns:m="http://schemas.openxmlformats.org/officeDocument/2006/math">
                    <m:r>
                      <a:rPr lang="en-US" sz="2400" i="1">
                        <a:solidFill>
                          <a:srgbClr val="FF0000"/>
                        </a:solidFill>
                        <a:latin typeface="Cambria Math"/>
                        <a:cs typeface="Times New Roman" pitchFamily="18" charset="0"/>
                      </a:rPr>
                      <m:t>𝑋</m:t>
                    </m:r>
                  </m:oMath>
                </a14:m>
                <a:r>
                  <a:rPr lang="en-IN" sz="2400" dirty="0"/>
                  <a:t> </a:t>
                </a:r>
                <a:r>
                  <a:rPr lang="en-US" sz="2400" dirty="0">
                    <a:latin typeface="Times New Roman" pitchFamily="18" charset="0"/>
                    <a:cs typeface="Times New Roman" pitchFamily="18" charset="0"/>
                  </a:rPr>
                  <a:t>and </a:t>
                </a:r>
                <a14:m>
                  <m:oMath xmlns:m="http://schemas.openxmlformats.org/officeDocument/2006/math">
                    <m:r>
                      <a:rPr lang="en-US" sz="2400" i="1">
                        <a:solidFill>
                          <a:srgbClr val="FF0000"/>
                        </a:solidFill>
                        <a:latin typeface="Cambria Math"/>
                        <a:ea typeface="Cambria Math"/>
                        <a:cs typeface="Times New Roman" pitchFamily="18" charset="0"/>
                      </a:rPr>
                      <m:t>𝜑</m:t>
                    </m:r>
                  </m:oMath>
                </a14:m>
                <a:r>
                  <a:rPr lang="en-IN" sz="2400" dirty="0"/>
                  <a:t> </a:t>
                </a:r>
                <a:r>
                  <a:rPr lang="en-US" sz="2400" dirty="0">
                    <a:latin typeface="Times New Roman" pitchFamily="18" charset="0"/>
                    <a:cs typeface="Times New Roman" pitchFamily="18" charset="0"/>
                  </a:rPr>
                  <a:t>consider the right angle triangle </a:t>
                </a:r>
                <a14:m>
                  <m:oMath xmlns:m="http://schemas.openxmlformats.org/officeDocument/2006/math">
                    <m:r>
                      <a:rPr lang="en-US" sz="2400" b="0" i="1" smtClean="0">
                        <a:latin typeface="Cambria Math"/>
                        <a:cs typeface="Times New Roman" pitchFamily="18" charset="0"/>
                      </a:rPr>
                      <m:t>𝑂𝐴𝐵</m:t>
                    </m:r>
                    <m:r>
                      <a:rPr lang="en-US" sz="2400" b="0" i="0" smtClean="0">
                        <a:latin typeface="Cambria Math"/>
                        <a:cs typeface="Times New Roman" pitchFamily="18" charset="0"/>
                      </a:rPr>
                      <m:t>,</m:t>
                    </m:r>
                  </m:oMath>
                </a14:m>
                <a:r>
                  <a:rPr lang="en-US" sz="2400" dirty="0">
                    <a:latin typeface="Times New Roman" pitchFamily="18" charset="0"/>
                    <a:cs typeface="Times New Roman" pitchFamily="18" charset="0"/>
                  </a:rPr>
                  <a:t> from which:</a:t>
                </a:r>
              </a:p>
            </p:txBody>
          </p:sp>
        </mc:Choice>
        <mc:Fallback xmlns="">
          <p:sp>
            <p:nvSpPr>
              <p:cNvPr id="17" name="Rectangle 16"/>
              <p:cNvSpPr>
                <a:spLocks noRot="1" noChangeAspect="1" noMove="1" noResize="1" noEditPoints="1" noAdjustHandles="1" noChangeArrowheads="1" noChangeShapeType="1" noTextEdit="1"/>
              </p:cNvSpPr>
              <p:nvPr/>
            </p:nvSpPr>
            <p:spPr>
              <a:xfrm>
                <a:off x="223328" y="1138517"/>
                <a:ext cx="11416245" cy="461665"/>
              </a:xfrm>
              <a:prstGeom prst="rect">
                <a:avLst/>
              </a:prstGeom>
              <a:blipFill rotWithShape="1">
                <a:blip r:embed="rId9"/>
                <a:stretch>
                  <a:fillRect l="-855" t="-12000" b="-29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223328" y="2011612"/>
                <a:ext cx="7505940" cy="2016899"/>
              </a:xfrm>
              <a:prstGeom prst="rect">
                <a:avLst/>
              </a:prstGeom>
            </p:spPr>
            <p:txBody>
              <a:bodyPr wrap="square">
                <a:spAutoFit/>
              </a:bodyPr>
              <a:lstStyle/>
              <a:p>
                <a:r>
                  <a:rPr lang="en-US" sz="2400" dirty="0">
                    <a:latin typeface="Times New Roman" pitchFamily="18" charset="0"/>
                    <a:cs typeface="Times New Roman" pitchFamily="18" charset="0"/>
                  </a:rPr>
                  <a:t>  </a:t>
                </a:r>
                <a14:m>
                  <m:oMath xmlns:m="http://schemas.openxmlformats.org/officeDocument/2006/math">
                    <m:r>
                      <a:rPr lang="en-US" sz="2400" i="1">
                        <a:solidFill>
                          <a:srgbClr val="FF0000"/>
                        </a:solidFill>
                        <a:latin typeface="Cambria Math"/>
                        <a:cs typeface="Times New Roman" pitchFamily="18" charset="0"/>
                      </a:rPr>
                      <m:t>𝑋</m:t>
                    </m:r>
                    <m:r>
                      <a:rPr lang="en-US" sz="2400" b="0" i="1" smtClean="0">
                        <a:solidFill>
                          <a:srgbClr val="FF0000"/>
                        </a:solidFill>
                        <a:latin typeface="Cambria Math"/>
                        <a:cs typeface="Times New Roman" pitchFamily="18" charset="0"/>
                      </a:rPr>
                      <m:t>=</m:t>
                    </m:r>
                    <m:f>
                      <m:fPr>
                        <m:type m:val="lin"/>
                        <m:ctrlPr>
                          <a:rPr lang="en-US" sz="2400" b="0" i="1" smtClean="0">
                            <a:solidFill>
                              <a:srgbClr val="FF0000"/>
                            </a:solidFill>
                            <a:latin typeface="Cambria Math" panose="02040503050406030204" pitchFamily="18" charset="0"/>
                            <a:cs typeface="Times New Roman" pitchFamily="18" charset="0"/>
                          </a:rPr>
                        </m:ctrlPr>
                      </m:fPr>
                      <m:num>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a:cs typeface="Times New Roman" panose="02020603050405020304" pitchFamily="18" charset="0"/>
                              </a:rPr>
                              <m:t>𝐹</m:t>
                            </m:r>
                          </m:e>
                          <m:sub>
                            <m:r>
                              <a:rPr lang="en-US" sz="2400" i="1">
                                <a:latin typeface="Cambria Math"/>
                                <a:cs typeface="Times New Roman" panose="02020603050405020304" pitchFamily="18" charset="0"/>
                              </a:rPr>
                              <m:t>0</m:t>
                            </m:r>
                          </m:sub>
                        </m:sSub>
                      </m:num>
                      <m:den>
                        <m:rad>
                          <m:radPr>
                            <m:degHide m:val="on"/>
                            <m:ctrlPr>
                              <a:rPr lang="en-US" sz="2400" b="0" i="1" smtClean="0">
                                <a:solidFill>
                                  <a:srgbClr val="FF0000"/>
                                </a:solidFill>
                                <a:latin typeface="Cambria Math" panose="02040503050406030204" pitchFamily="18" charset="0"/>
                                <a:cs typeface="Times New Roman" pitchFamily="18" charset="0"/>
                              </a:rPr>
                            </m:ctrlPr>
                          </m:radPr>
                          <m:deg/>
                          <m:e>
                            <m:sSup>
                              <m:sSupPr>
                                <m:ctrlPr>
                                  <a:rPr lang="en-US" sz="2400" b="0" i="1" smtClean="0">
                                    <a:solidFill>
                                      <a:srgbClr val="FF0000"/>
                                    </a:solidFill>
                                    <a:latin typeface="Cambria Math" panose="02040503050406030204" pitchFamily="18" charset="0"/>
                                    <a:cs typeface="Times New Roman" pitchFamily="18" charset="0"/>
                                  </a:rPr>
                                </m:ctrlPr>
                              </m:sSupPr>
                              <m:e>
                                <m:d>
                                  <m:dPr>
                                    <m:ctrlPr>
                                      <a:rPr lang="en-US" sz="2400" b="0" i="1" smtClean="0">
                                        <a:solidFill>
                                          <a:srgbClr val="FF0000"/>
                                        </a:solidFill>
                                        <a:latin typeface="Cambria Math" panose="02040503050406030204" pitchFamily="18" charset="0"/>
                                        <a:cs typeface="Times New Roman" pitchFamily="18" charset="0"/>
                                      </a:rPr>
                                    </m:ctrlPr>
                                  </m:dPr>
                                  <m:e>
                                    <m:r>
                                      <a:rPr lang="en-US" sz="2400" i="1">
                                        <a:latin typeface="Cambria Math"/>
                                        <a:cs typeface="Times New Roman" panose="02020603050405020304" pitchFamily="18" charset="0"/>
                                      </a:rPr>
                                      <m:t>𝐾</m:t>
                                    </m:r>
                                    <m:r>
                                      <a:rPr lang="en-US" sz="2400" i="1">
                                        <a:latin typeface="Cambria Math"/>
                                        <a:cs typeface="Times New Roman" panose="02020603050405020304" pitchFamily="18" charset="0"/>
                                      </a:rPr>
                                      <m:t>−</m:t>
                                    </m:r>
                                    <m:r>
                                      <a:rPr lang="en-US" sz="2400" i="1">
                                        <a:latin typeface="Cambria Math"/>
                                        <a:cs typeface="Times New Roman" panose="02020603050405020304" pitchFamily="18" charset="0"/>
                                      </a:rPr>
                                      <m:t>𝑚</m:t>
                                    </m:r>
                                    <m:sSup>
                                      <m:sSupPr>
                                        <m:ctrlPr>
                                          <a:rPr lang="en-US" sz="2400" i="1">
                                            <a:solidFill>
                                              <a:srgbClr val="FF0000"/>
                                            </a:solidFill>
                                            <a:latin typeface="Cambria Math" panose="02040503050406030204" pitchFamily="18" charset="0"/>
                                            <a:cs typeface="Times New Roman" pitchFamily="18" charset="0"/>
                                          </a:rPr>
                                        </m:ctrlPr>
                                      </m:sSupPr>
                                      <m:e>
                                        <m:r>
                                          <a:rPr lang="en-US" sz="2400" i="1">
                                            <a:solidFill>
                                              <a:srgbClr val="FF0000"/>
                                            </a:solidFill>
                                            <a:latin typeface="Cambria Math"/>
                                            <a:ea typeface="Cambria Math"/>
                                            <a:cs typeface="Times New Roman" pitchFamily="18" charset="0"/>
                                          </a:rPr>
                                          <m:t>𝜔</m:t>
                                        </m:r>
                                      </m:e>
                                      <m:sup>
                                        <m:r>
                                          <a:rPr lang="en-US" sz="2400" i="1">
                                            <a:solidFill>
                                              <a:srgbClr val="FF0000"/>
                                            </a:solidFill>
                                            <a:latin typeface="Cambria Math"/>
                                            <a:cs typeface="Times New Roman" pitchFamily="18" charset="0"/>
                                          </a:rPr>
                                          <m:t>2</m:t>
                                        </m:r>
                                      </m:sup>
                                    </m:sSup>
                                  </m:e>
                                </m:d>
                              </m:e>
                              <m:sup>
                                <m:r>
                                  <a:rPr lang="en-US" sz="2400" b="0" i="1" smtClean="0">
                                    <a:solidFill>
                                      <a:srgbClr val="FF0000"/>
                                    </a:solidFill>
                                    <a:latin typeface="Cambria Math"/>
                                    <a:cs typeface="Times New Roman" pitchFamily="18" charset="0"/>
                                  </a:rPr>
                                  <m:t>2</m:t>
                                </m:r>
                              </m:sup>
                            </m:sSup>
                            <m:r>
                              <a:rPr lang="en-US" sz="2400" b="0" i="1" smtClean="0">
                                <a:solidFill>
                                  <a:srgbClr val="FF0000"/>
                                </a:solidFill>
                                <a:latin typeface="Cambria Math"/>
                                <a:cs typeface="Times New Roman" pitchFamily="18" charset="0"/>
                              </a:rPr>
                              <m:t>+</m:t>
                            </m:r>
                            <m:sSup>
                              <m:sSupPr>
                                <m:ctrlPr>
                                  <a:rPr lang="en-US" sz="2400" b="0" i="1" smtClean="0">
                                    <a:solidFill>
                                      <a:srgbClr val="FF0000"/>
                                    </a:solidFill>
                                    <a:latin typeface="Cambria Math" panose="02040503050406030204" pitchFamily="18" charset="0"/>
                                    <a:cs typeface="Times New Roman" pitchFamily="18" charset="0"/>
                                  </a:rPr>
                                </m:ctrlPr>
                              </m:sSupPr>
                              <m:e>
                                <m:d>
                                  <m:dPr>
                                    <m:ctrlPr>
                                      <a:rPr lang="en-US" sz="2400" b="0" i="1" smtClean="0">
                                        <a:solidFill>
                                          <a:srgbClr val="FF0000"/>
                                        </a:solidFill>
                                        <a:latin typeface="Cambria Math" panose="02040503050406030204" pitchFamily="18" charset="0"/>
                                        <a:cs typeface="Times New Roman" pitchFamily="18" charset="0"/>
                                      </a:rPr>
                                    </m:ctrlPr>
                                  </m:dPr>
                                  <m:e>
                                    <m:r>
                                      <a:rPr lang="en-US" sz="2400" i="1">
                                        <a:latin typeface="Cambria Math"/>
                                        <a:cs typeface="Times New Roman" panose="02020603050405020304" pitchFamily="18" charset="0"/>
                                      </a:rPr>
                                      <m:t>𝐶</m:t>
                                    </m:r>
                                    <m:r>
                                      <a:rPr lang="en-US" sz="2400" i="1">
                                        <a:solidFill>
                                          <a:srgbClr val="FF0000"/>
                                        </a:solidFill>
                                        <a:latin typeface="Cambria Math"/>
                                        <a:ea typeface="Cambria Math"/>
                                        <a:cs typeface="Times New Roman" pitchFamily="18" charset="0"/>
                                      </a:rPr>
                                      <m:t>𝜔</m:t>
                                    </m:r>
                                  </m:e>
                                </m:d>
                              </m:e>
                              <m:sup>
                                <m:r>
                                  <a:rPr lang="en-US" sz="2400" b="0" i="1" smtClean="0">
                                    <a:solidFill>
                                      <a:srgbClr val="FF0000"/>
                                    </a:solidFill>
                                    <a:latin typeface="Cambria Math"/>
                                    <a:cs typeface="Times New Roman" pitchFamily="18" charset="0"/>
                                  </a:rPr>
                                  <m:t>2</m:t>
                                </m:r>
                              </m:sup>
                            </m:sSup>
                          </m:e>
                        </m:rad>
                      </m:den>
                    </m:f>
                  </m:oMath>
                </a14:m>
                <a:r>
                  <a:rPr lang="en-IN" sz="2400" dirty="0"/>
                  <a:t> </a:t>
                </a:r>
              </a:p>
              <a:p>
                <a:r>
                  <a:rPr lang="en-US" sz="2400" dirty="0">
                    <a:latin typeface="Times New Roman" pitchFamily="18" charset="0"/>
                    <a:cs typeface="Times New Roman" pitchFamily="18" charset="0"/>
                  </a:rPr>
                  <a:t>and </a:t>
                </a:r>
                <a14:m>
                  <m:oMath xmlns:m="http://schemas.openxmlformats.org/officeDocument/2006/math">
                    <m:r>
                      <a:rPr lang="en-US" sz="2400" i="1">
                        <a:solidFill>
                          <a:srgbClr val="FF0000"/>
                        </a:solidFill>
                        <a:latin typeface="Cambria Math"/>
                        <a:ea typeface="Cambria Math"/>
                        <a:cs typeface="Times New Roman" pitchFamily="18" charset="0"/>
                      </a:rPr>
                      <m:t>𝜑</m:t>
                    </m:r>
                    <m:r>
                      <a:rPr lang="en-US" sz="2400" b="0" i="1" smtClean="0">
                        <a:solidFill>
                          <a:srgbClr val="FF0000"/>
                        </a:solidFill>
                        <a:latin typeface="Cambria Math"/>
                        <a:ea typeface="Cambria Math"/>
                        <a:cs typeface="Times New Roman" pitchFamily="18" charset="0"/>
                      </a:rPr>
                      <m:t>=</m:t>
                    </m:r>
                  </m:oMath>
                </a14:m>
                <a:r>
                  <a:rPr lang="en-IN" sz="2400" dirty="0"/>
                  <a:t> </a:t>
                </a:r>
                <a14:m>
                  <m:oMath xmlns:m="http://schemas.openxmlformats.org/officeDocument/2006/math">
                    <m:func>
                      <m:funcPr>
                        <m:ctrlPr>
                          <a:rPr lang="en-IN" sz="2400" i="1" dirty="0" smtClean="0">
                            <a:latin typeface="Cambria Math" panose="02040503050406030204" pitchFamily="18" charset="0"/>
                          </a:rPr>
                        </m:ctrlPr>
                      </m:funcPr>
                      <m:fName>
                        <m:sSup>
                          <m:sSupPr>
                            <m:ctrlPr>
                              <a:rPr lang="en-IN" sz="2400" i="1" dirty="0" smtClean="0">
                                <a:latin typeface="Cambria Math" panose="02040503050406030204" pitchFamily="18" charset="0"/>
                              </a:rPr>
                            </m:ctrlPr>
                          </m:sSupPr>
                          <m:e>
                            <m:r>
                              <m:rPr>
                                <m:sty m:val="p"/>
                              </m:rPr>
                              <a:rPr lang="en-IN" sz="2400" i="0" dirty="0" smtClean="0">
                                <a:latin typeface="Cambria Math"/>
                              </a:rPr>
                              <m:t>tan</m:t>
                            </m:r>
                          </m:e>
                          <m:sup>
                            <m:r>
                              <a:rPr lang="en-IN" sz="2400" i="1" dirty="0" smtClean="0">
                                <a:latin typeface="Cambria Math"/>
                              </a:rPr>
                              <m:t>−1</m:t>
                            </m:r>
                          </m:sup>
                        </m:sSup>
                      </m:fName>
                      <m:e>
                        <m:d>
                          <m:dPr>
                            <m:begChr m:val="["/>
                            <m:endChr m:val="]"/>
                            <m:ctrlPr>
                              <a:rPr lang="en-IN" sz="2400" i="1" dirty="0" smtClean="0">
                                <a:latin typeface="Cambria Math" panose="02040503050406030204" pitchFamily="18" charset="0"/>
                              </a:rPr>
                            </m:ctrlPr>
                          </m:dPr>
                          <m:e>
                            <m:f>
                              <m:fPr>
                                <m:type m:val="lin"/>
                                <m:ctrlPr>
                                  <a:rPr lang="en-IN" sz="2400" i="1" dirty="0" smtClean="0">
                                    <a:latin typeface="Cambria Math" panose="02040503050406030204" pitchFamily="18" charset="0"/>
                                  </a:rPr>
                                </m:ctrlPr>
                              </m:fPr>
                              <m:num>
                                <m:r>
                                  <a:rPr lang="en-US" sz="2400" i="1">
                                    <a:latin typeface="Cambria Math"/>
                                    <a:cs typeface="Times New Roman" panose="02020603050405020304" pitchFamily="18" charset="0"/>
                                  </a:rPr>
                                  <m:t>𝐶</m:t>
                                </m:r>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 </m:t>
                                </m:r>
                              </m:num>
                              <m:den>
                                <m:d>
                                  <m:dPr>
                                    <m:ctrlPr>
                                      <a:rPr lang="en-IN" sz="2400" i="1" dirty="0" smtClean="0">
                                        <a:latin typeface="Cambria Math" panose="02040503050406030204" pitchFamily="18" charset="0"/>
                                      </a:rPr>
                                    </m:ctrlPr>
                                  </m:dPr>
                                  <m:e>
                                    <m:r>
                                      <a:rPr lang="en-US" sz="2400" i="1">
                                        <a:latin typeface="Cambria Math"/>
                                        <a:cs typeface="Times New Roman" panose="02020603050405020304" pitchFamily="18" charset="0"/>
                                      </a:rPr>
                                      <m:t>𝐾</m:t>
                                    </m:r>
                                    <m:r>
                                      <a:rPr lang="en-US" sz="2400" i="1">
                                        <a:latin typeface="Cambria Math"/>
                                        <a:cs typeface="Times New Roman" panose="02020603050405020304" pitchFamily="18" charset="0"/>
                                      </a:rPr>
                                      <m:t>−</m:t>
                                    </m:r>
                                    <m:r>
                                      <a:rPr lang="en-US" sz="2400" i="1">
                                        <a:latin typeface="Cambria Math"/>
                                        <a:cs typeface="Times New Roman" panose="02020603050405020304" pitchFamily="18" charset="0"/>
                                      </a:rPr>
                                      <m:t>𝑚</m:t>
                                    </m:r>
                                    <m:sSup>
                                      <m:sSupPr>
                                        <m:ctrlPr>
                                          <a:rPr lang="en-US" sz="2400" i="1">
                                            <a:solidFill>
                                              <a:srgbClr val="FF0000"/>
                                            </a:solidFill>
                                            <a:latin typeface="Cambria Math" panose="02040503050406030204" pitchFamily="18" charset="0"/>
                                            <a:cs typeface="Times New Roman" pitchFamily="18" charset="0"/>
                                          </a:rPr>
                                        </m:ctrlPr>
                                      </m:sSupPr>
                                      <m:e>
                                        <m:r>
                                          <a:rPr lang="en-US" sz="2400" i="1">
                                            <a:solidFill>
                                              <a:srgbClr val="FF0000"/>
                                            </a:solidFill>
                                            <a:latin typeface="Cambria Math"/>
                                            <a:ea typeface="Cambria Math"/>
                                            <a:cs typeface="Times New Roman" pitchFamily="18" charset="0"/>
                                          </a:rPr>
                                          <m:t>𝜔</m:t>
                                        </m:r>
                                      </m:e>
                                      <m:sup>
                                        <m:r>
                                          <a:rPr lang="en-US" sz="2400" i="1">
                                            <a:solidFill>
                                              <a:srgbClr val="FF0000"/>
                                            </a:solidFill>
                                            <a:latin typeface="Cambria Math"/>
                                            <a:cs typeface="Times New Roman" pitchFamily="18" charset="0"/>
                                          </a:rPr>
                                          <m:t>2</m:t>
                                        </m:r>
                                      </m:sup>
                                    </m:sSup>
                                  </m:e>
                                </m:d>
                              </m:den>
                            </m:f>
                          </m:e>
                        </m:d>
                      </m:e>
                    </m:func>
                  </m:oMath>
                </a14:m>
                <a:endParaRPr lang="en-US" sz="2400" dirty="0"/>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In order to obtain the equation in non-dimensional form, divide the numerator and denominator by </a:t>
                </a:r>
                <a14:m>
                  <m:oMath xmlns:m="http://schemas.openxmlformats.org/officeDocument/2006/math">
                    <m:r>
                      <a:rPr lang="en-US" sz="2400" b="0" i="1" smtClean="0">
                        <a:latin typeface="Cambria Math"/>
                        <a:cs typeface="Times New Roman" pitchFamily="18" charset="0"/>
                      </a:rPr>
                      <m:t>𝐾</m:t>
                    </m:r>
                  </m:oMath>
                </a14:m>
                <a:r>
                  <a:rPr lang="en-US" sz="2400" dirty="0">
                    <a:latin typeface="Times New Roman" pitchFamily="18" charset="0"/>
                    <a:cs typeface="Times New Roman" pitchFamily="18" charset="0"/>
                  </a:rPr>
                  <a:t>,</a:t>
                </a:r>
              </a:p>
            </p:txBody>
          </p:sp>
        </mc:Choice>
        <mc:Fallback xmlns="">
          <p:sp>
            <p:nvSpPr>
              <p:cNvPr id="18" name="Rectangle 17"/>
              <p:cNvSpPr>
                <a:spLocks noRot="1" noChangeAspect="1" noMove="1" noResize="1" noEditPoints="1" noAdjustHandles="1" noChangeArrowheads="1" noChangeShapeType="1" noTextEdit="1"/>
              </p:cNvSpPr>
              <p:nvPr/>
            </p:nvSpPr>
            <p:spPr>
              <a:xfrm>
                <a:off x="223328" y="2011612"/>
                <a:ext cx="7505940" cy="2016899"/>
              </a:xfrm>
              <a:prstGeom prst="rect">
                <a:avLst/>
              </a:prstGeom>
              <a:blipFill rotWithShape="1">
                <a:blip r:embed="rId10"/>
                <a:stretch>
                  <a:fillRect l="-1300" t="-6647" b="-604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223327" y="4180913"/>
                <a:ext cx="8438881" cy="1189685"/>
              </a:xfrm>
              <a:prstGeom prst="rect">
                <a:avLst/>
              </a:prstGeom>
            </p:spPr>
            <p:txBody>
              <a:bodyPr wrap="square">
                <a:spAutoFit/>
              </a:bodyPr>
              <a:lstStyle/>
              <a:p>
                <a:r>
                  <a:rPr lang="en-US" sz="2400" dirty="0">
                    <a:latin typeface="Times New Roman" pitchFamily="18" charset="0"/>
                    <a:cs typeface="Times New Roman" pitchFamily="18" charset="0"/>
                  </a:rPr>
                  <a:t>  </a:t>
                </a:r>
                <a14:m>
                  <m:oMath xmlns:m="http://schemas.openxmlformats.org/officeDocument/2006/math">
                    <m:r>
                      <a:rPr lang="en-US" sz="2400" i="1">
                        <a:solidFill>
                          <a:srgbClr val="FF0000"/>
                        </a:solidFill>
                        <a:latin typeface="Cambria Math"/>
                        <a:cs typeface="Times New Roman" pitchFamily="18" charset="0"/>
                      </a:rPr>
                      <m:t>𝑋</m:t>
                    </m:r>
                    <m:r>
                      <a:rPr lang="en-US" sz="2400" b="0" i="1" smtClean="0">
                        <a:solidFill>
                          <a:srgbClr val="FF0000"/>
                        </a:solidFill>
                        <a:latin typeface="Cambria Math"/>
                        <a:cs typeface="Times New Roman" pitchFamily="18" charset="0"/>
                      </a:rPr>
                      <m:t>=</m:t>
                    </m:r>
                    <m:f>
                      <m:fPr>
                        <m:ctrlPr>
                          <a:rPr lang="en-US" sz="2400" b="0" i="1" smtClean="0">
                            <a:solidFill>
                              <a:srgbClr val="FF0000"/>
                            </a:solidFill>
                            <a:latin typeface="Cambria Math" panose="02040503050406030204" pitchFamily="18" charset="0"/>
                            <a:cs typeface="Times New Roman" pitchFamily="18" charset="0"/>
                          </a:rPr>
                        </m:ctrlPr>
                      </m:fPr>
                      <m:num>
                        <m:f>
                          <m:fPr>
                            <m:type m:val="lin"/>
                            <m:ctrlPr>
                              <a:rPr lang="en-US" sz="2400" b="0" i="1" smtClean="0">
                                <a:solidFill>
                                  <a:srgbClr val="FF0000"/>
                                </a:solidFill>
                                <a:latin typeface="Cambria Math" panose="02040503050406030204" pitchFamily="18" charset="0"/>
                                <a:cs typeface="Times New Roman" pitchFamily="18" charset="0"/>
                              </a:rPr>
                            </m:ctrlPr>
                          </m:fPr>
                          <m:num>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a:cs typeface="Times New Roman" panose="02020603050405020304" pitchFamily="18" charset="0"/>
                                  </a:rPr>
                                  <m:t>𝐹</m:t>
                                </m:r>
                              </m:e>
                              <m:sub>
                                <m:r>
                                  <a:rPr lang="en-US" sz="2400" i="1">
                                    <a:latin typeface="Cambria Math"/>
                                    <a:cs typeface="Times New Roman" panose="02020603050405020304" pitchFamily="18" charset="0"/>
                                  </a:rPr>
                                  <m:t>0</m:t>
                                </m:r>
                              </m:sub>
                            </m:sSub>
                          </m:num>
                          <m:den>
                            <m:r>
                              <a:rPr lang="en-US" sz="2400" b="0" i="1" smtClean="0">
                                <a:solidFill>
                                  <a:srgbClr val="FF0000"/>
                                </a:solidFill>
                                <a:latin typeface="Cambria Math"/>
                                <a:cs typeface="Times New Roman" pitchFamily="18" charset="0"/>
                              </a:rPr>
                              <m:t>𝐾</m:t>
                            </m:r>
                          </m:den>
                        </m:f>
                      </m:num>
                      <m:den>
                        <m:rad>
                          <m:radPr>
                            <m:degHide m:val="on"/>
                            <m:ctrlPr>
                              <a:rPr lang="en-US" sz="2400" i="1">
                                <a:solidFill>
                                  <a:srgbClr val="FF0000"/>
                                </a:solidFill>
                                <a:latin typeface="Cambria Math" panose="02040503050406030204" pitchFamily="18" charset="0"/>
                                <a:cs typeface="Times New Roman" pitchFamily="18" charset="0"/>
                              </a:rPr>
                            </m:ctrlPr>
                          </m:radPr>
                          <m:deg/>
                          <m:e>
                            <m:sSup>
                              <m:sSupPr>
                                <m:ctrlPr>
                                  <a:rPr lang="en-US" sz="2400" i="1">
                                    <a:solidFill>
                                      <a:srgbClr val="FF0000"/>
                                    </a:solidFill>
                                    <a:latin typeface="Cambria Math" panose="02040503050406030204" pitchFamily="18" charset="0"/>
                                    <a:cs typeface="Times New Roman" pitchFamily="18" charset="0"/>
                                  </a:rPr>
                                </m:ctrlPr>
                              </m:sSupPr>
                              <m:e>
                                <m:d>
                                  <m:dPr>
                                    <m:ctrlPr>
                                      <a:rPr lang="en-US" sz="2400" i="1">
                                        <a:solidFill>
                                          <a:srgbClr val="FF0000"/>
                                        </a:solidFill>
                                        <a:latin typeface="Cambria Math" panose="02040503050406030204" pitchFamily="18" charset="0"/>
                                        <a:cs typeface="Times New Roman" pitchFamily="18" charset="0"/>
                                      </a:rPr>
                                    </m:ctrlPr>
                                  </m:dPr>
                                  <m:e>
                                    <m:r>
                                      <a:rPr lang="en-US" sz="2400" b="0" i="1" smtClean="0">
                                        <a:solidFill>
                                          <a:srgbClr val="FF0000"/>
                                        </a:solidFill>
                                        <a:latin typeface="Cambria Math"/>
                                        <a:cs typeface="Times New Roman" pitchFamily="18" charset="0"/>
                                      </a:rPr>
                                      <m:t>1</m:t>
                                    </m:r>
                                    <m:r>
                                      <a:rPr lang="en-US" sz="2400" i="1">
                                        <a:latin typeface="Cambria Math"/>
                                        <a:cs typeface="Times New Roman" panose="02020603050405020304" pitchFamily="18" charset="0"/>
                                      </a:rPr>
                                      <m:t>−</m:t>
                                    </m:r>
                                    <m:f>
                                      <m:fPr>
                                        <m:ctrlPr>
                                          <a:rPr lang="en-US" sz="2400" i="1" smtClean="0">
                                            <a:latin typeface="Cambria Math" panose="02040503050406030204" pitchFamily="18" charset="0"/>
                                            <a:cs typeface="Times New Roman" panose="02020603050405020304" pitchFamily="18" charset="0"/>
                                          </a:rPr>
                                        </m:ctrlPr>
                                      </m:fPr>
                                      <m:num>
                                        <m:r>
                                          <a:rPr lang="en-US" sz="2400" i="1">
                                            <a:latin typeface="Cambria Math"/>
                                            <a:cs typeface="Times New Roman" panose="02020603050405020304" pitchFamily="18" charset="0"/>
                                          </a:rPr>
                                          <m:t>𝑚</m:t>
                                        </m:r>
                                        <m:sSup>
                                          <m:sSupPr>
                                            <m:ctrlPr>
                                              <a:rPr lang="en-US" sz="2400" i="1">
                                                <a:solidFill>
                                                  <a:srgbClr val="FF0000"/>
                                                </a:solidFill>
                                                <a:latin typeface="Cambria Math" panose="02040503050406030204" pitchFamily="18" charset="0"/>
                                                <a:cs typeface="Times New Roman" pitchFamily="18" charset="0"/>
                                              </a:rPr>
                                            </m:ctrlPr>
                                          </m:sSupPr>
                                          <m:e>
                                            <m:r>
                                              <a:rPr lang="en-US" sz="2400" i="1">
                                                <a:solidFill>
                                                  <a:srgbClr val="FF0000"/>
                                                </a:solidFill>
                                                <a:latin typeface="Cambria Math"/>
                                                <a:ea typeface="Cambria Math"/>
                                                <a:cs typeface="Times New Roman" pitchFamily="18" charset="0"/>
                                              </a:rPr>
                                              <m:t>𝜔</m:t>
                                            </m:r>
                                          </m:e>
                                          <m:sup>
                                            <m:r>
                                              <a:rPr lang="en-US" sz="2400" i="1">
                                                <a:solidFill>
                                                  <a:srgbClr val="FF0000"/>
                                                </a:solidFill>
                                                <a:latin typeface="Cambria Math"/>
                                                <a:cs typeface="Times New Roman" pitchFamily="18" charset="0"/>
                                              </a:rPr>
                                              <m:t>2</m:t>
                                            </m:r>
                                          </m:sup>
                                        </m:sSup>
                                      </m:num>
                                      <m:den>
                                        <m:r>
                                          <a:rPr lang="en-US" sz="2400" b="0" i="1" smtClean="0">
                                            <a:latin typeface="Cambria Math"/>
                                            <a:cs typeface="Times New Roman" panose="02020603050405020304" pitchFamily="18" charset="0"/>
                                          </a:rPr>
                                          <m:t>𝐾</m:t>
                                        </m:r>
                                      </m:den>
                                    </m:f>
                                  </m:e>
                                </m:d>
                              </m:e>
                              <m:sup>
                                <m:r>
                                  <a:rPr lang="en-US" sz="2400" i="1">
                                    <a:solidFill>
                                      <a:srgbClr val="FF0000"/>
                                    </a:solidFill>
                                    <a:latin typeface="Cambria Math"/>
                                    <a:cs typeface="Times New Roman" pitchFamily="18" charset="0"/>
                                  </a:rPr>
                                  <m:t>2</m:t>
                                </m:r>
                              </m:sup>
                            </m:sSup>
                            <m:r>
                              <a:rPr lang="en-US" sz="2400" i="1">
                                <a:solidFill>
                                  <a:srgbClr val="FF0000"/>
                                </a:solidFill>
                                <a:latin typeface="Cambria Math"/>
                                <a:cs typeface="Times New Roman" pitchFamily="18" charset="0"/>
                              </a:rPr>
                              <m:t>+</m:t>
                            </m:r>
                            <m:sSup>
                              <m:sSupPr>
                                <m:ctrlPr>
                                  <a:rPr lang="en-US" sz="2400" i="1">
                                    <a:solidFill>
                                      <a:srgbClr val="FF0000"/>
                                    </a:solidFill>
                                    <a:latin typeface="Cambria Math" panose="02040503050406030204" pitchFamily="18" charset="0"/>
                                    <a:cs typeface="Times New Roman" pitchFamily="18" charset="0"/>
                                  </a:rPr>
                                </m:ctrlPr>
                              </m:sSupPr>
                              <m:e>
                                <m:d>
                                  <m:dPr>
                                    <m:ctrlPr>
                                      <a:rPr lang="en-US" sz="2400" i="1">
                                        <a:solidFill>
                                          <a:srgbClr val="FF0000"/>
                                        </a:solidFill>
                                        <a:latin typeface="Cambria Math" panose="02040503050406030204" pitchFamily="18" charset="0"/>
                                        <a:cs typeface="Times New Roman" pitchFamily="18" charset="0"/>
                                      </a:rPr>
                                    </m:ctrlPr>
                                  </m:dPr>
                                  <m:e>
                                    <m:f>
                                      <m:fPr>
                                        <m:ctrlPr>
                                          <a:rPr lang="en-US" sz="2400" i="1" smtClean="0">
                                            <a:solidFill>
                                              <a:srgbClr val="FF0000"/>
                                            </a:solidFill>
                                            <a:latin typeface="Cambria Math" panose="02040503050406030204" pitchFamily="18" charset="0"/>
                                            <a:cs typeface="Times New Roman" pitchFamily="18" charset="0"/>
                                          </a:rPr>
                                        </m:ctrlPr>
                                      </m:fPr>
                                      <m:num>
                                        <m:r>
                                          <a:rPr lang="en-US" sz="2400" i="1">
                                            <a:latin typeface="Cambria Math"/>
                                            <a:cs typeface="Times New Roman" panose="02020603050405020304" pitchFamily="18" charset="0"/>
                                          </a:rPr>
                                          <m:t>𝐶</m:t>
                                        </m:r>
                                        <m:r>
                                          <a:rPr lang="en-US" sz="2400" i="1">
                                            <a:solidFill>
                                              <a:srgbClr val="FF0000"/>
                                            </a:solidFill>
                                            <a:latin typeface="Cambria Math"/>
                                            <a:ea typeface="Cambria Math"/>
                                            <a:cs typeface="Times New Roman" pitchFamily="18" charset="0"/>
                                          </a:rPr>
                                          <m:t>𝜔</m:t>
                                        </m:r>
                                      </m:num>
                                      <m:den>
                                        <m:r>
                                          <a:rPr lang="en-US" sz="2400" b="0" i="1" smtClean="0">
                                            <a:solidFill>
                                              <a:srgbClr val="FF0000"/>
                                            </a:solidFill>
                                            <a:latin typeface="Cambria Math"/>
                                            <a:cs typeface="Times New Roman" pitchFamily="18" charset="0"/>
                                          </a:rPr>
                                          <m:t>𝐾</m:t>
                                        </m:r>
                                      </m:den>
                                    </m:f>
                                  </m:e>
                                </m:d>
                              </m:e>
                              <m:sup>
                                <m:r>
                                  <a:rPr lang="en-US" sz="2400" i="1">
                                    <a:solidFill>
                                      <a:srgbClr val="FF0000"/>
                                    </a:solidFill>
                                    <a:latin typeface="Cambria Math"/>
                                    <a:cs typeface="Times New Roman" pitchFamily="18" charset="0"/>
                                  </a:rPr>
                                  <m:t>2</m:t>
                                </m:r>
                              </m:sup>
                            </m:sSup>
                          </m:e>
                        </m:rad>
                      </m:den>
                    </m:f>
                  </m:oMath>
                </a14:m>
                <a:r>
                  <a:rPr lang="en-IN" sz="2400" dirty="0"/>
                  <a:t>  </a:t>
                </a:r>
                <a:r>
                  <a:rPr lang="en-US" sz="2400" dirty="0">
                    <a:latin typeface="Times New Roman" pitchFamily="18" charset="0"/>
                    <a:cs typeface="Times New Roman" pitchFamily="18" charset="0"/>
                  </a:rPr>
                  <a:t>and  </a:t>
                </a:r>
                <a14:m>
                  <m:oMath xmlns:m="http://schemas.openxmlformats.org/officeDocument/2006/math">
                    <m:r>
                      <a:rPr lang="en-US" sz="2400" i="1">
                        <a:solidFill>
                          <a:srgbClr val="FF0000"/>
                        </a:solidFill>
                        <a:latin typeface="Cambria Math"/>
                        <a:ea typeface="Cambria Math"/>
                        <a:cs typeface="Times New Roman" pitchFamily="18" charset="0"/>
                      </a:rPr>
                      <m:t>𝜑</m:t>
                    </m:r>
                    <m:r>
                      <a:rPr lang="en-US" sz="2400" b="0" i="1" smtClean="0">
                        <a:solidFill>
                          <a:srgbClr val="FF0000"/>
                        </a:solidFill>
                        <a:latin typeface="Cambria Math"/>
                        <a:ea typeface="Cambria Math"/>
                        <a:cs typeface="Times New Roman" pitchFamily="18" charset="0"/>
                      </a:rPr>
                      <m:t>=</m:t>
                    </m:r>
                  </m:oMath>
                </a14:m>
                <a:r>
                  <a:rPr lang="en-IN" sz="2400" dirty="0"/>
                  <a:t> </a:t>
                </a:r>
                <a14:m>
                  <m:oMath xmlns:m="http://schemas.openxmlformats.org/officeDocument/2006/math">
                    <m:func>
                      <m:funcPr>
                        <m:ctrlPr>
                          <a:rPr lang="en-IN" sz="2400" i="1" dirty="0" smtClean="0">
                            <a:latin typeface="Cambria Math" panose="02040503050406030204" pitchFamily="18" charset="0"/>
                          </a:rPr>
                        </m:ctrlPr>
                      </m:funcPr>
                      <m:fName>
                        <m:sSup>
                          <m:sSupPr>
                            <m:ctrlPr>
                              <a:rPr lang="en-IN" sz="2400" i="1" dirty="0" smtClean="0">
                                <a:latin typeface="Cambria Math" panose="02040503050406030204" pitchFamily="18" charset="0"/>
                              </a:rPr>
                            </m:ctrlPr>
                          </m:sSupPr>
                          <m:e>
                            <m:r>
                              <m:rPr>
                                <m:sty m:val="p"/>
                              </m:rPr>
                              <a:rPr lang="en-IN" sz="2400" i="0" dirty="0" smtClean="0">
                                <a:latin typeface="Cambria Math"/>
                              </a:rPr>
                              <m:t>tan</m:t>
                            </m:r>
                          </m:e>
                          <m:sup>
                            <m:r>
                              <a:rPr lang="en-IN" sz="2400" i="1" dirty="0" smtClean="0">
                                <a:latin typeface="Cambria Math"/>
                              </a:rPr>
                              <m:t>−1</m:t>
                            </m:r>
                          </m:sup>
                        </m:sSup>
                      </m:fName>
                      <m:e>
                        <m:d>
                          <m:dPr>
                            <m:begChr m:val="["/>
                            <m:endChr m:val="]"/>
                            <m:ctrlPr>
                              <a:rPr lang="en-IN" sz="2400" i="1" dirty="0" smtClean="0">
                                <a:latin typeface="Cambria Math" panose="02040503050406030204" pitchFamily="18" charset="0"/>
                              </a:rPr>
                            </m:ctrlPr>
                          </m:dPr>
                          <m:e>
                            <m:f>
                              <m:fPr>
                                <m:ctrlPr>
                                  <a:rPr lang="en-IN" sz="2400" i="1" dirty="0" smtClean="0">
                                    <a:latin typeface="Cambria Math" panose="02040503050406030204" pitchFamily="18" charset="0"/>
                                  </a:rPr>
                                </m:ctrlPr>
                              </m:fPr>
                              <m:num>
                                <m:f>
                                  <m:fPr>
                                    <m:ctrlPr>
                                      <a:rPr lang="en-US" sz="2400" i="1">
                                        <a:solidFill>
                                          <a:srgbClr val="FF0000"/>
                                        </a:solidFill>
                                        <a:latin typeface="Cambria Math" panose="02040503050406030204" pitchFamily="18" charset="0"/>
                                        <a:cs typeface="Times New Roman" pitchFamily="18" charset="0"/>
                                      </a:rPr>
                                    </m:ctrlPr>
                                  </m:fPr>
                                  <m:num>
                                    <m:r>
                                      <a:rPr lang="en-US" sz="2400" i="1">
                                        <a:latin typeface="Cambria Math"/>
                                        <a:cs typeface="Times New Roman" panose="02020603050405020304" pitchFamily="18" charset="0"/>
                                      </a:rPr>
                                      <m:t>𝐶</m:t>
                                    </m:r>
                                    <m:r>
                                      <a:rPr lang="en-US" sz="2400" i="1">
                                        <a:solidFill>
                                          <a:srgbClr val="FF0000"/>
                                        </a:solidFill>
                                        <a:latin typeface="Cambria Math"/>
                                        <a:ea typeface="Cambria Math"/>
                                        <a:cs typeface="Times New Roman" pitchFamily="18" charset="0"/>
                                      </a:rPr>
                                      <m:t>𝜔</m:t>
                                    </m:r>
                                  </m:num>
                                  <m:den>
                                    <m:r>
                                      <a:rPr lang="en-US" sz="2400" i="1">
                                        <a:solidFill>
                                          <a:srgbClr val="FF0000"/>
                                        </a:solidFill>
                                        <a:latin typeface="Cambria Math"/>
                                        <a:cs typeface="Times New Roman" pitchFamily="18" charset="0"/>
                                      </a:rPr>
                                      <m:t>𝐾</m:t>
                                    </m:r>
                                  </m:den>
                                </m:f>
                              </m:num>
                              <m:den>
                                <m:r>
                                  <a:rPr lang="en-US" sz="2400" b="0" i="1" dirty="0" smtClean="0">
                                    <a:latin typeface="Cambria Math"/>
                                  </a:rPr>
                                  <m:t>1−</m:t>
                                </m:r>
                                <m:f>
                                  <m:fPr>
                                    <m:ctrlPr>
                                      <a:rPr lang="en-US" sz="2400" i="1">
                                        <a:latin typeface="Cambria Math" panose="02040503050406030204" pitchFamily="18" charset="0"/>
                                        <a:cs typeface="Times New Roman" panose="02020603050405020304" pitchFamily="18" charset="0"/>
                                      </a:rPr>
                                    </m:ctrlPr>
                                  </m:fPr>
                                  <m:num>
                                    <m:r>
                                      <a:rPr lang="en-US" sz="2400" i="1">
                                        <a:latin typeface="Cambria Math"/>
                                        <a:cs typeface="Times New Roman" panose="02020603050405020304" pitchFamily="18" charset="0"/>
                                      </a:rPr>
                                      <m:t>𝑚</m:t>
                                    </m:r>
                                    <m:sSup>
                                      <m:sSupPr>
                                        <m:ctrlPr>
                                          <a:rPr lang="en-US" sz="2400" i="1">
                                            <a:solidFill>
                                              <a:srgbClr val="FF0000"/>
                                            </a:solidFill>
                                            <a:latin typeface="Cambria Math" panose="02040503050406030204" pitchFamily="18" charset="0"/>
                                            <a:cs typeface="Times New Roman" pitchFamily="18" charset="0"/>
                                          </a:rPr>
                                        </m:ctrlPr>
                                      </m:sSupPr>
                                      <m:e>
                                        <m:r>
                                          <a:rPr lang="en-US" sz="2400" i="1">
                                            <a:solidFill>
                                              <a:srgbClr val="FF0000"/>
                                            </a:solidFill>
                                            <a:latin typeface="Cambria Math"/>
                                            <a:ea typeface="Cambria Math"/>
                                            <a:cs typeface="Times New Roman" pitchFamily="18" charset="0"/>
                                          </a:rPr>
                                          <m:t>𝜔</m:t>
                                        </m:r>
                                      </m:e>
                                      <m:sup>
                                        <m:r>
                                          <a:rPr lang="en-US" sz="2400" i="1">
                                            <a:solidFill>
                                              <a:srgbClr val="FF0000"/>
                                            </a:solidFill>
                                            <a:latin typeface="Cambria Math"/>
                                            <a:cs typeface="Times New Roman" pitchFamily="18" charset="0"/>
                                          </a:rPr>
                                          <m:t>2</m:t>
                                        </m:r>
                                      </m:sup>
                                    </m:sSup>
                                  </m:num>
                                  <m:den>
                                    <m:r>
                                      <a:rPr lang="en-US" sz="2400" i="1">
                                        <a:latin typeface="Cambria Math"/>
                                        <a:cs typeface="Times New Roman" panose="02020603050405020304" pitchFamily="18" charset="0"/>
                                      </a:rPr>
                                      <m:t>𝐾</m:t>
                                    </m:r>
                                  </m:den>
                                </m:f>
                              </m:den>
                            </m:f>
                          </m:e>
                        </m:d>
                      </m:e>
                    </m:func>
                  </m:oMath>
                </a14:m>
                <a:endParaRPr lang="en-US" sz="2400" dirty="0">
                  <a:latin typeface="Times New Roman" pitchFamily="18" charset="0"/>
                  <a:cs typeface="Times New Roman" pitchFamily="18" charset="0"/>
                </a:endParaRPr>
              </a:p>
            </p:txBody>
          </p:sp>
        </mc:Choice>
        <mc:Fallback xmlns="">
          <p:sp>
            <p:nvSpPr>
              <p:cNvPr id="19" name="Rectangle 18"/>
              <p:cNvSpPr>
                <a:spLocks noRot="1" noChangeAspect="1" noMove="1" noResize="1" noEditPoints="1" noAdjustHandles="1" noChangeArrowheads="1" noChangeShapeType="1" noTextEdit="1"/>
              </p:cNvSpPr>
              <p:nvPr/>
            </p:nvSpPr>
            <p:spPr>
              <a:xfrm>
                <a:off x="223327" y="4180913"/>
                <a:ext cx="8438881" cy="1189685"/>
              </a:xfrm>
              <a:prstGeom prst="rect">
                <a:avLst/>
              </a:prstGeom>
              <a:blipFill rotWithShape="1">
                <a:blip r:embed="rId11"/>
                <a:stretch>
                  <a:fillRect t="-1026" b="-46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309593" y="5507797"/>
                <a:ext cx="3047886" cy="754566"/>
              </a:xfrm>
              <a:prstGeom prst="rect">
                <a:avLst/>
              </a:prstGeom>
            </p:spPr>
            <p:txBody>
              <a:bodyPr wrap="none">
                <a:spAutoFit/>
              </a:bodyPr>
              <a:lstStyle/>
              <a:p>
                <a:r>
                  <a:rPr lang="en-US" sz="2400" dirty="0">
                    <a:latin typeface="Times New Roman" pitchFamily="18" charset="0"/>
                    <a:cs typeface="Times New Roman" pitchFamily="18" charset="0"/>
                  </a:rPr>
                  <a:t>as </a:t>
                </a:r>
                <a14:m>
                  <m:oMath xmlns:m="http://schemas.openxmlformats.org/officeDocument/2006/math">
                    <m:f>
                      <m:fPr>
                        <m:ctrlPr>
                          <a:rPr lang="en-US" sz="2400" i="1" smtClean="0">
                            <a:latin typeface="Cambria Math" panose="02040503050406030204" pitchFamily="18" charset="0"/>
                            <a:cs typeface="Times New Roman" panose="02020603050405020304" pitchFamily="18" charset="0"/>
                          </a:rPr>
                        </m:ctrlPr>
                      </m:fPr>
                      <m:num>
                        <m:r>
                          <a:rPr lang="en-US" sz="2400" i="1">
                            <a:latin typeface="Cambria Math"/>
                            <a:cs typeface="Times New Roman" panose="02020603050405020304" pitchFamily="18" charset="0"/>
                          </a:rPr>
                          <m:t>𝑚</m:t>
                        </m:r>
                        <m:sSup>
                          <m:sSupPr>
                            <m:ctrlPr>
                              <a:rPr lang="en-US" sz="2400" i="1">
                                <a:solidFill>
                                  <a:srgbClr val="FF0000"/>
                                </a:solidFill>
                                <a:latin typeface="Cambria Math" panose="02040503050406030204" pitchFamily="18" charset="0"/>
                                <a:cs typeface="Times New Roman" pitchFamily="18" charset="0"/>
                              </a:rPr>
                            </m:ctrlPr>
                          </m:sSupPr>
                          <m:e>
                            <m:r>
                              <a:rPr lang="en-US" sz="2400" i="1">
                                <a:solidFill>
                                  <a:srgbClr val="FF0000"/>
                                </a:solidFill>
                                <a:latin typeface="Cambria Math"/>
                                <a:ea typeface="Cambria Math"/>
                                <a:cs typeface="Times New Roman" pitchFamily="18" charset="0"/>
                              </a:rPr>
                              <m:t>𝜔</m:t>
                            </m:r>
                          </m:e>
                          <m:sup>
                            <m:r>
                              <a:rPr lang="en-US" sz="2400" i="1">
                                <a:solidFill>
                                  <a:srgbClr val="FF0000"/>
                                </a:solidFill>
                                <a:latin typeface="Cambria Math"/>
                                <a:cs typeface="Times New Roman" pitchFamily="18" charset="0"/>
                              </a:rPr>
                              <m:t>2</m:t>
                            </m:r>
                          </m:sup>
                        </m:sSup>
                      </m:num>
                      <m:den>
                        <m:r>
                          <a:rPr lang="en-US" sz="2400" i="1">
                            <a:latin typeface="Cambria Math"/>
                            <a:cs typeface="Times New Roman" panose="02020603050405020304" pitchFamily="18" charset="0"/>
                          </a:rPr>
                          <m:t>𝐾</m:t>
                        </m:r>
                      </m:den>
                    </m:f>
                    <m:r>
                      <a:rPr lang="en-US" sz="2400" b="0" i="1" smtClean="0">
                        <a:latin typeface="Cambria Math"/>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sSup>
                          <m:sSupPr>
                            <m:ctrlPr>
                              <a:rPr lang="en-US" sz="2400" i="1">
                                <a:solidFill>
                                  <a:srgbClr val="FF0000"/>
                                </a:solidFill>
                                <a:latin typeface="Cambria Math" panose="02040503050406030204" pitchFamily="18" charset="0"/>
                                <a:cs typeface="Times New Roman" pitchFamily="18" charset="0"/>
                              </a:rPr>
                            </m:ctrlPr>
                          </m:sSupPr>
                          <m:e>
                            <m:r>
                              <a:rPr lang="en-US" sz="2400" i="1">
                                <a:solidFill>
                                  <a:srgbClr val="FF0000"/>
                                </a:solidFill>
                                <a:latin typeface="Cambria Math"/>
                                <a:ea typeface="Cambria Math"/>
                                <a:cs typeface="Times New Roman" pitchFamily="18" charset="0"/>
                              </a:rPr>
                              <m:t>𝜔</m:t>
                            </m:r>
                          </m:e>
                          <m:sup>
                            <m:r>
                              <a:rPr lang="en-US" sz="2400" i="1">
                                <a:solidFill>
                                  <a:srgbClr val="FF0000"/>
                                </a:solidFill>
                                <a:latin typeface="Cambria Math"/>
                                <a:cs typeface="Times New Roman" pitchFamily="18" charset="0"/>
                              </a:rPr>
                              <m:t>2</m:t>
                            </m:r>
                          </m:sup>
                        </m:sSup>
                      </m:num>
                      <m:den>
                        <m:sSup>
                          <m:sSupPr>
                            <m:ctrlPr>
                              <a:rPr lang="en-US" sz="2400" b="0" i="1" smtClean="0">
                                <a:latin typeface="Cambria Math" panose="02040503050406030204" pitchFamily="18" charset="0"/>
                                <a:cs typeface="Times New Roman" panose="02020603050405020304" pitchFamily="18" charset="0"/>
                              </a:rPr>
                            </m:ctrlPr>
                          </m:sSupPr>
                          <m:e>
                            <m:sSub>
                              <m:sSubPr>
                                <m:ctrlPr>
                                  <a:rPr lang="en-IN"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ea typeface="Cambria Math" panose="02040503050406030204" pitchFamily="18" charset="0"/>
                                    <a:cs typeface="Times New Roman" panose="02020603050405020304" pitchFamily="18" charset="0"/>
                                  </a:rPr>
                                  <m:t>𝜔</m:t>
                                </m:r>
                              </m:e>
                              <m:sub>
                                <m:r>
                                  <a:rPr lang="en-IN" sz="2400" i="1">
                                    <a:latin typeface="Cambria Math" panose="02040503050406030204" pitchFamily="18" charset="0"/>
                                    <a:cs typeface="Times New Roman" panose="02020603050405020304" pitchFamily="18" charset="0"/>
                                  </a:rPr>
                                  <m:t>𝑛</m:t>
                                </m:r>
                              </m:sub>
                            </m:sSub>
                          </m:e>
                          <m:sup>
                            <m:r>
                              <a:rPr lang="en-US" sz="2400" b="0" i="1" smtClean="0">
                                <a:latin typeface="Cambria Math"/>
                                <a:cs typeface="Times New Roman" panose="02020603050405020304" pitchFamily="18" charset="0"/>
                              </a:rPr>
                              <m:t>2</m:t>
                            </m:r>
                          </m:sup>
                        </m:sSup>
                      </m:den>
                    </m:f>
                    <m:r>
                      <a:rPr lang="en-US" sz="2400" b="0" i="1" smtClean="0">
                        <a:latin typeface="Cambria Math"/>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d>
                          <m:dPr>
                            <m:ctrlPr>
                              <a:rPr lang="en-US" sz="2400" b="0" i="1" smtClean="0">
                                <a:latin typeface="Cambria Math" panose="02040503050406030204" pitchFamily="18" charset="0"/>
                                <a:cs typeface="Times New Roman" panose="02020603050405020304" pitchFamily="18" charset="0"/>
                              </a:rPr>
                            </m:ctrlPr>
                          </m:dPr>
                          <m:e>
                            <m:f>
                              <m:fPr>
                                <m:ctrlPr>
                                  <a:rPr lang="en-US" sz="2400" i="1">
                                    <a:latin typeface="Cambria Math" panose="02040503050406030204" pitchFamily="18" charset="0"/>
                                    <a:cs typeface="Times New Roman" panose="02020603050405020304" pitchFamily="18" charset="0"/>
                                  </a:rPr>
                                </m:ctrlPr>
                              </m:fPr>
                              <m:num>
                                <m:r>
                                  <a:rPr lang="en-US" sz="2400" i="1">
                                    <a:solidFill>
                                      <a:srgbClr val="FF0000"/>
                                    </a:solidFill>
                                    <a:latin typeface="Cambria Math"/>
                                    <a:ea typeface="Cambria Math"/>
                                    <a:cs typeface="Times New Roman" pitchFamily="18" charset="0"/>
                                  </a:rPr>
                                  <m:t>𝜔</m:t>
                                </m:r>
                              </m:num>
                              <m:den>
                                <m:sSub>
                                  <m:sSubPr>
                                    <m:ctrlPr>
                                      <a:rPr lang="en-IN"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ea typeface="Cambria Math" panose="02040503050406030204" pitchFamily="18" charset="0"/>
                                        <a:cs typeface="Times New Roman" panose="02020603050405020304" pitchFamily="18" charset="0"/>
                                      </a:rPr>
                                      <m:t>𝜔</m:t>
                                    </m:r>
                                  </m:e>
                                  <m:sub>
                                    <m:r>
                                      <a:rPr lang="en-IN" sz="2400" i="1">
                                        <a:latin typeface="Cambria Math" panose="02040503050406030204" pitchFamily="18" charset="0"/>
                                        <a:cs typeface="Times New Roman" panose="02020603050405020304" pitchFamily="18" charset="0"/>
                                      </a:rPr>
                                      <m:t>𝑛</m:t>
                                    </m:r>
                                  </m:sub>
                                </m:sSub>
                              </m:den>
                            </m:f>
                          </m:e>
                        </m:d>
                      </m:e>
                      <m:sup>
                        <m:r>
                          <a:rPr lang="en-US" sz="2400" b="0" i="1" smtClean="0">
                            <a:latin typeface="Cambria Math"/>
                            <a:cs typeface="Times New Roman" panose="02020603050405020304" pitchFamily="18" charset="0"/>
                          </a:rPr>
                          <m:t>2</m:t>
                        </m:r>
                      </m:sup>
                    </m:sSup>
                  </m:oMath>
                </a14:m>
                <a:endParaRPr lang="en-IN" sz="2400" dirty="0"/>
              </a:p>
            </p:txBody>
          </p:sp>
        </mc:Choice>
        <mc:Fallback xmlns="">
          <p:sp>
            <p:nvSpPr>
              <p:cNvPr id="20" name="Rectangle 19"/>
              <p:cNvSpPr>
                <a:spLocks noRot="1" noChangeAspect="1" noMove="1" noResize="1" noEditPoints="1" noAdjustHandles="1" noChangeArrowheads="1" noChangeShapeType="1" noTextEdit="1"/>
              </p:cNvSpPr>
              <p:nvPr/>
            </p:nvSpPr>
            <p:spPr>
              <a:xfrm>
                <a:off x="309593" y="5507797"/>
                <a:ext cx="3047886" cy="754566"/>
              </a:xfrm>
              <a:prstGeom prst="rect">
                <a:avLst/>
              </a:prstGeom>
              <a:blipFill rotWithShape="1">
                <a:blip r:embed="rId12"/>
                <a:stretch>
                  <a:fillRect l="-3200" b="-162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3657137" y="5536916"/>
                <a:ext cx="4278700" cy="665118"/>
              </a:xfrm>
              <a:prstGeom prst="rect">
                <a:avLst/>
              </a:prstGeom>
            </p:spPr>
            <p:txBody>
              <a:bodyPr wrap="square">
                <a:spAutoFit/>
              </a:bodyPr>
              <a:lstStyle/>
              <a:p>
                <a:r>
                  <a:rPr lang="en-US" sz="2400" dirty="0">
                    <a:latin typeface="Times New Roman" pitchFamily="18" charset="0"/>
                    <a:cs typeface="Times New Roman" pitchFamily="18" charset="0"/>
                  </a:rPr>
                  <a:t>and  </a:t>
                </a:r>
                <a:r>
                  <a:rPr lang="en-US" sz="2400" dirty="0">
                    <a:solidFill>
                      <a:srgbClr val="FF0000"/>
                    </a:solidFill>
                    <a:latin typeface="Times New Roman" pitchFamily="18" charset="0"/>
                    <a:cs typeface="Times New Roman" pitchFamily="18" charset="0"/>
                  </a:rPr>
                  <a:t> </a:t>
                </a:r>
                <a14:m>
                  <m:oMath xmlns:m="http://schemas.openxmlformats.org/officeDocument/2006/math">
                    <m:f>
                      <m:fPr>
                        <m:ctrlPr>
                          <a:rPr lang="en-US" sz="2400" i="1" smtClean="0">
                            <a:solidFill>
                              <a:srgbClr val="FF0000"/>
                            </a:solidFill>
                            <a:latin typeface="Cambria Math" panose="02040503050406030204" pitchFamily="18" charset="0"/>
                            <a:cs typeface="Times New Roman" pitchFamily="18" charset="0"/>
                          </a:rPr>
                        </m:ctrlPr>
                      </m:fPr>
                      <m:num>
                        <m:r>
                          <a:rPr lang="en-US" sz="2400" i="1">
                            <a:latin typeface="Cambria Math"/>
                            <a:cs typeface="Times New Roman" panose="02020603050405020304" pitchFamily="18" charset="0"/>
                          </a:rPr>
                          <m:t>𝐶</m:t>
                        </m:r>
                        <m:r>
                          <a:rPr lang="en-US" sz="2400" i="1">
                            <a:solidFill>
                              <a:srgbClr val="FF0000"/>
                            </a:solidFill>
                            <a:latin typeface="Cambria Math"/>
                            <a:ea typeface="Cambria Math"/>
                            <a:cs typeface="Times New Roman" pitchFamily="18" charset="0"/>
                          </a:rPr>
                          <m:t>𝜔</m:t>
                        </m:r>
                      </m:num>
                      <m:den>
                        <m:r>
                          <a:rPr lang="en-US" sz="2400" i="1">
                            <a:solidFill>
                              <a:srgbClr val="FF0000"/>
                            </a:solidFill>
                            <a:latin typeface="Cambria Math"/>
                            <a:cs typeface="Times New Roman" pitchFamily="18" charset="0"/>
                          </a:rPr>
                          <m:t>𝐾</m:t>
                        </m:r>
                      </m:den>
                    </m:f>
                    <m:r>
                      <a:rPr lang="en-US" sz="2400" b="0" i="1" smtClean="0">
                        <a:solidFill>
                          <a:srgbClr val="FF0000"/>
                        </a:solidFill>
                        <a:latin typeface="Cambria Math"/>
                        <a:cs typeface="Times New Roman" pitchFamily="18" charset="0"/>
                      </a:rPr>
                      <m:t>=</m:t>
                    </m:r>
                    <m:f>
                      <m:fPr>
                        <m:ctrlPr>
                          <a:rPr lang="en-US" sz="2400" b="0" i="1" smtClean="0">
                            <a:solidFill>
                              <a:srgbClr val="FF0000"/>
                            </a:solidFill>
                            <a:latin typeface="Cambria Math" panose="02040503050406030204" pitchFamily="18" charset="0"/>
                            <a:cs typeface="Times New Roman" pitchFamily="18" charset="0"/>
                          </a:rPr>
                        </m:ctrlPr>
                      </m:fPr>
                      <m:num>
                        <m:r>
                          <a:rPr lang="en-US" sz="2400" b="0" i="1" smtClean="0">
                            <a:solidFill>
                              <a:srgbClr val="FF0000"/>
                            </a:solidFill>
                            <a:latin typeface="Cambria Math"/>
                            <a:cs typeface="Times New Roman" pitchFamily="18" charset="0"/>
                          </a:rPr>
                          <m:t>𝐶</m:t>
                        </m:r>
                      </m:num>
                      <m:den>
                        <m:sSub>
                          <m:sSubPr>
                            <m:ctrlPr>
                              <a:rPr lang="en-US" sz="2400" b="0" i="1" smtClean="0">
                                <a:solidFill>
                                  <a:srgbClr val="FF0000"/>
                                </a:solidFill>
                                <a:latin typeface="Cambria Math" panose="02040503050406030204" pitchFamily="18" charset="0"/>
                                <a:cs typeface="Times New Roman" pitchFamily="18" charset="0"/>
                              </a:rPr>
                            </m:ctrlPr>
                          </m:sSubPr>
                          <m:e>
                            <m:r>
                              <a:rPr lang="en-US" sz="2400" b="0" i="1" smtClean="0">
                                <a:solidFill>
                                  <a:srgbClr val="FF0000"/>
                                </a:solidFill>
                                <a:latin typeface="Cambria Math"/>
                                <a:cs typeface="Times New Roman" pitchFamily="18" charset="0"/>
                              </a:rPr>
                              <m:t>𝐶</m:t>
                            </m:r>
                          </m:e>
                          <m:sub>
                            <m:r>
                              <a:rPr lang="en-US" sz="2400" b="0" i="1" smtClean="0">
                                <a:solidFill>
                                  <a:srgbClr val="FF0000"/>
                                </a:solidFill>
                                <a:latin typeface="Cambria Math"/>
                                <a:cs typeface="Times New Roman" pitchFamily="18" charset="0"/>
                              </a:rPr>
                              <m:t>𝐶</m:t>
                            </m:r>
                          </m:sub>
                        </m:sSub>
                      </m:den>
                    </m:f>
                    <m:f>
                      <m:fPr>
                        <m:ctrlPr>
                          <a:rPr lang="en-US" sz="2400" b="0" i="1" smtClean="0">
                            <a:solidFill>
                              <a:srgbClr val="FF0000"/>
                            </a:solidFill>
                            <a:latin typeface="Cambria Math" panose="02040503050406030204" pitchFamily="18" charset="0"/>
                            <a:cs typeface="Times New Roman" pitchFamily="18" charset="0"/>
                          </a:rPr>
                        </m:ctrlPr>
                      </m:fPr>
                      <m:num>
                        <m:sSub>
                          <m:sSubPr>
                            <m:ctrlPr>
                              <a:rPr lang="en-US" sz="2400" b="0" i="1" smtClean="0">
                                <a:solidFill>
                                  <a:srgbClr val="FF0000"/>
                                </a:solidFill>
                                <a:latin typeface="Cambria Math" panose="02040503050406030204" pitchFamily="18" charset="0"/>
                                <a:cs typeface="Times New Roman" pitchFamily="18" charset="0"/>
                              </a:rPr>
                            </m:ctrlPr>
                          </m:sSubPr>
                          <m:e>
                            <m:r>
                              <a:rPr lang="en-US" sz="2400" b="0" i="1" smtClean="0">
                                <a:solidFill>
                                  <a:srgbClr val="FF0000"/>
                                </a:solidFill>
                                <a:latin typeface="Cambria Math"/>
                                <a:cs typeface="Times New Roman" pitchFamily="18" charset="0"/>
                              </a:rPr>
                              <m:t>𝐶</m:t>
                            </m:r>
                          </m:e>
                          <m:sub>
                            <m:r>
                              <a:rPr lang="en-US" sz="2400" b="0" i="1" smtClean="0">
                                <a:solidFill>
                                  <a:srgbClr val="FF0000"/>
                                </a:solidFill>
                                <a:latin typeface="Cambria Math"/>
                                <a:cs typeface="Times New Roman" pitchFamily="18" charset="0"/>
                              </a:rPr>
                              <m:t>𝐶</m:t>
                            </m:r>
                          </m:sub>
                        </m:sSub>
                      </m:num>
                      <m:den>
                        <m:r>
                          <a:rPr lang="en-US" sz="2400" b="0" i="1" smtClean="0">
                            <a:solidFill>
                              <a:srgbClr val="FF0000"/>
                            </a:solidFill>
                            <a:latin typeface="Cambria Math"/>
                            <a:cs typeface="Times New Roman" pitchFamily="18" charset="0"/>
                          </a:rPr>
                          <m:t>2</m:t>
                        </m:r>
                        <m:r>
                          <a:rPr lang="en-US" sz="2400" b="0" i="1" smtClean="0">
                            <a:solidFill>
                              <a:srgbClr val="FF0000"/>
                            </a:solidFill>
                            <a:latin typeface="Cambria Math"/>
                            <a:cs typeface="Times New Roman" pitchFamily="18" charset="0"/>
                          </a:rPr>
                          <m:t>𝑚</m:t>
                        </m:r>
                      </m:den>
                    </m:f>
                    <m:f>
                      <m:fPr>
                        <m:ctrlPr>
                          <a:rPr lang="en-US" sz="2400" b="0" i="1" smtClean="0">
                            <a:solidFill>
                              <a:srgbClr val="FF0000"/>
                            </a:solidFill>
                            <a:latin typeface="Cambria Math" panose="02040503050406030204" pitchFamily="18" charset="0"/>
                            <a:cs typeface="Times New Roman" pitchFamily="18" charset="0"/>
                          </a:rPr>
                        </m:ctrlPr>
                      </m:fPr>
                      <m:num>
                        <m:r>
                          <a:rPr lang="en-US" sz="2400" b="0" i="1" smtClean="0">
                            <a:solidFill>
                              <a:srgbClr val="FF0000"/>
                            </a:solidFill>
                            <a:latin typeface="Cambria Math"/>
                            <a:cs typeface="Times New Roman" pitchFamily="18" charset="0"/>
                          </a:rPr>
                          <m:t>2</m:t>
                        </m:r>
                        <m:r>
                          <a:rPr lang="en-US" sz="2400" b="0" i="1" smtClean="0">
                            <a:solidFill>
                              <a:srgbClr val="FF0000"/>
                            </a:solidFill>
                            <a:latin typeface="Cambria Math"/>
                            <a:cs typeface="Times New Roman" pitchFamily="18" charset="0"/>
                          </a:rPr>
                          <m:t>𝑚</m:t>
                        </m:r>
                      </m:num>
                      <m:den>
                        <m:r>
                          <a:rPr lang="en-US" sz="2400" b="0" i="1" smtClean="0">
                            <a:solidFill>
                              <a:srgbClr val="FF0000"/>
                            </a:solidFill>
                            <a:latin typeface="Cambria Math"/>
                            <a:cs typeface="Times New Roman" pitchFamily="18" charset="0"/>
                          </a:rPr>
                          <m:t>𝐾</m:t>
                        </m:r>
                      </m:den>
                    </m:f>
                    <m:r>
                      <a:rPr lang="en-US" sz="2400" b="0" i="1" smtClean="0">
                        <a:solidFill>
                          <a:srgbClr val="FF0000"/>
                        </a:solidFill>
                        <a:latin typeface="Cambria Math"/>
                        <a:ea typeface="Cambria Math"/>
                        <a:cs typeface="Times New Roman" pitchFamily="18" charset="0"/>
                      </a:rPr>
                      <m:t>𝜔</m:t>
                    </m:r>
                    <m:r>
                      <a:rPr lang="en-US" sz="2400" b="0" i="1" smtClean="0">
                        <a:latin typeface="Cambria Math"/>
                      </a:rPr>
                      <m:t>=2</m:t>
                    </m:r>
                    <m:r>
                      <a:rPr lang="en-US" sz="2400" b="0" i="1" smtClean="0">
                        <a:latin typeface="Cambria Math"/>
                        <a:ea typeface="Cambria Math"/>
                      </a:rPr>
                      <m:t>𝜁</m:t>
                    </m:r>
                    <m:f>
                      <m:fPr>
                        <m:ctrlPr>
                          <a:rPr lang="en-US" sz="2400" b="0" i="1" smtClean="0">
                            <a:latin typeface="Cambria Math" panose="02040503050406030204" pitchFamily="18" charset="0"/>
                            <a:ea typeface="Cambria Math"/>
                          </a:rPr>
                        </m:ctrlPr>
                      </m:fPr>
                      <m:num>
                        <m:r>
                          <a:rPr lang="en-US" sz="2400" b="0" i="1" smtClean="0">
                            <a:latin typeface="Cambria Math"/>
                            <a:ea typeface="Cambria Math"/>
                          </a:rPr>
                          <m:t>𝜔</m:t>
                        </m:r>
                      </m:num>
                      <m:den>
                        <m:sSub>
                          <m:sSubPr>
                            <m:ctrlPr>
                              <a:rPr lang="en-US" sz="2400" b="0" i="1" smtClean="0">
                                <a:latin typeface="Cambria Math" panose="02040503050406030204" pitchFamily="18" charset="0"/>
                                <a:ea typeface="Cambria Math"/>
                              </a:rPr>
                            </m:ctrlPr>
                          </m:sSubPr>
                          <m:e>
                            <m:r>
                              <a:rPr lang="en-US" sz="2400" b="0" i="1" smtClean="0">
                                <a:latin typeface="Cambria Math"/>
                                <a:ea typeface="Cambria Math"/>
                              </a:rPr>
                              <m:t>𝜔</m:t>
                            </m:r>
                          </m:e>
                          <m:sub>
                            <m:r>
                              <a:rPr lang="en-US" sz="2400" b="0" i="1" smtClean="0">
                                <a:latin typeface="Cambria Math"/>
                                <a:ea typeface="Cambria Math"/>
                              </a:rPr>
                              <m:t>𝑛</m:t>
                            </m:r>
                          </m:sub>
                        </m:sSub>
                      </m:den>
                    </m:f>
                  </m:oMath>
                </a14:m>
                <a:endParaRPr lang="en-IN" sz="2400" dirty="0"/>
              </a:p>
            </p:txBody>
          </p:sp>
        </mc:Choice>
        <mc:Fallback xmlns="">
          <p:sp>
            <p:nvSpPr>
              <p:cNvPr id="21" name="Rectangle 20"/>
              <p:cNvSpPr>
                <a:spLocks noRot="1" noChangeAspect="1" noMove="1" noResize="1" noEditPoints="1" noAdjustHandles="1" noChangeArrowheads="1" noChangeShapeType="1" noTextEdit="1"/>
              </p:cNvSpPr>
              <p:nvPr/>
            </p:nvSpPr>
            <p:spPr>
              <a:xfrm>
                <a:off x="3657137" y="5536916"/>
                <a:ext cx="4278700" cy="665118"/>
              </a:xfrm>
              <a:prstGeom prst="rect">
                <a:avLst/>
              </a:prstGeom>
              <a:blipFill rotWithShape="1">
                <a:blip r:embed="rId13"/>
                <a:stretch>
                  <a:fillRect l="-2279" b="-917"/>
                </a:stretch>
              </a:blipFill>
            </p:spPr>
            <p:txBody>
              <a:bodyPr/>
              <a:lstStyle/>
              <a:p>
                <a:r>
                  <a:rPr lang="en-IN">
                    <a:noFill/>
                  </a:rPr>
                  <a:t> </a:t>
                </a:r>
              </a:p>
            </p:txBody>
          </p:sp>
        </mc:Fallback>
      </mc:AlternateContent>
    </p:spTree>
    <p:extLst>
      <p:ext uri="{BB962C8B-B14F-4D97-AF65-F5344CB8AC3E}">
        <p14:creationId xmlns:p14="http://schemas.microsoft.com/office/powerpoint/2010/main" val="926375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Forced vibration with harmonic excitation (Solution)</a:t>
            </a:r>
            <a:endParaRPr lang="en-IN" sz="3600" dirty="0">
              <a:solidFill>
                <a:srgbClr val="7030A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7" name="Rectangle 16"/>
              <p:cNvSpPr/>
              <p:nvPr/>
            </p:nvSpPr>
            <p:spPr>
              <a:xfrm>
                <a:off x="223328" y="1138517"/>
                <a:ext cx="11416245" cy="830997"/>
              </a:xfrm>
              <a:prstGeom prst="rect">
                <a:avLst/>
              </a:prstGeom>
            </p:spPr>
            <p:txBody>
              <a:bodyPr wrap="square">
                <a:spAutoFit/>
              </a:bodyPr>
              <a:lstStyle/>
              <a:p>
                <a:r>
                  <a:rPr lang="en-US" sz="2400" dirty="0">
                    <a:latin typeface="Times New Roman" pitchFamily="18" charset="0"/>
                    <a:cs typeface="Times New Roman" pitchFamily="18" charset="0"/>
                  </a:rPr>
                  <a:t>Let </a:t>
                </a:r>
                <a14:m>
                  <m:oMath xmlns:m="http://schemas.openxmlformats.org/officeDocument/2006/math">
                    <m:f>
                      <m:fPr>
                        <m:type m:val="lin"/>
                        <m:ctrlPr>
                          <a:rPr lang="en-US" sz="2400" i="1">
                            <a:solidFill>
                              <a:srgbClr val="FF0000"/>
                            </a:solidFill>
                            <a:latin typeface="Cambria Math" panose="02040503050406030204" pitchFamily="18" charset="0"/>
                            <a:cs typeface="Times New Roman" pitchFamily="18" charset="0"/>
                          </a:rPr>
                        </m:ctrlPr>
                      </m:fPr>
                      <m:num>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a:cs typeface="Times New Roman" panose="02020603050405020304" pitchFamily="18" charset="0"/>
                              </a:rPr>
                              <m:t>𝐹</m:t>
                            </m:r>
                          </m:e>
                          <m:sub>
                            <m:r>
                              <a:rPr lang="en-US" sz="2400" i="1">
                                <a:latin typeface="Cambria Math"/>
                                <a:cs typeface="Times New Roman" panose="02020603050405020304" pitchFamily="18" charset="0"/>
                              </a:rPr>
                              <m:t>0</m:t>
                            </m:r>
                          </m:sub>
                        </m:sSub>
                      </m:num>
                      <m:den>
                        <m:r>
                          <a:rPr lang="en-US" sz="2400" i="1">
                            <a:solidFill>
                              <a:srgbClr val="FF0000"/>
                            </a:solidFill>
                            <a:latin typeface="Cambria Math"/>
                            <a:cs typeface="Times New Roman" pitchFamily="18" charset="0"/>
                          </a:rPr>
                          <m:t>𝐾</m:t>
                        </m:r>
                      </m:den>
                    </m:f>
                    <m:r>
                      <a:rPr lang="en-US" sz="2400" b="0" i="1" smtClean="0">
                        <a:solidFill>
                          <a:srgbClr val="FF0000"/>
                        </a:solidFill>
                        <a:latin typeface="Cambria Math"/>
                        <a:cs typeface="Times New Roman" pitchFamily="18" charset="0"/>
                      </a:rPr>
                      <m:t>=</m:t>
                    </m:r>
                    <m:sSub>
                      <m:sSubPr>
                        <m:ctrlPr>
                          <a:rPr lang="en-US" sz="2400" b="0" i="1" smtClean="0">
                            <a:solidFill>
                              <a:srgbClr val="FF0000"/>
                            </a:solidFill>
                            <a:latin typeface="Cambria Math" panose="02040503050406030204" pitchFamily="18" charset="0"/>
                            <a:cs typeface="Times New Roman" pitchFamily="18" charset="0"/>
                          </a:rPr>
                        </m:ctrlPr>
                      </m:sSubPr>
                      <m:e>
                        <m:r>
                          <a:rPr lang="en-US" sz="2400" b="0" i="1" smtClean="0">
                            <a:solidFill>
                              <a:srgbClr val="FF0000"/>
                            </a:solidFill>
                            <a:latin typeface="Cambria Math"/>
                            <a:cs typeface="Times New Roman" pitchFamily="18" charset="0"/>
                          </a:rPr>
                          <m:t>𝑋</m:t>
                        </m:r>
                      </m:e>
                      <m:sub>
                        <m:r>
                          <m:rPr>
                            <m:sty m:val="p"/>
                          </m:rPr>
                          <a:rPr lang="en-US" sz="2400" b="0" i="0" smtClean="0">
                            <a:solidFill>
                              <a:srgbClr val="FF0000"/>
                            </a:solidFill>
                            <a:latin typeface="Cambria Math"/>
                            <a:cs typeface="Times New Roman" pitchFamily="18" charset="0"/>
                          </a:rPr>
                          <m:t>st</m:t>
                        </m:r>
                      </m:sub>
                    </m:sSub>
                  </m:oMath>
                </a14:m>
                <a:r>
                  <a:rPr lang="en-US" sz="2400" dirty="0">
                    <a:latin typeface="Times New Roman" pitchFamily="18" charset="0"/>
                    <a:cs typeface="Times New Roman" pitchFamily="18" charset="0"/>
                  </a:rPr>
                  <a:t> , where </a:t>
                </a:r>
                <a14:m>
                  <m:oMath xmlns:m="http://schemas.openxmlformats.org/officeDocument/2006/math">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cs typeface="Times New Roman" pitchFamily="18" charset="0"/>
                          </a:rPr>
                          <m:t>𝑋</m:t>
                        </m:r>
                      </m:e>
                      <m:sub>
                        <m:r>
                          <m:rPr>
                            <m:sty m:val="p"/>
                          </m:rPr>
                          <a:rPr lang="en-US" sz="2400">
                            <a:solidFill>
                              <a:srgbClr val="FF0000"/>
                            </a:solidFill>
                            <a:latin typeface="Cambria Math"/>
                            <a:cs typeface="Times New Roman" pitchFamily="18" charset="0"/>
                          </a:rPr>
                          <m:t>st</m:t>
                        </m:r>
                      </m:sub>
                    </m:sSub>
                  </m:oMath>
                </a14:m>
                <a:r>
                  <a:rPr lang="en-US" sz="2400" dirty="0">
                    <a:latin typeface="Times New Roman" pitchFamily="18" charset="0"/>
                    <a:cs typeface="Times New Roman" pitchFamily="18" charset="0"/>
                  </a:rPr>
                  <a:t> is the zero frequency deflection of the  spring mass  system under a steady force </a:t>
                </a:r>
                <a14:m>
                  <m:oMath xmlns:m="http://schemas.openxmlformats.org/officeDocument/2006/math">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a:cs typeface="Times New Roman" panose="02020603050405020304" pitchFamily="18" charset="0"/>
                          </a:rPr>
                          <m:t>𝐹</m:t>
                        </m:r>
                      </m:e>
                      <m:sub>
                        <m:r>
                          <a:rPr lang="en-US" sz="2400" i="1">
                            <a:latin typeface="Cambria Math"/>
                            <a:cs typeface="Times New Roman" panose="02020603050405020304" pitchFamily="18" charset="0"/>
                          </a:rPr>
                          <m:t>0</m:t>
                        </m:r>
                      </m:sub>
                    </m:sSub>
                  </m:oMath>
                </a14:m>
                <a:r>
                  <a:rPr lang="en-US" sz="2400" dirty="0">
                    <a:latin typeface="Times New Roman" pitchFamily="18" charset="0"/>
                    <a:cs typeface="Times New Roman" pitchFamily="18" charset="0"/>
                  </a:rPr>
                  <a:t>.  </a:t>
                </a:r>
              </a:p>
            </p:txBody>
          </p:sp>
        </mc:Choice>
        <mc:Fallback xmlns="">
          <p:sp>
            <p:nvSpPr>
              <p:cNvPr id="17" name="Rectangle 16"/>
              <p:cNvSpPr>
                <a:spLocks noRot="1" noChangeAspect="1" noMove="1" noResize="1" noEditPoints="1" noAdjustHandles="1" noChangeArrowheads="1" noChangeShapeType="1" noTextEdit="1"/>
              </p:cNvSpPr>
              <p:nvPr/>
            </p:nvSpPr>
            <p:spPr>
              <a:xfrm>
                <a:off x="223328" y="1138517"/>
                <a:ext cx="11416245" cy="830997"/>
              </a:xfrm>
              <a:prstGeom prst="rect">
                <a:avLst/>
              </a:prstGeom>
              <a:blipFill rotWithShape="1">
                <a:blip r:embed="rId2"/>
                <a:stretch>
                  <a:fillRect l="-855" t="-69118" b="-6323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1362013" y="2125293"/>
                <a:ext cx="9645291" cy="3534750"/>
              </a:xfrm>
              <a:prstGeom prst="rect">
                <a:avLst/>
              </a:prstGeom>
            </p:spPr>
            <p:txBody>
              <a:bodyPr wrap="square">
                <a:spAutoFit/>
              </a:bodyPr>
              <a:lstStyle/>
              <a:p>
                <a:r>
                  <a:rPr lang="en-US" sz="2400" dirty="0">
                    <a:latin typeface="Times New Roman" pitchFamily="18" charset="0"/>
                    <a:cs typeface="Times New Roman" pitchFamily="18" charset="0"/>
                  </a:rPr>
                  <a:t> Thus,  </a:t>
                </a:r>
                <a14:m>
                  <m:oMath xmlns:m="http://schemas.openxmlformats.org/officeDocument/2006/math">
                    <m:r>
                      <a:rPr lang="en-US" sz="2400" i="1">
                        <a:solidFill>
                          <a:srgbClr val="FF0000"/>
                        </a:solidFill>
                        <a:latin typeface="Cambria Math"/>
                        <a:cs typeface="Times New Roman" pitchFamily="18" charset="0"/>
                      </a:rPr>
                      <m:t>𝑋</m:t>
                    </m:r>
                    <m:r>
                      <a:rPr lang="en-US" sz="2400" b="0" i="1" smtClean="0">
                        <a:solidFill>
                          <a:srgbClr val="FF0000"/>
                        </a:solidFill>
                        <a:latin typeface="Cambria Math"/>
                        <a:cs typeface="Times New Roman" pitchFamily="18" charset="0"/>
                      </a:rPr>
                      <m:t>=</m:t>
                    </m:r>
                    <m:f>
                      <m:fPr>
                        <m:ctrlPr>
                          <a:rPr lang="en-US" sz="2400" b="0" i="1" smtClean="0">
                            <a:solidFill>
                              <a:srgbClr val="FF0000"/>
                            </a:solidFill>
                            <a:latin typeface="Cambria Math" panose="02040503050406030204" pitchFamily="18" charset="0"/>
                            <a:cs typeface="Times New Roman" pitchFamily="18" charset="0"/>
                          </a:rPr>
                        </m:ctrlPr>
                      </m:fPr>
                      <m:num>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cs typeface="Times New Roman" pitchFamily="18" charset="0"/>
                              </a:rPr>
                              <m:t>𝑋</m:t>
                            </m:r>
                          </m:e>
                          <m:sub>
                            <m:r>
                              <m:rPr>
                                <m:sty m:val="p"/>
                              </m:rPr>
                              <a:rPr lang="en-US" sz="2400">
                                <a:solidFill>
                                  <a:srgbClr val="FF0000"/>
                                </a:solidFill>
                                <a:latin typeface="Cambria Math"/>
                                <a:cs typeface="Times New Roman" pitchFamily="18" charset="0"/>
                              </a:rPr>
                              <m:t>st</m:t>
                            </m:r>
                          </m:sub>
                        </m:sSub>
                      </m:num>
                      <m:den>
                        <m:rad>
                          <m:radPr>
                            <m:degHide m:val="on"/>
                            <m:ctrlPr>
                              <a:rPr lang="en-US" sz="2400" i="1">
                                <a:solidFill>
                                  <a:srgbClr val="FF0000"/>
                                </a:solidFill>
                                <a:latin typeface="Cambria Math" panose="02040503050406030204" pitchFamily="18" charset="0"/>
                                <a:cs typeface="Times New Roman" pitchFamily="18" charset="0"/>
                              </a:rPr>
                            </m:ctrlPr>
                          </m:radPr>
                          <m:deg/>
                          <m:e>
                            <m:sSup>
                              <m:sSupPr>
                                <m:ctrlPr>
                                  <a:rPr lang="en-US" sz="2400" i="1" smtClean="0">
                                    <a:solidFill>
                                      <a:srgbClr val="FF0000"/>
                                    </a:solidFill>
                                    <a:latin typeface="Cambria Math" panose="02040503050406030204" pitchFamily="18" charset="0"/>
                                    <a:cs typeface="Times New Roman" pitchFamily="18" charset="0"/>
                                  </a:rPr>
                                </m:ctrlPr>
                              </m:sSupPr>
                              <m:e>
                                <m:d>
                                  <m:dPr>
                                    <m:begChr m:val="["/>
                                    <m:endChr m:val="]"/>
                                    <m:ctrlPr>
                                      <a:rPr lang="en-US" sz="2400" i="1" smtClean="0">
                                        <a:solidFill>
                                          <a:srgbClr val="FF0000"/>
                                        </a:solidFill>
                                        <a:latin typeface="Cambria Math" panose="02040503050406030204" pitchFamily="18" charset="0"/>
                                        <a:cs typeface="Times New Roman" pitchFamily="18" charset="0"/>
                                      </a:rPr>
                                    </m:ctrlPr>
                                  </m:dPr>
                                  <m:e>
                                    <m:r>
                                      <a:rPr lang="en-US" sz="2400" b="0" i="1" smtClean="0">
                                        <a:solidFill>
                                          <a:srgbClr val="FF0000"/>
                                        </a:solidFill>
                                        <a:latin typeface="Cambria Math"/>
                                        <a:cs typeface="Times New Roman" pitchFamily="18" charset="0"/>
                                      </a:rPr>
                                      <m:t>1−</m:t>
                                    </m:r>
                                    <m:sSup>
                                      <m:sSupPr>
                                        <m:ctrlPr>
                                          <a:rPr lang="en-US" sz="2400" b="0" i="1" smtClean="0">
                                            <a:solidFill>
                                              <a:srgbClr val="FF0000"/>
                                            </a:solidFill>
                                            <a:latin typeface="Cambria Math" panose="02040503050406030204" pitchFamily="18" charset="0"/>
                                            <a:cs typeface="Times New Roman" pitchFamily="18" charset="0"/>
                                          </a:rPr>
                                        </m:ctrlPr>
                                      </m:sSupPr>
                                      <m:e>
                                        <m:d>
                                          <m:dPr>
                                            <m:ctrlPr>
                                              <a:rPr lang="en-US" sz="2400" b="0" i="1" smtClean="0">
                                                <a:solidFill>
                                                  <a:srgbClr val="FF0000"/>
                                                </a:solidFill>
                                                <a:latin typeface="Cambria Math" panose="02040503050406030204" pitchFamily="18" charset="0"/>
                                                <a:cs typeface="Times New Roman" pitchFamily="18" charset="0"/>
                                              </a:rPr>
                                            </m:ctrlPr>
                                          </m:dPr>
                                          <m:e>
                                            <m:f>
                                              <m:fPr>
                                                <m:ctrlPr>
                                                  <a:rPr lang="en-US" sz="2400" b="0" i="1" smtClean="0">
                                                    <a:solidFill>
                                                      <a:srgbClr val="FF0000"/>
                                                    </a:solidFill>
                                                    <a:latin typeface="Cambria Math" panose="02040503050406030204" pitchFamily="18" charset="0"/>
                                                    <a:cs typeface="Times New Roman" pitchFamily="18" charset="0"/>
                                                  </a:rPr>
                                                </m:ctrlPr>
                                              </m:fPr>
                                              <m:num>
                                                <m:r>
                                                  <a:rPr lang="en-US" sz="2400" b="0" i="1" smtClean="0">
                                                    <a:solidFill>
                                                      <a:srgbClr val="FF0000"/>
                                                    </a:solidFill>
                                                    <a:latin typeface="Cambria Math"/>
                                                    <a:ea typeface="Cambria Math"/>
                                                    <a:cs typeface="Times New Roman" pitchFamily="18" charset="0"/>
                                                  </a:rPr>
                                                  <m:t>𝜔</m:t>
                                                </m:r>
                                              </m:num>
                                              <m:den>
                                                <m:sSub>
                                                  <m:sSubPr>
                                                    <m:ctrlPr>
                                                      <a:rPr lang="en-US" sz="2400" b="0" i="1" smtClean="0">
                                                        <a:solidFill>
                                                          <a:srgbClr val="FF0000"/>
                                                        </a:solidFill>
                                                        <a:latin typeface="Cambria Math" panose="02040503050406030204" pitchFamily="18" charset="0"/>
                                                        <a:cs typeface="Times New Roman" pitchFamily="18" charset="0"/>
                                                      </a:rPr>
                                                    </m:ctrlPr>
                                                  </m:sSubPr>
                                                  <m:e>
                                                    <m:r>
                                                      <a:rPr lang="en-US" sz="2400" b="0" i="1" smtClean="0">
                                                        <a:solidFill>
                                                          <a:srgbClr val="FF0000"/>
                                                        </a:solidFill>
                                                        <a:latin typeface="Cambria Math"/>
                                                        <a:ea typeface="Cambria Math"/>
                                                        <a:cs typeface="Times New Roman" pitchFamily="18" charset="0"/>
                                                      </a:rPr>
                                                      <m:t>𝜔</m:t>
                                                    </m:r>
                                                  </m:e>
                                                  <m:sub>
                                                    <m:r>
                                                      <a:rPr lang="en-US" sz="2400" b="0" i="1" smtClean="0">
                                                        <a:solidFill>
                                                          <a:srgbClr val="FF0000"/>
                                                        </a:solidFill>
                                                        <a:latin typeface="Cambria Math"/>
                                                        <a:cs typeface="Times New Roman" pitchFamily="18" charset="0"/>
                                                      </a:rPr>
                                                      <m:t>𝑛</m:t>
                                                    </m:r>
                                                  </m:sub>
                                                </m:sSub>
                                              </m:den>
                                            </m:f>
                                          </m:e>
                                        </m:d>
                                      </m:e>
                                      <m:sup>
                                        <m:r>
                                          <a:rPr lang="en-US" sz="2400" b="0" i="1" smtClean="0">
                                            <a:solidFill>
                                              <a:srgbClr val="FF0000"/>
                                            </a:solidFill>
                                            <a:latin typeface="Cambria Math"/>
                                            <a:cs typeface="Times New Roman" pitchFamily="18" charset="0"/>
                                          </a:rPr>
                                          <m:t>2</m:t>
                                        </m:r>
                                      </m:sup>
                                    </m:sSup>
                                  </m:e>
                                </m:d>
                              </m:e>
                              <m:sup>
                                <m:r>
                                  <a:rPr lang="en-US" sz="2400" b="0" i="1" smtClean="0">
                                    <a:solidFill>
                                      <a:srgbClr val="FF0000"/>
                                    </a:solidFill>
                                    <a:latin typeface="Cambria Math"/>
                                    <a:cs typeface="Times New Roman" pitchFamily="18" charset="0"/>
                                  </a:rPr>
                                  <m:t>2</m:t>
                                </m:r>
                              </m:sup>
                            </m:sSup>
                            <m:r>
                              <a:rPr lang="en-US" sz="2400" i="1">
                                <a:solidFill>
                                  <a:srgbClr val="FF0000"/>
                                </a:solidFill>
                                <a:latin typeface="Cambria Math"/>
                                <a:cs typeface="Times New Roman" pitchFamily="18" charset="0"/>
                              </a:rPr>
                              <m:t>+</m:t>
                            </m:r>
                            <m:sSup>
                              <m:sSupPr>
                                <m:ctrlPr>
                                  <a:rPr lang="en-US" sz="2400" i="1">
                                    <a:solidFill>
                                      <a:srgbClr val="FF0000"/>
                                    </a:solidFill>
                                    <a:latin typeface="Cambria Math" panose="02040503050406030204" pitchFamily="18" charset="0"/>
                                    <a:cs typeface="Times New Roman" pitchFamily="18" charset="0"/>
                                  </a:rPr>
                                </m:ctrlPr>
                              </m:sSupPr>
                              <m:e>
                                <m:d>
                                  <m:dPr>
                                    <m:begChr m:val="["/>
                                    <m:endChr m:val="]"/>
                                    <m:ctrlPr>
                                      <a:rPr lang="en-US" sz="2400" i="1">
                                        <a:solidFill>
                                          <a:srgbClr val="FF0000"/>
                                        </a:solidFill>
                                        <a:latin typeface="Cambria Math" panose="02040503050406030204" pitchFamily="18" charset="0"/>
                                        <a:cs typeface="Times New Roman" pitchFamily="18" charset="0"/>
                                      </a:rPr>
                                    </m:ctrlPr>
                                  </m:dPr>
                                  <m:e>
                                    <m:r>
                                      <a:rPr lang="en-US" sz="2400" i="1">
                                        <a:latin typeface="Cambria Math"/>
                                      </a:rPr>
                                      <m:t>2</m:t>
                                    </m:r>
                                    <m:r>
                                      <a:rPr lang="en-US" sz="2400" i="1">
                                        <a:latin typeface="Cambria Math"/>
                                        <a:ea typeface="Cambria Math"/>
                                      </a:rPr>
                                      <m:t>𝜁</m:t>
                                    </m:r>
                                    <m:d>
                                      <m:dPr>
                                        <m:ctrlPr>
                                          <a:rPr lang="en-US" sz="2400" i="1">
                                            <a:latin typeface="Cambria Math" panose="02040503050406030204" pitchFamily="18" charset="0"/>
                                            <a:ea typeface="Cambria Math"/>
                                          </a:rPr>
                                        </m:ctrlPr>
                                      </m:dPr>
                                      <m:e>
                                        <m:f>
                                          <m:fPr>
                                            <m:ctrlPr>
                                              <a:rPr lang="en-US" sz="2400" i="1">
                                                <a:solidFill>
                                                  <a:srgbClr val="FF0000"/>
                                                </a:solidFill>
                                                <a:latin typeface="Cambria Math" panose="02040503050406030204" pitchFamily="18" charset="0"/>
                                                <a:cs typeface="Times New Roman" pitchFamily="18" charset="0"/>
                                              </a:rPr>
                                            </m:ctrlPr>
                                          </m:fPr>
                                          <m:num>
                                            <m:r>
                                              <a:rPr lang="en-US" sz="2400" i="1">
                                                <a:solidFill>
                                                  <a:srgbClr val="FF0000"/>
                                                </a:solidFill>
                                                <a:latin typeface="Cambria Math"/>
                                                <a:ea typeface="Cambria Math"/>
                                                <a:cs typeface="Times New Roman" pitchFamily="18" charset="0"/>
                                              </a:rPr>
                                              <m:t>𝜔</m:t>
                                            </m:r>
                                          </m:num>
                                          <m:den>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US" sz="2400" i="1">
                                                    <a:solidFill>
                                                      <a:srgbClr val="FF0000"/>
                                                    </a:solidFill>
                                                    <a:latin typeface="Cambria Math"/>
                                                    <a:cs typeface="Times New Roman" pitchFamily="18" charset="0"/>
                                                  </a:rPr>
                                                  <m:t>𝑛</m:t>
                                                </m:r>
                                              </m:sub>
                                            </m:sSub>
                                          </m:den>
                                        </m:f>
                                      </m:e>
                                    </m:d>
                                  </m:e>
                                </m:d>
                              </m:e>
                              <m:sup>
                                <m:r>
                                  <a:rPr lang="en-US" sz="2400" i="1">
                                    <a:solidFill>
                                      <a:srgbClr val="FF0000"/>
                                    </a:solidFill>
                                    <a:latin typeface="Cambria Math"/>
                                    <a:cs typeface="Times New Roman" pitchFamily="18" charset="0"/>
                                  </a:rPr>
                                  <m:t>2</m:t>
                                </m:r>
                              </m:sup>
                            </m:sSup>
                          </m:e>
                        </m:rad>
                      </m:den>
                    </m:f>
                  </m:oMath>
                </a14:m>
                <a:r>
                  <a:rPr lang="en-IN" sz="2400" dirty="0"/>
                  <a:t>  </a:t>
                </a:r>
                <a:r>
                  <a:rPr lang="en-US" sz="2400" dirty="0">
                    <a:latin typeface="Times New Roman" pitchFamily="18" charset="0"/>
                    <a:cs typeface="Times New Roman" pitchFamily="18" charset="0"/>
                  </a:rPr>
                  <a:t>and  </a:t>
                </a:r>
                <a14:m>
                  <m:oMath xmlns:m="http://schemas.openxmlformats.org/officeDocument/2006/math">
                    <m:r>
                      <a:rPr lang="en-US" sz="2400" i="1">
                        <a:solidFill>
                          <a:srgbClr val="FF0000"/>
                        </a:solidFill>
                        <a:latin typeface="Cambria Math"/>
                        <a:ea typeface="Cambria Math"/>
                        <a:cs typeface="Times New Roman" pitchFamily="18" charset="0"/>
                      </a:rPr>
                      <m:t>𝜑</m:t>
                    </m:r>
                    <m:r>
                      <a:rPr lang="en-US" sz="2400" b="0" i="1" smtClean="0">
                        <a:solidFill>
                          <a:srgbClr val="FF0000"/>
                        </a:solidFill>
                        <a:latin typeface="Cambria Math"/>
                        <a:ea typeface="Cambria Math"/>
                        <a:cs typeface="Times New Roman" pitchFamily="18" charset="0"/>
                      </a:rPr>
                      <m:t>=</m:t>
                    </m:r>
                    <m:func>
                      <m:funcPr>
                        <m:ctrlPr>
                          <a:rPr lang="en-IN" sz="2400" i="1" dirty="0" smtClean="0">
                            <a:latin typeface="Cambria Math" panose="02040503050406030204" pitchFamily="18" charset="0"/>
                          </a:rPr>
                        </m:ctrlPr>
                      </m:funcPr>
                      <m:fName>
                        <m:sSup>
                          <m:sSupPr>
                            <m:ctrlPr>
                              <a:rPr lang="en-IN" sz="2400" i="1" dirty="0" smtClean="0">
                                <a:latin typeface="Cambria Math" panose="02040503050406030204" pitchFamily="18" charset="0"/>
                              </a:rPr>
                            </m:ctrlPr>
                          </m:sSupPr>
                          <m:e>
                            <m:r>
                              <m:rPr>
                                <m:sty m:val="p"/>
                              </m:rPr>
                              <a:rPr lang="en-IN" sz="2400" i="0" dirty="0" smtClean="0">
                                <a:latin typeface="Cambria Math"/>
                              </a:rPr>
                              <m:t>tan</m:t>
                            </m:r>
                          </m:e>
                          <m:sup>
                            <m:r>
                              <a:rPr lang="en-IN" sz="2400" i="1" dirty="0" smtClean="0">
                                <a:latin typeface="Cambria Math"/>
                              </a:rPr>
                              <m:t>−1</m:t>
                            </m:r>
                          </m:sup>
                        </m:sSup>
                      </m:fName>
                      <m:e>
                        <m:d>
                          <m:dPr>
                            <m:begChr m:val="["/>
                            <m:endChr m:val="]"/>
                            <m:ctrlPr>
                              <a:rPr lang="en-IN" sz="2400" i="1" dirty="0" smtClean="0">
                                <a:latin typeface="Cambria Math" panose="02040503050406030204" pitchFamily="18" charset="0"/>
                              </a:rPr>
                            </m:ctrlPr>
                          </m:dPr>
                          <m:e>
                            <m:f>
                              <m:fPr>
                                <m:ctrlPr>
                                  <a:rPr lang="en-IN" sz="2400" i="1" dirty="0" smtClean="0">
                                    <a:latin typeface="Cambria Math" panose="02040503050406030204" pitchFamily="18" charset="0"/>
                                  </a:rPr>
                                </m:ctrlPr>
                              </m:fPr>
                              <m:num>
                                <m:r>
                                  <a:rPr lang="en-US" sz="2400" i="1">
                                    <a:latin typeface="Cambria Math"/>
                                  </a:rPr>
                                  <m:t>2</m:t>
                                </m:r>
                                <m:r>
                                  <a:rPr lang="en-US" sz="2400" i="1">
                                    <a:latin typeface="Cambria Math"/>
                                    <a:ea typeface="Cambria Math"/>
                                  </a:rPr>
                                  <m:t>𝜁</m:t>
                                </m:r>
                                <m:d>
                                  <m:dPr>
                                    <m:ctrlPr>
                                      <a:rPr lang="en-US" sz="2400" i="1">
                                        <a:latin typeface="Cambria Math" panose="02040503050406030204" pitchFamily="18" charset="0"/>
                                        <a:ea typeface="Cambria Math"/>
                                      </a:rPr>
                                    </m:ctrlPr>
                                  </m:dPr>
                                  <m:e>
                                    <m:f>
                                      <m:fPr>
                                        <m:ctrlPr>
                                          <a:rPr lang="en-US" sz="2400" i="1">
                                            <a:solidFill>
                                              <a:srgbClr val="FF0000"/>
                                            </a:solidFill>
                                            <a:latin typeface="Cambria Math" panose="02040503050406030204" pitchFamily="18" charset="0"/>
                                            <a:cs typeface="Times New Roman" pitchFamily="18" charset="0"/>
                                          </a:rPr>
                                        </m:ctrlPr>
                                      </m:fPr>
                                      <m:num>
                                        <m:r>
                                          <a:rPr lang="en-US" sz="2400" i="1">
                                            <a:solidFill>
                                              <a:srgbClr val="FF0000"/>
                                            </a:solidFill>
                                            <a:latin typeface="Cambria Math"/>
                                            <a:ea typeface="Cambria Math"/>
                                            <a:cs typeface="Times New Roman" pitchFamily="18" charset="0"/>
                                          </a:rPr>
                                          <m:t>𝜔</m:t>
                                        </m:r>
                                      </m:num>
                                      <m:den>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US" sz="2400" i="1">
                                                <a:solidFill>
                                                  <a:srgbClr val="FF0000"/>
                                                </a:solidFill>
                                                <a:latin typeface="Cambria Math"/>
                                                <a:cs typeface="Times New Roman" pitchFamily="18" charset="0"/>
                                              </a:rPr>
                                              <m:t>𝑛</m:t>
                                            </m:r>
                                          </m:sub>
                                        </m:sSub>
                                      </m:den>
                                    </m:f>
                                  </m:e>
                                </m:d>
                              </m:num>
                              <m:den>
                                <m:r>
                                  <a:rPr lang="en-US" sz="2400" b="0" i="1" dirty="0" smtClean="0">
                                    <a:latin typeface="Cambria Math"/>
                                  </a:rPr>
                                  <m:t>1−</m:t>
                                </m:r>
                                <m:sSup>
                                  <m:sSupPr>
                                    <m:ctrlPr>
                                      <a:rPr lang="en-US" sz="2400" i="1">
                                        <a:solidFill>
                                          <a:srgbClr val="FF0000"/>
                                        </a:solidFill>
                                        <a:latin typeface="Cambria Math" panose="02040503050406030204" pitchFamily="18" charset="0"/>
                                        <a:cs typeface="Times New Roman" pitchFamily="18" charset="0"/>
                                      </a:rPr>
                                    </m:ctrlPr>
                                  </m:sSupPr>
                                  <m:e>
                                    <m:d>
                                      <m:dPr>
                                        <m:ctrlPr>
                                          <a:rPr lang="en-US" sz="2400" i="1">
                                            <a:solidFill>
                                              <a:srgbClr val="FF0000"/>
                                            </a:solidFill>
                                            <a:latin typeface="Cambria Math" panose="02040503050406030204" pitchFamily="18" charset="0"/>
                                            <a:cs typeface="Times New Roman" pitchFamily="18" charset="0"/>
                                          </a:rPr>
                                        </m:ctrlPr>
                                      </m:dPr>
                                      <m:e>
                                        <m:f>
                                          <m:fPr>
                                            <m:ctrlPr>
                                              <a:rPr lang="en-US" sz="2400" i="1">
                                                <a:solidFill>
                                                  <a:srgbClr val="FF0000"/>
                                                </a:solidFill>
                                                <a:latin typeface="Cambria Math" panose="02040503050406030204" pitchFamily="18" charset="0"/>
                                                <a:cs typeface="Times New Roman" pitchFamily="18" charset="0"/>
                                              </a:rPr>
                                            </m:ctrlPr>
                                          </m:fPr>
                                          <m:num>
                                            <m:r>
                                              <a:rPr lang="en-US" sz="2400" i="1">
                                                <a:solidFill>
                                                  <a:srgbClr val="FF0000"/>
                                                </a:solidFill>
                                                <a:latin typeface="Cambria Math"/>
                                                <a:ea typeface="Cambria Math"/>
                                                <a:cs typeface="Times New Roman" pitchFamily="18" charset="0"/>
                                              </a:rPr>
                                              <m:t>𝜔</m:t>
                                            </m:r>
                                          </m:num>
                                          <m:den>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US" sz="2400" i="1">
                                                    <a:solidFill>
                                                      <a:srgbClr val="FF0000"/>
                                                    </a:solidFill>
                                                    <a:latin typeface="Cambria Math"/>
                                                    <a:cs typeface="Times New Roman" pitchFamily="18" charset="0"/>
                                                  </a:rPr>
                                                  <m:t>𝑛</m:t>
                                                </m:r>
                                              </m:sub>
                                            </m:sSub>
                                          </m:den>
                                        </m:f>
                                      </m:e>
                                    </m:d>
                                  </m:e>
                                  <m:sup>
                                    <m:r>
                                      <a:rPr lang="en-US" sz="2400" i="1">
                                        <a:solidFill>
                                          <a:srgbClr val="FF0000"/>
                                        </a:solidFill>
                                        <a:latin typeface="Cambria Math"/>
                                        <a:cs typeface="Times New Roman" pitchFamily="18" charset="0"/>
                                      </a:rPr>
                                      <m:t>2</m:t>
                                    </m:r>
                                  </m:sup>
                                </m:sSup>
                              </m:den>
                            </m:f>
                          </m:e>
                        </m:d>
                      </m:e>
                    </m:func>
                  </m:oMath>
                </a14:m>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Hence, particular solution can be written as </a:t>
                </a:r>
                <a14:m>
                  <m:oMath xmlns:m="http://schemas.openxmlformats.org/officeDocument/2006/math">
                    <m:sSub>
                      <m:sSubPr>
                        <m:ctrlPr>
                          <a:rPr lang="en-US" sz="2400" i="1" smtClean="0">
                            <a:latin typeface="Cambria Math" panose="02040503050406030204" pitchFamily="18" charset="0"/>
                            <a:cs typeface="Times New Roman" pitchFamily="18" charset="0"/>
                          </a:rPr>
                        </m:ctrlPr>
                      </m:sSubPr>
                      <m:e>
                        <m:r>
                          <a:rPr lang="en-US" sz="2400" b="0" i="1" smtClean="0">
                            <a:latin typeface="Cambria Math"/>
                            <a:cs typeface="Times New Roman" pitchFamily="18" charset="0"/>
                          </a:rPr>
                          <m:t>𝑋</m:t>
                        </m:r>
                      </m:e>
                      <m:sub>
                        <m:r>
                          <a:rPr lang="en-US" sz="2400" b="0" i="1" smtClean="0">
                            <a:latin typeface="Cambria Math"/>
                            <a:cs typeface="Times New Roman" pitchFamily="18" charset="0"/>
                          </a:rPr>
                          <m:t>𝑃</m:t>
                        </m:r>
                      </m:sub>
                    </m:sSub>
                    <m:r>
                      <a:rPr lang="en-US" sz="2400" i="1">
                        <a:solidFill>
                          <a:srgbClr val="FF0000"/>
                        </a:solidFill>
                        <a:latin typeface="Cambria Math"/>
                        <a:cs typeface="Times New Roman" pitchFamily="18" charset="0"/>
                      </a:rPr>
                      <m:t>=</m:t>
                    </m:r>
                    <m:f>
                      <m:fPr>
                        <m:ctrlPr>
                          <a:rPr lang="en-US" sz="2400" i="1">
                            <a:solidFill>
                              <a:srgbClr val="FF0000"/>
                            </a:solidFill>
                            <a:latin typeface="Cambria Math" panose="02040503050406030204" pitchFamily="18" charset="0"/>
                            <a:cs typeface="Times New Roman" pitchFamily="18" charset="0"/>
                          </a:rPr>
                        </m:ctrlPr>
                      </m:fPr>
                      <m:num>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cs typeface="Times New Roman" pitchFamily="18" charset="0"/>
                              </a:rPr>
                              <m:t>𝑋</m:t>
                            </m:r>
                          </m:e>
                          <m:sub>
                            <m:r>
                              <m:rPr>
                                <m:sty m:val="p"/>
                              </m:rPr>
                              <a:rPr lang="en-US" sz="2400">
                                <a:solidFill>
                                  <a:srgbClr val="FF0000"/>
                                </a:solidFill>
                                <a:latin typeface="Cambria Math"/>
                                <a:cs typeface="Times New Roman" pitchFamily="18" charset="0"/>
                              </a:rPr>
                              <m:t>st</m:t>
                            </m:r>
                          </m:sub>
                        </m:sSub>
                        <m:func>
                          <m:funcPr>
                            <m:ctrlPr>
                              <a:rPr lang="en-US" sz="2400" i="1" smtClean="0">
                                <a:solidFill>
                                  <a:srgbClr val="FF0000"/>
                                </a:solidFill>
                                <a:latin typeface="Cambria Math" panose="02040503050406030204" pitchFamily="18" charset="0"/>
                                <a:cs typeface="Times New Roman" pitchFamily="18" charset="0"/>
                              </a:rPr>
                            </m:ctrlPr>
                          </m:funcPr>
                          <m:fName>
                            <m:r>
                              <m:rPr>
                                <m:sty m:val="p"/>
                              </m:rPr>
                              <a:rPr lang="en-US" sz="2400" i="0" smtClean="0">
                                <a:solidFill>
                                  <a:srgbClr val="FF0000"/>
                                </a:solidFill>
                                <a:latin typeface="Cambria Math"/>
                                <a:cs typeface="Times New Roman" pitchFamily="18" charset="0"/>
                              </a:rPr>
                              <m:t>sin</m:t>
                            </m:r>
                          </m:fName>
                          <m:e>
                            <m:d>
                              <m:dPr>
                                <m:ctrlPr>
                                  <a:rPr lang="en-US" sz="2400" i="1" smtClean="0">
                                    <a:solidFill>
                                      <a:srgbClr val="FF0000"/>
                                    </a:solidFill>
                                    <a:latin typeface="Cambria Math" panose="02040503050406030204" pitchFamily="18" charset="0"/>
                                    <a:cs typeface="Times New Roman" pitchFamily="18" charset="0"/>
                                  </a:rPr>
                                </m:ctrlPr>
                              </m:dPr>
                              <m:e>
                                <m:r>
                                  <a:rPr lang="en-US" sz="2400" i="1" smtClean="0">
                                    <a:solidFill>
                                      <a:srgbClr val="FF0000"/>
                                    </a:solidFill>
                                    <a:latin typeface="Cambria Math"/>
                                    <a:ea typeface="Cambria Math"/>
                                    <a:cs typeface="Times New Roman" pitchFamily="18" charset="0"/>
                                  </a:rPr>
                                  <m:t>𝜔</m:t>
                                </m:r>
                                <m:r>
                                  <a:rPr lang="en-US" sz="2400" b="0" i="1" smtClean="0">
                                    <a:solidFill>
                                      <a:srgbClr val="FF0000"/>
                                    </a:solidFill>
                                    <a:latin typeface="Cambria Math"/>
                                    <a:ea typeface="Cambria Math"/>
                                    <a:cs typeface="Times New Roman" pitchFamily="18" charset="0"/>
                                  </a:rPr>
                                  <m:t>𝑡</m:t>
                                </m:r>
                                <m:r>
                                  <a:rPr lang="en-US" sz="2400" b="0" i="1" smtClean="0">
                                    <a:solidFill>
                                      <a:srgbClr val="FF0000"/>
                                    </a:solidFill>
                                    <a:latin typeface="Cambria Math"/>
                                    <a:ea typeface="Cambria Math"/>
                                    <a:cs typeface="Times New Roman" pitchFamily="18" charset="0"/>
                                  </a:rPr>
                                  <m:t>−</m:t>
                                </m:r>
                                <m:r>
                                  <a:rPr lang="en-US" sz="2400" b="0" i="1" smtClean="0">
                                    <a:solidFill>
                                      <a:srgbClr val="FF0000"/>
                                    </a:solidFill>
                                    <a:latin typeface="Cambria Math"/>
                                    <a:ea typeface="Cambria Math"/>
                                    <a:cs typeface="Times New Roman" pitchFamily="18" charset="0"/>
                                  </a:rPr>
                                  <m:t>𝜑</m:t>
                                </m:r>
                              </m:e>
                            </m:d>
                          </m:e>
                        </m:func>
                      </m:num>
                      <m:den>
                        <m:rad>
                          <m:radPr>
                            <m:degHide m:val="on"/>
                            <m:ctrlPr>
                              <a:rPr lang="en-US" sz="2400" i="1">
                                <a:solidFill>
                                  <a:srgbClr val="FF0000"/>
                                </a:solidFill>
                                <a:latin typeface="Cambria Math" panose="02040503050406030204" pitchFamily="18" charset="0"/>
                                <a:cs typeface="Times New Roman" pitchFamily="18" charset="0"/>
                              </a:rPr>
                            </m:ctrlPr>
                          </m:radPr>
                          <m:deg/>
                          <m:e>
                            <m:sSup>
                              <m:sSupPr>
                                <m:ctrlPr>
                                  <a:rPr lang="en-US" sz="2400" i="1">
                                    <a:solidFill>
                                      <a:srgbClr val="FF0000"/>
                                    </a:solidFill>
                                    <a:latin typeface="Cambria Math" panose="02040503050406030204" pitchFamily="18" charset="0"/>
                                    <a:cs typeface="Times New Roman" pitchFamily="18" charset="0"/>
                                  </a:rPr>
                                </m:ctrlPr>
                              </m:sSupPr>
                              <m:e>
                                <m:d>
                                  <m:dPr>
                                    <m:begChr m:val="["/>
                                    <m:endChr m:val="]"/>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cs typeface="Times New Roman" pitchFamily="18" charset="0"/>
                                      </a:rPr>
                                      <m:t>1−</m:t>
                                    </m:r>
                                    <m:sSup>
                                      <m:sSupPr>
                                        <m:ctrlPr>
                                          <a:rPr lang="en-US" sz="2400" i="1">
                                            <a:solidFill>
                                              <a:srgbClr val="FF0000"/>
                                            </a:solidFill>
                                            <a:latin typeface="Cambria Math" panose="02040503050406030204" pitchFamily="18" charset="0"/>
                                            <a:cs typeface="Times New Roman" pitchFamily="18" charset="0"/>
                                          </a:rPr>
                                        </m:ctrlPr>
                                      </m:sSupPr>
                                      <m:e>
                                        <m:d>
                                          <m:dPr>
                                            <m:ctrlPr>
                                              <a:rPr lang="en-US" sz="2400" i="1">
                                                <a:solidFill>
                                                  <a:srgbClr val="FF0000"/>
                                                </a:solidFill>
                                                <a:latin typeface="Cambria Math" panose="02040503050406030204" pitchFamily="18" charset="0"/>
                                                <a:cs typeface="Times New Roman" pitchFamily="18" charset="0"/>
                                              </a:rPr>
                                            </m:ctrlPr>
                                          </m:dPr>
                                          <m:e>
                                            <m:f>
                                              <m:fPr>
                                                <m:ctrlPr>
                                                  <a:rPr lang="en-US" sz="2400" i="1">
                                                    <a:solidFill>
                                                      <a:srgbClr val="FF0000"/>
                                                    </a:solidFill>
                                                    <a:latin typeface="Cambria Math" panose="02040503050406030204" pitchFamily="18" charset="0"/>
                                                    <a:cs typeface="Times New Roman" pitchFamily="18" charset="0"/>
                                                  </a:rPr>
                                                </m:ctrlPr>
                                              </m:fPr>
                                              <m:num>
                                                <m:r>
                                                  <a:rPr lang="en-US" sz="2400" i="1">
                                                    <a:solidFill>
                                                      <a:srgbClr val="FF0000"/>
                                                    </a:solidFill>
                                                    <a:latin typeface="Cambria Math"/>
                                                    <a:ea typeface="Cambria Math"/>
                                                    <a:cs typeface="Times New Roman" pitchFamily="18" charset="0"/>
                                                  </a:rPr>
                                                  <m:t>𝜔</m:t>
                                                </m:r>
                                              </m:num>
                                              <m:den>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US" sz="2400" i="1">
                                                        <a:solidFill>
                                                          <a:srgbClr val="FF0000"/>
                                                        </a:solidFill>
                                                        <a:latin typeface="Cambria Math"/>
                                                        <a:cs typeface="Times New Roman" pitchFamily="18" charset="0"/>
                                                      </a:rPr>
                                                      <m:t>𝑛</m:t>
                                                    </m:r>
                                                  </m:sub>
                                                </m:sSub>
                                              </m:den>
                                            </m:f>
                                          </m:e>
                                        </m:d>
                                      </m:e>
                                      <m:sup>
                                        <m:r>
                                          <a:rPr lang="en-US" sz="2400" i="1">
                                            <a:solidFill>
                                              <a:srgbClr val="FF0000"/>
                                            </a:solidFill>
                                            <a:latin typeface="Cambria Math"/>
                                            <a:cs typeface="Times New Roman" pitchFamily="18" charset="0"/>
                                          </a:rPr>
                                          <m:t>2</m:t>
                                        </m:r>
                                      </m:sup>
                                    </m:sSup>
                                  </m:e>
                                </m:d>
                              </m:e>
                              <m:sup>
                                <m:r>
                                  <a:rPr lang="en-US" sz="2400" i="1">
                                    <a:solidFill>
                                      <a:srgbClr val="FF0000"/>
                                    </a:solidFill>
                                    <a:latin typeface="Cambria Math"/>
                                    <a:cs typeface="Times New Roman" pitchFamily="18" charset="0"/>
                                  </a:rPr>
                                  <m:t>2</m:t>
                                </m:r>
                              </m:sup>
                            </m:sSup>
                            <m:r>
                              <a:rPr lang="en-US" sz="2400" i="1">
                                <a:solidFill>
                                  <a:srgbClr val="FF0000"/>
                                </a:solidFill>
                                <a:latin typeface="Cambria Math"/>
                                <a:cs typeface="Times New Roman" pitchFamily="18" charset="0"/>
                              </a:rPr>
                              <m:t>+</m:t>
                            </m:r>
                            <m:sSup>
                              <m:sSupPr>
                                <m:ctrlPr>
                                  <a:rPr lang="en-US" sz="2400" i="1">
                                    <a:solidFill>
                                      <a:srgbClr val="FF0000"/>
                                    </a:solidFill>
                                    <a:latin typeface="Cambria Math" panose="02040503050406030204" pitchFamily="18" charset="0"/>
                                    <a:cs typeface="Times New Roman" pitchFamily="18" charset="0"/>
                                  </a:rPr>
                                </m:ctrlPr>
                              </m:sSupPr>
                              <m:e>
                                <m:d>
                                  <m:dPr>
                                    <m:begChr m:val="["/>
                                    <m:endChr m:val="]"/>
                                    <m:ctrlPr>
                                      <a:rPr lang="en-US" sz="2400" i="1">
                                        <a:solidFill>
                                          <a:srgbClr val="FF0000"/>
                                        </a:solidFill>
                                        <a:latin typeface="Cambria Math" panose="02040503050406030204" pitchFamily="18" charset="0"/>
                                        <a:cs typeface="Times New Roman" pitchFamily="18" charset="0"/>
                                      </a:rPr>
                                    </m:ctrlPr>
                                  </m:dPr>
                                  <m:e>
                                    <m:r>
                                      <a:rPr lang="en-US" sz="2400" i="1">
                                        <a:latin typeface="Cambria Math"/>
                                      </a:rPr>
                                      <m:t>2</m:t>
                                    </m:r>
                                    <m:r>
                                      <a:rPr lang="en-US" sz="2400" i="1">
                                        <a:latin typeface="Cambria Math"/>
                                        <a:ea typeface="Cambria Math"/>
                                      </a:rPr>
                                      <m:t>𝜁</m:t>
                                    </m:r>
                                    <m:d>
                                      <m:dPr>
                                        <m:ctrlPr>
                                          <a:rPr lang="en-US" sz="2400" i="1">
                                            <a:latin typeface="Cambria Math" panose="02040503050406030204" pitchFamily="18" charset="0"/>
                                            <a:ea typeface="Cambria Math"/>
                                          </a:rPr>
                                        </m:ctrlPr>
                                      </m:dPr>
                                      <m:e>
                                        <m:f>
                                          <m:fPr>
                                            <m:ctrlPr>
                                              <a:rPr lang="en-US" sz="2400" i="1">
                                                <a:solidFill>
                                                  <a:srgbClr val="FF0000"/>
                                                </a:solidFill>
                                                <a:latin typeface="Cambria Math" panose="02040503050406030204" pitchFamily="18" charset="0"/>
                                                <a:cs typeface="Times New Roman" pitchFamily="18" charset="0"/>
                                              </a:rPr>
                                            </m:ctrlPr>
                                          </m:fPr>
                                          <m:num>
                                            <m:r>
                                              <a:rPr lang="en-US" sz="2400" i="1">
                                                <a:solidFill>
                                                  <a:srgbClr val="FF0000"/>
                                                </a:solidFill>
                                                <a:latin typeface="Cambria Math"/>
                                                <a:ea typeface="Cambria Math"/>
                                                <a:cs typeface="Times New Roman" pitchFamily="18" charset="0"/>
                                              </a:rPr>
                                              <m:t>𝜔</m:t>
                                            </m:r>
                                          </m:num>
                                          <m:den>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US" sz="2400" i="1">
                                                    <a:solidFill>
                                                      <a:srgbClr val="FF0000"/>
                                                    </a:solidFill>
                                                    <a:latin typeface="Cambria Math"/>
                                                    <a:cs typeface="Times New Roman" pitchFamily="18" charset="0"/>
                                                  </a:rPr>
                                                  <m:t>𝑛</m:t>
                                                </m:r>
                                              </m:sub>
                                            </m:sSub>
                                          </m:den>
                                        </m:f>
                                      </m:e>
                                    </m:d>
                                  </m:e>
                                </m:d>
                              </m:e>
                              <m:sup>
                                <m:r>
                                  <a:rPr lang="en-US" sz="2400" i="1">
                                    <a:solidFill>
                                      <a:srgbClr val="FF0000"/>
                                    </a:solidFill>
                                    <a:latin typeface="Cambria Math"/>
                                    <a:cs typeface="Times New Roman" pitchFamily="18" charset="0"/>
                                  </a:rPr>
                                  <m:t>2</m:t>
                                </m:r>
                              </m:sup>
                            </m:sSup>
                          </m:e>
                        </m:rad>
                      </m:den>
                    </m:f>
                  </m:oMath>
                </a14:m>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Thus the complete solution </a:t>
                </a:r>
                <a14:m>
                  <m:oMath xmlns:m="http://schemas.openxmlformats.org/officeDocument/2006/math">
                    <m:r>
                      <a:rPr lang="en-US" sz="2400" b="0" i="1" smtClean="0">
                        <a:latin typeface="Cambria Math"/>
                        <a:cs typeface="Times New Roman" pitchFamily="18" charset="0"/>
                      </a:rPr>
                      <m:t>𝑥</m:t>
                    </m:r>
                    <m:r>
                      <a:rPr lang="en-US" sz="2400" b="0" i="1" smtClean="0">
                        <a:latin typeface="Cambria Math"/>
                        <a:cs typeface="Times New Roman" pitchFamily="18" charset="0"/>
                      </a:rPr>
                      <m:t>=</m:t>
                    </m:r>
                    <m:sSub>
                      <m:sSubPr>
                        <m:ctrlPr>
                          <a:rPr lang="en-US" sz="2400" b="0" i="1" smtClean="0">
                            <a:latin typeface="Cambria Math" panose="02040503050406030204" pitchFamily="18" charset="0"/>
                            <a:cs typeface="Times New Roman" pitchFamily="18" charset="0"/>
                          </a:rPr>
                        </m:ctrlPr>
                      </m:sSubPr>
                      <m:e>
                        <m:r>
                          <a:rPr lang="en-US" sz="2400" b="0" i="1" smtClean="0">
                            <a:latin typeface="Cambria Math"/>
                            <a:cs typeface="Times New Roman" pitchFamily="18" charset="0"/>
                          </a:rPr>
                          <m:t>𝑥</m:t>
                        </m:r>
                      </m:e>
                      <m:sub>
                        <m:r>
                          <a:rPr lang="en-US" sz="2400" b="0" i="1" smtClean="0">
                            <a:latin typeface="Cambria Math"/>
                            <a:cs typeface="Times New Roman" pitchFamily="18" charset="0"/>
                          </a:rPr>
                          <m:t>𝑐</m:t>
                        </m:r>
                      </m:sub>
                    </m:sSub>
                    <m:r>
                      <a:rPr lang="en-US" sz="2400" b="0" i="1" smtClean="0">
                        <a:latin typeface="Cambria Math"/>
                        <a:cs typeface="Times New Roman" pitchFamily="18" charset="0"/>
                      </a:rPr>
                      <m:t>+</m:t>
                    </m:r>
                    <m:sSub>
                      <m:sSubPr>
                        <m:ctrlPr>
                          <a:rPr lang="en-US" sz="2400" b="0" i="1" smtClean="0">
                            <a:latin typeface="Cambria Math" panose="02040503050406030204" pitchFamily="18" charset="0"/>
                            <a:cs typeface="Times New Roman" pitchFamily="18" charset="0"/>
                          </a:rPr>
                        </m:ctrlPr>
                      </m:sSubPr>
                      <m:e>
                        <m:r>
                          <a:rPr lang="en-US" sz="2400" b="0" i="1" smtClean="0">
                            <a:latin typeface="Cambria Math"/>
                            <a:cs typeface="Times New Roman" pitchFamily="18" charset="0"/>
                          </a:rPr>
                          <m:t>𝑥</m:t>
                        </m:r>
                      </m:e>
                      <m:sub>
                        <m:r>
                          <a:rPr lang="en-US" sz="2400" b="0" i="1" smtClean="0">
                            <a:latin typeface="Cambria Math"/>
                            <a:cs typeface="Times New Roman" pitchFamily="18" charset="0"/>
                          </a:rPr>
                          <m:t>𝑝</m:t>
                        </m:r>
                      </m:sub>
                    </m:sSub>
                  </m:oMath>
                </a14:m>
                <a:endParaRPr lang="en-US" sz="2400" b="0"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a:cs typeface="Times New Roman"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a:cs typeface="Times New Roman" panose="02020603050405020304" pitchFamily="18" charset="0"/>
                            </a:rPr>
                            <m:t>𝐴</m:t>
                          </m:r>
                        </m:e>
                        <m:sub>
                          <m:r>
                            <a:rPr lang="en-US" sz="2400" i="1">
                              <a:latin typeface="Cambria Math"/>
                              <a:cs typeface="Times New Roman" panose="02020603050405020304" pitchFamily="18" charset="0"/>
                            </a:rPr>
                            <m:t>2</m:t>
                          </m:r>
                        </m:sub>
                      </m:sSub>
                      <m:sSup>
                        <m:sSupPr>
                          <m:ctrlPr>
                            <a:rPr lang="en-IN" sz="2400" i="1">
                              <a:solidFill>
                                <a:srgbClr val="FF0000"/>
                              </a:solidFill>
                              <a:latin typeface="Cambria Math" panose="02040503050406030204" pitchFamily="18" charset="0"/>
                              <a:cs typeface="Times New Roman" panose="02020603050405020304" pitchFamily="18" charset="0"/>
                            </a:rPr>
                          </m:ctrlPr>
                        </m:sSupPr>
                        <m:e>
                          <m:r>
                            <a:rPr lang="en-IN" sz="2400" i="1">
                              <a:solidFill>
                                <a:srgbClr val="FF0000"/>
                              </a:solidFill>
                              <a:latin typeface="Cambria Math" panose="02040503050406030204" pitchFamily="18" charset="0"/>
                              <a:cs typeface="Times New Roman" panose="02020603050405020304" pitchFamily="18" charset="0"/>
                            </a:rPr>
                            <m:t>𝑒</m:t>
                          </m:r>
                        </m:e>
                        <m:sup>
                          <m:sSub>
                            <m:sSubPr>
                              <m:ctrlPr>
                                <a:rPr lang="en-IN"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cs typeface="Times New Roman" panose="02020603050405020304" pitchFamily="18" charset="0"/>
                                </a:rPr>
                                <m:t>−</m:t>
                              </m:r>
                              <m:r>
                                <a:rPr lang="en-IN" sz="2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𝜁</m:t>
                              </m:r>
                              <m:r>
                                <a:rPr lang="en-IN" sz="2400" i="1">
                                  <a:latin typeface="Cambria Math" panose="02040503050406030204" pitchFamily="18" charset="0"/>
                                  <a:ea typeface="Cambria Math" panose="02040503050406030204" pitchFamily="18" charset="0"/>
                                  <a:cs typeface="Times New Roman" panose="02020603050405020304" pitchFamily="18" charset="0"/>
                                </a:rPr>
                                <m:t>𝜔</m:t>
                              </m:r>
                            </m:e>
                            <m:sub>
                              <m:r>
                                <a:rPr lang="en-IN" sz="2400" i="1">
                                  <a:latin typeface="Cambria Math" panose="02040503050406030204" pitchFamily="18" charset="0"/>
                                  <a:cs typeface="Times New Roman" panose="02020603050405020304" pitchFamily="18" charset="0"/>
                                </a:rPr>
                                <m:t>𝑛</m:t>
                              </m:r>
                            </m:sub>
                          </m:sSub>
                          <m:r>
                            <a:rPr lang="en-IN" sz="2400" i="1">
                              <a:solidFill>
                                <a:srgbClr val="FF0000"/>
                              </a:solidFill>
                              <a:latin typeface="Cambria Math" panose="02040503050406030204" pitchFamily="18" charset="0"/>
                              <a:cs typeface="Times New Roman" panose="02020603050405020304" pitchFamily="18" charset="0"/>
                            </a:rPr>
                            <m:t>𝑡</m:t>
                          </m:r>
                        </m:sup>
                      </m:sSup>
                      <m:func>
                        <m:funcPr>
                          <m:ctrlPr>
                            <a:rPr lang="en-IN" sz="2400" i="1">
                              <a:solidFill>
                                <a:srgbClr val="FF0000"/>
                              </a:solidFill>
                              <a:latin typeface="Cambria Math" panose="02040503050406030204" pitchFamily="18" charset="0"/>
                              <a:cs typeface="Times New Roman" panose="02020603050405020304" pitchFamily="18" charset="0"/>
                            </a:rPr>
                          </m:ctrlPr>
                        </m:funcPr>
                        <m:fName>
                          <m:r>
                            <m:rPr>
                              <m:sty m:val="p"/>
                            </m:rPr>
                            <a:rPr lang="en-US" sz="2400">
                              <a:solidFill>
                                <a:srgbClr val="FF0000"/>
                              </a:solidFill>
                              <a:latin typeface="Cambria Math"/>
                              <a:cs typeface="Times New Roman" panose="02020603050405020304" pitchFamily="18" charset="0"/>
                            </a:rPr>
                            <m:t>sin</m:t>
                          </m:r>
                        </m:fName>
                        <m:e>
                          <m:d>
                            <m:dPr>
                              <m:begChr m:val="["/>
                              <m:endChr m:val="]"/>
                              <m:ctrlPr>
                                <a:rPr lang="en-IN" sz="2400" i="1">
                                  <a:solidFill>
                                    <a:srgbClr val="FF0000"/>
                                  </a:solidFill>
                                  <a:latin typeface="Cambria Math" panose="02040503050406030204" pitchFamily="18" charset="0"/>
                                  <a:cs typeface="Times New Roman" panose="02020603050405020304" pitchFamily="18" charset="0"/>
                                </a:rPr>
                              </m:ctrlPr>
                            </m:dPr>
                            <m:e>
                              <m:rad>
                                <m:radPr>
                                  <m:degHide m:val="on"/>
                                  <m:ctrlPr>
                                    <a:rPr lang="en-IN" sz="2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US" sz="2400" i="1">
                                      <a:solidFill>
                                        <a:srgbClr val="FF0000"/>
                                      </a:solidFill>
                                      <a:latin typeface="Cambria Math"/>
                                      <a:ea typeface="Cambria Math" panose="02040503050406030204" pitchFamily="18" charset="0"/>
                                      <a:cs typeface="Times New Roman" panose="02020603050405020304" pitchFamily="18" charset="0"/>
                                    </a:rPr>
                                    <m:t>1</m:t>
                                  </m:r>
                                  <m:r>
                                    <a:rPr lang="en-IN" sz="2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2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IN" sz="2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𝜁</m:t>
                                      </m:r>
                                    </m:e>
                                    <m:sup>
                                      <m:r>
                                        <a:rPr lang="en-IN" sz="24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2</m:t>
                                      </m:r>
                                    </m:sup>
                                  </m:sSup>
                                </m:e>
                              </m:rad>
                              <m:sSub>
                                <m:sSubPr>
                                  <m:ctrlPr>
                                    <a:rPr lang="en-IN" sz="2400" i="1">
                                      <a:latin typeface="Cambria Math" panose="02040503050406030204" pitchFamily="18" charset="0"/>
                                      <a:cs typeface="Times New Roman" panose="02020603050405020304" pitchFamily="18" charset="0"/>
                                    </a:rPr>
                                  </m:ctrlPr>
                                </m:sSubPr>
                                <m:e>
                                  <m:r>
                                    <a:rPr lang="en-IN" sz="2400" i="1">
                                      <a:latin typeface="Cambria Math" panose="02040503050406030204" pitchFamily="18" charset="0"/>
                                      <a:ea typeface="Cambria Math" panose="02040503050406030204" pitchFamily="18" charset="0"/>
                                      <a:cs typeface="Times New Roman" panose="02020603050405020304" pitchFamily="18" charset="0"/>
                                    </a:rPr>
                                    <m:t>𝜔</m:t>
                                  </m:r>
                                </m:e>
                                <m:sub>
                                  <m:r>
                                    <a:rPr lang="en-IN" sz="2400" i="1">
                                      <a:latin typeface="Cambria Math" panose="02040503050406030204" pitchFamily="18" charset="0"/>
                                      <a:cs typeface="Times New Roman" panose="02020603050405020304" pitchFamily="18" charset="0"/>
                                    </a:rPr>
                                    <m:t>𝑛</m:t>
                                  </m:r>
                                </m:sub>
                              </m:sSub>
                              <m:r>
                                <a:rPr lang="en-US" sz="2400" i="1">
                                  <a:latin typeface="Cambria Math"/>
                                  <a:cs typeface="Times New Roman" panose="02020603050405020304" pitchFamily="18" charset="0"/>
                                </a:rPr>
                                <m:t>𝑡</m:t>
                              </m:r>
                              <m:r>
                                <a:rPr lang="en-US" sz="2400" i="1">
                                  <a:latin typeface="Cambria Math"/>
                                  <a:cs typeface="Times New Roman" panose="02020603050405020304" pitchFamily="18" charset="0"/>
                                </a:rPr>
                                <m:t>+</m:t>
                              </m:r>
                              <m:sSub>
                                <m:sSubPr>
                                  <m:ctrlPr>
                                    <a:rPr lang="en-US" sz="2400" i="1">
                                      <a:solidFill>
                                        <a:srgbClr val="FF0000"/>
                                      </a:solidFill>
                                      <a:latin typeface="Cambria Math" panose="02040503050406030204" pitchFamily="18" charset="0"/>
                                      <a:cs typeface="Times New Roman" panose="02020603050405020304" pitchFamily="18" charset="0"/>
                                    </a:rPr>
                                  </m:ctrlPr>
                                </m:sSubPr>
                                <m:e>
                                  <m:r>
                                    <a:rPr lang="en-US" sz="2400" i="1">
                                      <a:solidFill>
                                        <a:srgbClr val="FF0000"/>
                                      </a:solidFill>
                                      <a:latin typeface="Cambria Math"/>
                                      <a:ea typeface="Cambria Math"/>
                                      <a:cs typeface="Times New Roman" panose="02020603050405020304" pitchFamily="18" charset="0"/>
                                    </a:rPr>
                                    <m:t>𝜑</m:t>
                                  </m:r>
                                </m:e>
                                <m:sub>
                                  <m:r>
                                    <a:rPr lang="en-US" sz="2400" i="1">
                                      <a:solidFill>
                                        <a:srgbClr val="FF0000"/>
                                      </a:solidFill>
                                      <a:latin typeface="Cambria Math"/>
                                      <a:ea typeface="Cambria Math"/>
                                      <a:cs typeface="Times New Roman" panose="02020603050405020304" pitchFamily="18" charset="0"/>
                                    </a:rPr>
                                    <m:t>2</m:t>
                                  </m:r>
                                </m:sub>
                              </m:sSub>
                            </m:e>
                          </m:d>
                        </m:e>
                      </m:func>
                      <m:r>
                        <a:rPr lang="en-US" sz="2400" b="0" i="1" smtClean="0">
                          <a:solidFill>
                            <a:srgbClr val="FF0000"/>
                          </a:solidFill>
                          <a:latin typeface="Cambria Math"/>
                          <a:cs typeface="Times New Roman" panose="02020603050405020304" pitchFamily="18" charset="0"/>
                        </a:rPr>
                        <m:t>+</m:t>
                      </m:r>
                      <m:f>
                        <m:fPr>
                          <m:ctrlPr>
                            <a:rPr lang="en-US" sz="2400" i="1">
                              <a:solidFill>
                                <a:srgbClr val="FF0000"/>
                              </a:solidFill>
                              <a:latin typeface="Cambria Math" panose="02040503050406030204" pitchFamily="18" charset="0"/>
                              <a:cs typeface="Times New Roman" pitchFamily="18" charset="0"/>
                            </a:rPr>
                          </m:ctrlPr>
                        </m:fPr>
                        <m:num>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cs typeface="Times New Roman" pitchFamily="18" charset="0"/>
                                </a:rPr>
                                <m:t>𝑋</m:t>
                              </m:r>
                            </m:e>
                            <m:sub>
                              <m:r>
                                <m:rPr>
                                  <m:sty m:val="p"/>
                                </m:rPr>
                                <a:rPr lang="en-US" sz="2400">
                                  <a:solidFill>
                                    <a:srgbClr val="FF0000"/>
                                  </a:solidFill>
                                  <a:latin typeface="Cambria Math"/>
                                  <a:cs typeface="Times New Roman" pitchFamily="18" charset="0"/>
                                </a:rPr>
                                <m:t>st</m:t>
                              </m:r>
                            </m:sub>
                          </m:sSub>
                          <m:func>
                            <m:funcPr>
                              <m:ctrlPr>
                                <a:rPr lang="en-US" sz="2400" i="1">
                                  <a:solidFill>
                                    <a:srgbClr val="FF0000"/>
                                  </a:solidFill>
                                  <a:latin typeface="Cambria Math" panose="02040503050406030204" pitchFamily="18" charset="0"/>
                                  <a:cs typeface="Times New Roman" pitchFamily="18" charset="0"/>
                                </a:rPr>
                              </m:ctrlPr>
                            </m:funcPr>
                            <m:fName>
                              <m:r>
                                <m:rPr>
                                  <m:sty m:val="p"/>
                                </m:rPr>
                                <a:rPr lang="en-US" sz="2400">
                                  <a:solidFill>
                                    <a:srgbClr val="FF0000"/>
                                  </a:solidFill>
                                  <a:latin typeface="Cambria Math"/>
                                  <a:cs typeface="Times New Roman" pitchFamily="18" charset="0"/>
                                </a:rPr>
                                <m:t>sin</m:t>
                              </m:r>
                            </m:fName>
                            <m:e>
                              <m:d>
                                <m:dPr>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ea typeface="Cambria Math"/>
                                      <a:cs typeface="Times New Roman" pitchFamily="18" charset="0"/>
                                    </a:rPr>
                                    <m:t>𝜔</m:t>
                                  </m:r>
                                  <m:r>
                                    <a:rPr lang="en-US" sz="2400" i="1">
                                      <a:solidFill>
                                        <a:srgbClr val="FF0000"/>
                                      </a:solidFill>
                                      <a:latin typeface="Cambria Math"/>
                                      <a:ea typeface="Cambria Math"/>
                                      <a:cs typeface="Times New Roman" pitchFamily="18" charset="0"/>
                                    </a:rPr>
                                    <m:t>𝑡</m:t>
                                  </m:r>
                                  <m:r>
                                    <a:rPr lang="en-US" sz="2400" i="1">
                                      <a:solidFill>
                                        <a:srgbClr val="FF0000"/>
                                      </a:solidFill>
                                      <a:latin typeface="Cambria Math"/>
                                      <a:ea typeface="Cambria Math"/>
                                      <a:cs typeface="Times New Roman" pitchFamily="18" charset="0"/>
                                    </a:rPr>
                                    <m:t>−</m:t>
                                  </m:r>
                                  <m:r>
                                    <a:rPr lang="en-US" sz="2400" i="1">
                                      <a:solidFill>
                                        <a:srgbClr val="FF0000"/>
                                      </a:solidFill>
                                      <a:latin typeface="Cambria Math"/>
                                      <a:ea typeface="Cambria Math"/>
                                      <a:cs typeface="Times New Roman" pitchFamily="18" charset="0"/>
                                    </a:rPr>
                                    <m:t>𝜑</m:t>
                                  </m:r>
                                </m:e>
                              </m:d>
                            </m:e>
                          </m:func>
                        </m:num>
                        <m:den>
                          <m:rad>
                            <m:radPr>
                              <m:degHide m:val="on"/>
                              <m:ctrlPr>
                                <a:rPr lang="en-US" sz="2400" i="1">
                                  <a:solidFill>
                                    <a:srgbClr val="FF0000"/>
                                  </a:solidFill>
                                  <a:latin typeface="Cambria Math" panose="02040503050406030204" pitchFamily="18" charset="0"/>
                                  <a:cs typeface="Times New Roman" pitchFamily="18" charset="0"/>
                                </a:rPr>
                              </m:ctrlPr>
                            </m:radPr>
                            <m:deg/>
                            <m:e>
                              <m:sSup>
                                <m:sSupPr>
                                  <m:ctrlPr>
                                    <a:rPr lang="en-US" sz="2400" i="1">
                                      <a:solidFill>
                                        <a:srgbClr val="FF0000"/>
                                      </a:solidFill>
                                      <a:latin typeface="Cambria Math" panose="02040503050406030204" pitchFamily="18" charset="0"/>
                                      <a:cs typeface="Times New Roman" pitchFamily="18" charset="0"/>
                                    </a:rPr>
                                  </m:ctrlPr>
                                </m:sSupPr>
                                <m:e>
                                  <m:d>
                                    <m:dPr>
                                      <m:begChr m:val="["/>
                                      <m:endChr m:val="]"/>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cs typeface="Times New Roman" pitchFamily="18" charset="0"/>
                                        </a:rPr>
                                        <m:t>1−</m:t>
                                      </m:r>
                                      <m:sSup>
                                        <m:sSupPr>
                                          <m:ctrlPr>
                                            <a:rPr lang="en-US" sz="2400" i="1">
                                              <a:solidFill>
                                                <a:srgbClr val="FF0000"/>
                                              </a:solidFill>
                                              <a:latin typeface="Cambria Math" panose="02040503050406030204" pitchFamily="18" charset="0"/>
                                              <a:cs typeface="Times New Roman" pitchFamily="18" charset="0"/>
                                            </a:rPr>
                                          </m:ctrlPr>
                                        </m:sSupPr>
                                        <m:e>
                                          <m:d>
                                            <m:dPr>
                                              <m:ctrlPr>
                                                <a:rPr lang="en-US" sz="2400" i="1">
                                                  <a:solidFill>
                                                    <a:srgbClr val="FF0000"/>
                                                  </a:solidFill>
                                                  <a:latin typeface="Cambria Math" panose="02040503050406030204" pitchFamily="18" charset="0"/>
                                                  <a:cs typeface="Times New Roman" pitchFamily="18" charset="0"/>
                                                </a:rPr>
                                              </m:ctrlPr>
                                            </m:dPr>
                                            <m:e>
                                              <m:f>
                                                <m:fPr>
                                                  <m:type m:val="lin"/>
                                                  <m:ctrlPr>
                                                    <a:rPr lang="en-US" sz="2400" i="1" smtClean="0">
                                                      <a:solidFill>
                                                        <a:srgbClr val="FF0000"/>
                                                      </a:solidFill>
                                                      <a:latin typeface="Cambria Math" panose="02040503050406030204" pitchFamily="18" charset="0"/>
                                                      <a:cs typeface="Times New Roman" pitchFamily="18" charset="0"/>
                                                    </a:rPr>
                                                  </m:ctrlPr>
                                                </m:fPr>
                                                <m:num>
                                                  <m:r>
                                                    <a:rPr lang="en-US" sz="2400" i="1">
                                                      <a:solidFill>
                                                        <a:srgbClr val="FF0000"/>
                                                      </a:solidFill>
                                                      <a:latin typeface="Cambria Math"/>
                                                      <a:ea typeface="Cambria Math"/>
                                                      <a:cs typeface="Times New Roman" pitchFamily="18" charset="0"/>
                                                    </a:rPr>
                                                    <m:t>𝜔</m:t>
                                                  </m:r>
                                                </m:num>
                                                <m:den>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US" sz="2400" i="1">
                                                          <a:solidFill>
                                                            <a:srgbClr val="FF0000"/>
                                                          </a:solidFill>
                                                          <a:latin typeface="Cambria Math"/>
                                                          <a:cs typeface="Times New Roman" pitchFamily="18" charset="0"/>
                                                        </a:rPr>
                                                        <m:t>𝑛</m:t>
                                                      </m:r>
                                                    </m:sub>
                                                  </m:sSub>
                                                </m:den>
                                              </m:f>
                                            </m:e>
                                          </m:d>
                                        </m:e>
                                        <m:sup>
                                          <m:r>
                                            <a:rPr lang="en-US" sz="2400" i="1">
                                              <a:solidFill>
                                                <a:srgbClr val="FF0000"/>
                                              </a:solidFill>
                                              <a:latin typeface="Cambria Math"/>
                                              <a:cs typeface="Times New Roman" pitchFamily="18" charset="0"/>
                                            </a:rPr>
                                            <m:t>2</m:t>
                                          </m:r>
                                        </m:sup>
                                      </m:sSup>
                                    </m:e>
                                  </m:d>
                                </m:e>
                                <m:sup>
                                  <m:r>
                                    <a:rPr lang="en-US" sz="2400" i="1">
                                      <a:solidFill>
                                        <a:srgbClr val="FF0000"/>
                                      </a:solidFill>
                                      <a:latin typeface="Cambria Math"/>
                                      <a:cs typeface="Times New Roman" pitchFamily="18" charset="0"/>
                                    </a:rPr>
                                    <m:t>2</m:t>
                                  </m:r>
                                </m:sup>
                              </m:sSup>
                              <m:r>
                                <a:rPr lang="en-US" sz="2400" i="1">
                                  <a:solidFill>
                                    <a:srgbClr val="FF0000"/>
                                  </a:solidFill>
                                  <a:latin typeface="Cambria Math"/>
                                  <a:cs typeface="Times New Roman" pitchFamily="18" charset="0"/>
                                </a:rPr>
                                <m:t>+</m:t>
                              </m:r>
                              <m:sSup>
                                <m:sSupPr>
                                  <m:ctrlPr>
                                    <a:rPr lang="en-US" sz="2400" i="1">
                                      <a:solidFill>
                                        <a:srgbClr val="FF0000"/>
                                      </a:solidFill>
                                      <a:latin typeface="Cambria Math" panose="02040503050406030204" pitchFamily="18" charset="0"/>
                                      <a:cs typeface="Times New Roman" pitchFamily="18" charset="0"/>
                                    </a:rPr>
                                  </m:ctrlPr>
                                </m:sSupPr>
                                <m:e>
                                  <m:d>
                                    <m:dPr>
                                      <m:begChr m:val="["/>
                                      <m:endChr m:val="]"/>
                                      <m:ctrlPr>
                                        <a:rPr lang="en-US" sz="2400" i="1">
                                          <a:solidFill>
                                            <a:srgbClr val="FF0000"/>
                                          </a:solidFill>
                                          <a:latin typeface="Cambria Math" panose="02040503050406030204" pitchFamily="18" charset="0"/>
                                          <a:cs typeface="Times New Roman" pitchFamily="18" charset="0"/>
                                        </a:rPr>
                                      </m:ctrlPr>
                                    </m:dPr>
                                    <m:e>
                                      <m:r>
                                        <a:rPr lang="en-US" sz="2400" i="1">
                                          <a:latin typeface="Cambria Math"/>
                                        </a:rPr>
                                        <m:t>2</m:t>
                                      </m:r>
                                      <m:r>
                                        <a:rPr lang="en-US" sz="2400" i="1">
                                          <a:latin typeface="Cambria Math"/>
                                          <a:ea typeface="Cambria Math"/>
                                        </a:rPr>
                                        <m:t>𝜁</m:t>
                                      </m:r>
                                      <m:d>
                                        <m:dPr>
                                          <m:ctrlPr>
                                            <a:rPr lang="en-US" sz="2400" i="1">
                                              <a:latin typeface="Cambria Math" panose="02040503050406030204" pitchFamily="18" charset="0"/>
                                              <a:ea typeface="Cambria Math"/>
                                            </a:rPr>
                                          </m:ctrlPr>
                                        </m:dPr>
                                        <m:e>
                                          <m:f>
                                            <m:fPr>
                                              <m:type m:val="lin"/>
                                              <m:ctrlPr>
                                                <a:rPr lang="en-US" sz="2400" i="1">
                                                  <a:solidFill>
                                                    <a:srgbClr val="FF0000"/>
                                                  </a:solidFill>
                                                  <a:latin typeface="Cambria Math" panose="02040503050406030204" pitchFamily="18" charset="0"/>
                                                  <a:cs typeface="Times New Roman" pitchFamily="18" charset="0"/>
                                                </a:rPr>
                                              </m:ctrlPr>
                                            </m:fPr>
                                            <m:num>
                                              <m:r>
                                                <a:rPr lang="en-US" sz="2400" i="1">
                                                  <a:solidFill>
                                                    <a:srgbClr val="FF0000"/>
                                                  </a:solidFill>
                                                  <a:latin typeface="Cambria Math"/>
                                                  <a:ea typeface="Cambria Math"/>
                                                  <a:cs typeface="Times New Roman" pitchFamily="18" charset="0"/>
                                                </a:rPr>
                                                <m:t>𝜔</m:t>
                                              </m:r>
                                            </m:num>
                                            <m:den>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US" sz="2400" i="1">
                                                      <a:solidFill>
                                                        <a:srgbClr val="FF0000"/>
                                                      </a:solidFill>
                                                      <a:latin typeface="Cambria Math"/>
                                                      <a:cs typeface="Times New Roman" pitchFamily="18" charset="0"/>
                                                    </a:rPr>
                                                    <m:t>𝑛</m:t>
                                                  </m:r>
                                                </m:sub>
                                              </m:sSub>
                                            </m:den>
                                          </m:f>
                                        </m:e>
                                      </m:d>
                                    </m:e>
                                  </m:d>
                                </m:e>
                                <m:sup>
                                  <m:r>
                                    <a:rPr lang="en-US" sz="2400" i="1">
                                      <a:solidFill>
                                        <a:srgbClr val="FF0000"/>
                                      </a:solidFill>
                                      <a:latin typeface="Cambria Math"/>
                                      <a:cs typeface="Times New Roman" pitchFamily="18" charset="0"/>
                                    </a:rPr>
                                    <m:t>2</m:t>
                                  </m:r>
                                </m:sup>
                              </m:sSup>
                            </m:e>
                          </m:rad>
                        </m:den>
                      </m:f>
                    </m:oMath>
                  </m:oMathPara>
                </a14:m>
                <a:endParaRPr lang="en-US" sz="2400" dirty="0">
                  <a:latin typeface="Times New Roman" pitchFamily="18" charset="0"/>
                  <a:cs typeface="Times New Roman" pitchFamily="18" charset="0"/>
                </a:endParaRPr>
              </a:p>
            </p:txBody>
          </p:sp>
        </mc:Choice>
        <mc:Fallback xmlns="">
          <p:sp>
            <p:nvSpPr>
              <p:cNvPr id="21" name="Rectangle 20"/>
              <p:cNvSpPr>
                <a:spLocks noRot="1" noChangeAspect="1" noMove="1" noResize="1" noEditPoints="1" noAdjustHandles="1" noChangeArrowheads="1" noChangeShapeType="1" noTextEdit="1"/>
              </p:cNvSpPr>
              <p:nvPr/>
            </p:nvSpPr>
            <p:spPr>
              <a:xfrm>
                <a:off x="1362013" y="2125293"/>
                <a:ext cx="9645291" cy="3534750"/>
              </a:xfrm>
              <a:prstGeom prst="rect">
                <a:avLst/>
              </a:prstGeom>
              <a:blipFill rotWithShape="1">
                <a:blip r:embed="rId3"/>
                <a:stretch>
                  <a:fillRect l="-948" t="-691"/>
                </a:stretch>
              </a:blipFill>
            </p:spPr>
            <p:txBody>
              <a:bodyPr/>
              <a:lstStyle/>
              <a:p>
                <a:r>
                  <a:rPr lang="en-IN">
                    <a:noFill/>
                  </a:rPr>
                  <a:t> </a:t>
                </a:r>
              </a:p>
            </p:txBody>
          </p:sp>
        </mc:Fallback>
      </mc:AlternateContent>
      <p:sp>
        <p:nvSpPr>
          <p:cNvPr id="22" name="Rectangle 21"/>
          <p:cNvSpPr/>
          <p:nvPr/>
        </p:nvSpPr>
        <p:spPr>
          <a:xfrm>
            <a:off x="577052" y="5611517"/>
            <a:ext cx="11416245" cy="830997"/>
          </a:xfrm>
          <a:prstGeom prst="rect">
            <a:avLst/>
          </a:prstGeom>
        </p:spPr>
        <p:txBody>
          <a:bodyPr wrap="square">
            <a:spAutoFit/>
          </a:bodyPr>
          <a:lstStyle/>
          <a:p>
            <a:r>
              <a:rPr lang="en-US" sz="2400" dirty="0">
                <a:latin typeface="Times New Roman" pitchFamily="18" charset="0"/>
                <a:cs typeface="Times New Roman" pitchFamily="18" charset="0"/>
              </a:rPr>
              <a:t>The first part (complementary solution ) is called transient vibration and the second part (particular solution) is called steady state vibration.</a:t>
            </a:r>
          </a:p>
        </p:txBody>
      </p:sp>
    </p:spTree>
    <p:extLst>
      <p:ext uri="{BB962C8B-B14F-4D97-AF65-F5344CB8AC3E}">
        <p14:creationId xmlns:p14="http://schemas.microsoft.com/office/powerpoint/2010/main" val="1258588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Forced vibration with harmonic excitation (Solution)</a:t>
            </a:r>
            <a:endParaRPr lang="en-IN" sz="3600" dirty="0">
              <a:solidFill>
                <a:srgbClr val="7030A0"/>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949" y="1129848"/>
            <a:ext cx="3929601" cy="522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633551" y="1220749"/>
            <a:ext cx="7359746" cy="3046988"/>
          </a:xfrm>
          <a:prstGeom prst="rect">
            <a:avLst/>
          </a:prstGeom>
        </p:spPr>
        <p:txBody>
          <a:bodyPr wrap="square">
            <a:spAutoFit/>
          </a:bodyPr>
          <a:lstStyle/>
          <a:p>
            <a:r>
              <a:rPr lang="en-US" sz="2400" dirty="0">
                <a:latin typeface="Times New Roman" pitchFamily="18" charset="0"/>
                <a:cs typeface="Times New Roman" pitchFamily="18" charset="0"/>
              </a:rPr>
              <a:t>The first part (complementary solution ) decays with time and vanishes ultimately called transient vibration. The second part (particular integral) is having a constant amplitude therefore, called steady state vibration.</a:t>
            </a:r>
          </a:p>
          <a:p>
            <a:endParaRPr lang="en-US" sz="2400" dirty="0">
              <a:latin typeface="Times New Roman" pitchFamily="18" charset="0"/>
              <a:cs typeface="Times New Roman" pitchFamily="18" charset="0"/>
            </a:endParaRPr>
          </a:p>
          <a:p>
            <a:pPr marL="342900" indent="-342900">
              <a:buFont typeface="Arial" panose="020B0604020202020204" pitchFamily="34" charset="0"/>
              <a:buChar char="•"/>
            </a:pPr>
            <a:r>
              <a:rPr lang="en-US" sz="2400" dirty="0">
                <a:solidFill>
                  <a:srgbClr val="FF0000"/>
                </a:solidFill>
                <a:latin typeface="Times New Roman" pitchFamily="18" charset="0"/>
                <a:cs typeface="Times New Roman" pitchFamily="18" charset="0"/>
              </a:rPr>
              <a:t>Transient vibration take place at damped natural frequency and the steady state vibration occurs at the frequency of excitation of the system.</a:t>
            </a:r>
          </a:p>
        </p:txBody>
      </p:sp>
      <mc:AlternateContent xmlns:mc="http://schemas.openxmlformats.org/markup-compatibility/2006" xmlns:a14="http://schemas.microsoft.com/office/drawing/2010/main">
        <mc:Choice Requires="a14">
          <p:sp>
            <p:nvSpPr>
              <p:cNvPr id="3" name="Rectangle 2"/>
              <p:cNvSpPr/>
              <p:nvPr/>
            </p:nvSpPr>
            <p:spPr>
              <a:xfrm>
                <a:off x="4695568" y="4481731"/>
                <a:ext cx="7035113" cy="1944828"/>
              </a:xfrm>
              <a:prstGeom prst="rect">
                <a:avLst/>
              </a:prstGeom>
            </p:spPr>
            <p:txBody>
              <a:bodyPr wrap="square">
                <a:spAutoFit/>
              </a:bodyPr>
              <a:lstStyle/>
              <a:p>
                <a:r>
                  <a:rPr lang="en-US" dirty="0">
                    <a:latin typeface="Times New Roman" pitchFamily="18" charset="0"/>
                    <a:cs typeface="Times New Roman" pitchFamily="18" charset="0"/>
                  </a:rPr>
                  <a:t>In case of forced vibration without damping </a:t>
                </a:r>
              </a:p>
              <a:p>
                <a:pPr/>
                <a14:m>
                  <m:oMathPara xmlns:m="http://schemas.openxmlformats.org/officeDocument/2006/math">
                    <m:oMathParaPr>
                      <m:jc m:val="centerGroup"/>
                    </m:oMathParaPr>
                    <m:oMath xmlns:m="http://schemas.openxmlformats.org/officeDocument/2006/math">
                      <m:r>
                        <a:rPr lang="en-US" i="1">
                          <a:latin typeface="Cambria Math"/>
                          <a:cs typeface="Times New Roman" pitchFamily="18" charset="0"/>
                        </a:rPr>
                        <m:t>𝑥</m:t>
                      </m:r>
                      <m:r>
                        <a:rPr lang="en-US" i="1">
                          <a:latin typeface="Cambria Math"/>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a:cs typeface="Times New Roman" pitchFamily="18" charset="0"/>
                            </a:rPr>
                            <m:t>𝐴</m:t>
                          </m:r>
                        </m:e>
                        <m:sub>
                          <m:r>
                            <a:rPr lang="en-US" i="1">
                              <a:latin typeface="Cambria Math"/>
                              <a:cs typeface="Times New Roman" pitchFamily="18" charset="0"/>
                            </a:rPr>
                            <m:t>2</m:t>
                          </m:r>
                        </m:sub>
                      </m:sSub>
                      <m:func>
                        <m:funcPr>
                          <m:ctrlPr>
                            <a:rPr lang="en-IN" i="1">
                              <a:solidFill>
                                <a:srgbClr val="FF0000"/>
                              </a:solidFill>
                              <a:latin typeface="Cambria Math" panose="02040503050406030204" pitchFamily="18" charset="0"/>
                              <a:cs typeface="Times New Roman" panose="02020603050405020304" pitchFamily="18" charset="0"/>
                            </a:rPr>
                          </m:ctrlPr>
                        </m:funcPr>
                        <m:fName>
                          <m:r>
                            <m:rPr>
                              <m:sty m:val="p"/>
                            </m:rPr>
                            <a:rPr lang="en-US">
                              <a:solidFill>
                                <a:srgbClr val="FF0000"/>
                              </a:solidFill>
                              <a:latin typeface="Cambria Math"/>
                              <a:cs typeface="Times New Roman" panose="02020603050405020304" pitchFamily="18" charset="0"/>
                            </a:rPr>
                            <m:t>sin</m:t>
                          </m:r>
                        </m:fName>
                        <m:e>
                          <m:d>
                            <m:dPr>
                              <m:begChr m:val="["/>
                              <m:endChr m:val="]"/>
                              <m:ctrlPr>
                                <a:rPr lang="en-IN" i="1">
                                  <a:solidFill>
                                    <a:srgbClr val="FF0000"/>
                                  </a:solidFill>
                                  <a:latin typeface="Cambria Math" panose="02040503050406030204" pitchFamily="18" charset="0"/>
                                  <a:cs typeface="Times New Roman" panose="02020603050405020304" pitchFamily="18" charset="0"/>
                                </a:rPr>
                              </m:ctrlPr>
                            </m:dPr>
                            <m:e>
                              <m:sSub>
                                <m:sSubPr>
                                  <m:ctrlPr>
                                    <a:rPr lang="en-IN"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ea typeface="Cambria Math" panose="02040503050406030204" pitchFamily="18" charset="0"/>
                                      <a:cs typeface="Times New Roman" panose="02020603050405020304" pitchFamily="18" charset="0"/>
                                    </a:rPr>
                                    <m:t>𝜔</m:t>
                                  </m:r>
                                </m:e>
                                <m:sub>
                                  <m:r>
                                    <a:rPr lang="en-IN" i="1">
                                      <a:latin typeface="Cambria Math" panose="02040503050406030204" pitchFamily="18" charset="0"/>
                                      <a:cs typeface="Times New Roman" panose="02020603050405020304" pitchFamily="18" charset="0"/>
                                    </a:rPr>
                                    <m:t>𝑛</m:t>
                                  </m:r>
                                </m:sub>
                              </m:sSub>
                              <m:r>
                                <a:rPr lang="en-US" i="1">
                                  <a:latin typeface="Cambria Math"/>
                                  <a:cs typeface="Times New Roman" panose="02020603050405020304" pitchFamily="18" charset="0"/>
                                </a:rPr>
                                <m:t>𝑡</m:t>
                              </m:r>
                              <m:r>
                                <a:rPr lang="en-US" i="1">
                                  <a:latin typeface="Cambria Math"/>
                                  <a:cs typeface="Times New Roman" panose="02020603050405020304" pitchFamily="18" charset="0"/>
                                </a:rPr>
                                <m:t>+</m:t>
                              </m:r>
                              <m:sSub>
                                <m:sSubPr>
                                  <m:ctrlPr>
                                    <a:rPr lang="en-US" i="1">
                                      <a:solidFill>
                                        <a:srgbClr val="FF0000"/>
                                      </a:solidFill>
                                      <a:latin typeface="Cambria Math" panose="02040503050406030204" pitchFamily="18" charset="0"/>
                                      <a:cs typeface="Times New Roman" panose="02020603050405020304" pitchFamily="18" charset="0"/>
                                    </a:rPr>
                                  </m:ctrlPr>
                                </m:sSubPr>
                                <m:e>
                                  <m:r>
                                    <a:rPr lang="en-US" i="1">
                                      <a:solidFill>
                                        <a:srgbClr val="FF0000"/>
                                      </a:solidFill>
                                      <a:latin typeface="Cambria Math"/>
                                      <a:ea typeface="Cambria Math"/>
                                      <a:cs typeface="Times New Roman" panose="02020603050405020304" pitchFamily="18" charset="0"/>
                                    </a:rPr>
                                    <m:t>𝜑</m:t>
                                  </m:r>
                                </m:e>
                                <m:sub>
                                  <m:r>
                                    <a:rPr lang="en-US" i="1">
                                      <a:solidFill>
                                        <a:srgbClr val="FF0000"/>
                                      </a:solidFill>
                                      <a:latin typeface="Cambria Math"/>
                                      <a:ea typeface="Cambria Math"/>
                                      <a:cs typeface="Times New Roman" panose="02020603050405020304" pitchFamily="18" charset="0"/>
                                    </a:rPr>
                                    <m:t>2</m:t>
                                  </m:r>
                                </m:sub>
                              </m:sSub>
                            </m:e>
                          </m:d>
                        </m:e>
                      </m:func>
                      <m:r>
                        <a:rPr lang="en-US" i="1">
                          <a:solidFill>
                            <a:srgbClr val="FF0000"/>
                          </a:solidFill>
                          <a:latin typeface="Cambria Math"/>
                          <a:cs typeface="Times New Roman" panose="02020603050405020304" pitchFamily="18" charset="0"/>
                        </a:rPr>
                        <m:t>+</m:t>
                      </m:r>
                      <m:f>
                        <m:fPr>
                          <m:ctrlPr>
                            <a:rPr lang="en-US" i="1">
                              <a:solidFill>
                                <a:srgbClr val="FF0000"/>
                              </a:solidFill>
                              <a:latin typeface="Cambria Math" panose="02040503050406030204" pitchFamily="18" charset="0"/>
                              <a:cs typeface="Times New Roman" panose="02020603050405020304" pitchFamily="18" charset="0"/>
                            </a:rPr>
                          </m:ctrlPr>
                        </m:fPr>
                        <m:num>
                          <m:sSub>
                            <m:sSubPr>
                              <m:ctrlPr>
                                <a:rPr lang="en-US" i="1">
                                  <a:solidFill>
                                    <a:srgbClr val="FF0000"/>
                                  </a:solidFill>
                                  <a:latin typeface="Cambria Math" panose="02040503050406030204" pitchFamily="18" charset="0"/>
                                  <a:cs typeface="Times New Roman" panose="02020603050405020304" pitchFamily="18" charset="0"/>
                                </a:rPr>
                              </m:ctrlPr>
                            </m:sSubPr>
                            <m:e>
                              <m:r>
                                <a:rPr lang="en-US" i="1">
                                  <a:solidFill>
                                    <a:srgbClr val="FF0000"/>
                                  </a:solidFill>
                                  <a:latin typeface="Cambria Math"/>
                                  <a:cs typeface="Times New Roman" panose="02020603050405020304" pitchFamily="18" charset="0"/>
                                </a:rPr>
                                <m:t>𝑋</m:t>
                              </m:r>
                            </m:e>
                            <m:sub>
                              <m:r>
                                <m:rPr>
                                  <m:sty m:val="p"/>
                                </m:rPr>
                                <a:rPr lang="en-US">
                                  <a:solidFill>
                                    <a:srgbClr val="FF0000"/>
                                  </a:solidFill>
                                  <a:latin typeface="Cambria Math"/>
                                  <a:cs typeface="Times New Roman" pitchFamily="18" charset="0"/>
                                </a:rPr>
                                <m:t>st</m:t>
                              </m:r>
                            </m:sub>
                          </m:sSub>
                          <m:func>
                            <m:funcPr>
                              <m:ctrlPr>
                                <a:rPr lang="en-US" i="1">
                                  <a:solidFill>
                                    <a:srgbClr val="FF0000"/>
                                  </a:solidFill>
                                  <a:latin typeface="Cambria Math" panose="02040503050406030204" pitchFamily="18" charset="0"/>
                                  <a:cs typeface="Times New Roman" pitchFamily="18" charset="0"/>
                                </a:rPr>
                              </m:ctrlPr>
                            </m:funcPr>
                            <m:fName>
                              <m:r>
                                <m:rPr>
                                  <m:sty m:val="p"/>
                                </m:rPr>
                                <a:rPr lang="en-US">
                                  <a:solidFill>
                                    <a:srgbClr val="FF0000"/>
                                  </a:solidFill>
                                  <a:latin typeface="Cambria Math"/>
                                  <a:cs typeface="Times New Roman" pitchFamily="18" charset="0"/>
                                </a:rPr>
                                <m:t>sin</m:t>
                              </m:r>
                            </m:fName>
                            <m:e>
                              <m:d>
                                <m:dPr>
                                  <m:ctrlPr>
                                    <a:rPr lang="en-US" i="1">
                                      <a:solidFill>
                                        <a:srgbClr val="FF0000"/>
                                      </a:solidFill>
                                      <a:latin typeface="Cambria Math" panose="02040503050406030204" pitchFamily="18" charset="0"/>
                                      <a:cs typeface="Times New Roman" pitchFamily="18" charset="0"/>
                                    </a:rPr>
                                  </m:ctrlPr>
                                </m:dPr>
                                <m:e>
                                  <m:r>
                                    <a:rPr lang="en-US" i="1">
                                      <a:solidFill>
                                        <a:srgbClr val="FF0000"/>
                                      </a:solidFill>
                                      <a:latin typeface="Cambria Math"/>
                                      <a:ea typeface="Cambria Math"/>
                                      <a:cs typeface="Times New Roman" pitchFamily="18" charset="0"/>
                                    </a:rPr>
                                    <m:t>𝜔</m:t>
                                  </m:r>
                                  <m:r>
                                    <a:rPr lang="en-US" i="1">
                                      <a:solidFill>
                                        <a:srgbClr val="FF0000"/>
                                      </a:solidFill>
                                      <a:latin typeface="Cambria Math"/>
                                      <a:ea typeface="Cambria Math"/>
                                      <a:cs typeface="Times New Roman" pitchFamily="18" charset="0"/>
                                    </a:rPr>
                                    <m:t>𝑡</m:t>
                                  </m:r>
                                  <m:r>
                                    <a:rPr lang="en-US" i="1">
                                      <a:solidFill>
                                        <a:srgbClr val="FF0000"/>
                                      </a:solidFill>
                                      <a:latin typeface="Cambria Math"/>
                                      <a:ea typeface="Cambria Math"/>
                                      <a:cs typeface="Times New Roman" pitchFamily="18" charset="0"/>
                                    </a:rPr>
                                    <m:t>−</m:t>
                                  </m:r>
                                  <m:r>
                                    <a:rPr lang="en-US" i="1">
                                      <a:solidFill>
                                        <a:srgbClr val="FF0000"/>
                                      </a:solidFill>
                                      <a:latin typeface="Cambria Math"/>
                                      <a:ea typeface="Cambria Math"/>
                                      <a:cs typeface="Times New Roman" pitchFamily="18" charset="0"/>
                                    </a:rPr>
                                    <m:t>𝜑</m:t>
                                  </m:r>
                                </m:e>
                              </m:d>
                            </m:e>
                          </m:func>
                        </m:num>
                        <m:den>
                          <m:d>
                            <m:dPr>
                              <m:begChr m:val="["/>
                              <m:endChr m:val="]"/>
                              <m:ctrlPr>
                                <a:rPr lang="en-US" i="1">
                                  <a:solidFill>
                                    <a:srgbClr val="FF0000"/>
                                  </a:solidFill>
                                  <a:latin typeface="Cambria Math" panose="02040503050406030204" pitchFamily="18" charset="0"/>
                                  <a:ea typeface="Cambria Math"/>
                                  <a:cs typeface="Times New Roman" pitchFamily="18" charset="0"/>
                                </a:rPr>
                              </m:ctrlPr>
                            </m:dPr>
                            <m:e>
                              <m:r>
                                <a:rPr lang="en-US" i="1">
                                  <a:solidFill>
                                    <a:srgbClr val="FF0000"/>
                                  </a:solidFill>
                                  <a:latin typeface="Cambria Math"/>
                                  <a:cs typeface="Times New Roman" pitchFamily="18" charset="0"/>
                                </a:rPr>
                                <m:t>1−</m:t>
                              </m:r>
                              <m:sSup>
                                <m:sSupPr>
                                  <m:ctrlPr>
                                    <a:rPr lang="en-US" i="1">
                                      <a:solidFill>
                                        <a:srgbClr val="FF0000"/>
                                      </a:solidFill>
                                      <a:latin typeface="Cambria Math" panose="02040503050406030204" pitchFamily="18" charset="0"/>
                                      <a:cs typeface="Times New Roman" pitchFamily="18" charset="0"/>
                                    </a:rPr>
                                  </m:ctrlPr>
                                </m:sSupPr>
                                <m:e>
                                  <m:d>
                                    <m:dPr>
                                      <m:ctrlPr>
                                        <a:rPr lang="en-US" i="1">
                                          <a:solidFill>
                                            <a:srgbClr val="FF0000"/>
                                          </a:solidFill>
                                          <a:latin typeface="Cambria Math" panose="02040503050406030204" pitchFamily="18" charset="0"/>
                                          <a:cs typeface="Times New Roman" pitchFamily="18" charset="0"/>
                                        </a:rPr>
                                      </m:ctrlPr>
                                    </m:dPr>
                                    <m:e>
                                      <m:f>
                                        <m:fPr>
                                          <m:type m:val="lin"/>
                                          <m:ctrlPr>
                                            <a:rPr lang="en-US" i="1">
                                              <a:solidFill>
                                                <a:srgbClr val="FF0000"/>
                                              </a:solidFill>
                                              <a:latin typeface="Cambria Math" panose="02040503050406030204" pitchFamily="18" charset="0"/>
                                              <a:cs typeface="Times New Roman" pitchFamily="18" charset="0"/>
                                            </a:rPr>
                                          </m:ctrlPr>
                                        </m:fPr>
                                        <m:num>
                                          <m:r>
                                            <a:rPr lang="en-US" i="1">
                                              <a:solidFill>
                                                <a:srgbClr val="FF0000"/>
                                              </a:solidFill>
                                              <a:latin typeface="Cambria Math"/>
                                              <a:ea typeface="Cambria Math"/>
                                              <a:cs typeface="Times New Roman" pitchFamily="18" charset="0"/>
                                            </a:rPr>
                                            <m:t>𝜔</m:t>
                                          </m:r>
                                        </m:num>
                                        <m:den>
                                          <m:sSub>
                                            <m:sSubPr>
                                              <m:ctrlPr>
                                                <a:rPr lang="en-US" i="1">
                                                  <a:solidFill>
                                                    <a:srgbClr val="FF0000"/>
                                                  </a:solidFill>
                                                  <a:latin typeface="Cambria Math" panose="02040503050406030204" pitchFamily="18" charset="0"/>
                                                  <a:cs typeface="Times New Roman" pitchFamily="18" charset="0"/>
                                                </a:rPr>
                                              </m:ctrlPr>
                                            </m:sSubPr>
                                            <m:e>
                                              <m:r>
                                                <a:rPr lang="en-US" i="1">
                                                  <a:solidFill>
                                                    <a:srgbClr val="FF0000"/>
                                                  </a:solidFill>
                                                  <a:latin typeface="Cambria Math"/>
                                                  <a:ea typeface="Cambria Math"/>
                                                  <a:cs typeface="Times New Roman" pitchFamily="18" charset="0"/>
                                                </a:rPr>
                                                <m:t>𝜔</m:t>
                                              </m:r>
                                            </m:e>
                                            <m:sub>
                                              <m:r>
                                                <a:rPr lang="en-US" i="1">
                                                  <a:solidFill>
                                                    <a:srgbClr val="FF0000"/>
                                                  </a:solidFill>
                                                  <a:latin typeface="Cambria Math"/>
                                                  <a:cs typeface="Times New Roman" pitchFamily="18" charset="0"/>
                                                </a:rPr>
                                                <m:t>𝑛</m:t>
                                              </m:r>
                                            </m:sub>
                                          </m:sSub>
                                        </m:den>
                                      </m:f>
                                    </m:e>
                                  </m:d>
                                </m:e>
                                <m:sup>
                                  <m:r>
                                    <a:rPr lang="en-US" i="1">
                                      <a:solidFill>
                                        <a:srgbClr val="FF0000"/>
                                      </a:solidFill>
                                      <a:latin typeface="Cambria Math"/>
                                      <a:cs typeface="Times New Roman" pitchFamily="18" charset="0"/>
                                    </a:rPr>
                                    <m:t>2</m:t>
                                  </m:r>
                                </m:sup>
                              </m:sSup>
                            </m:e>
                          </m:d>
                        </m:den>
                      </m:f>
                    </m:oMath>
                  </m:oMathPara>
                </a14:m>
                <a:endParaRPr lang="en-IN" dirty="0">
                  <a:solidFill>
                    <a:srgbClr val="FF0000"/>
                  </a:solidFill>
                  <a:latin typeface="Times New Roman" pitchFamily="18" charset="0"/>
                  <a:cs typeface="Times New Roman" pitchFamily="18" charset="0"/>
                </a:endParaRPr>
              </a:p>
              <a:p>
                <a:r>
                  <a:rPr lang="en-IN" dirty="0">
                    <a:latin typeface="Times New Roman" panose="02020603050405020304" pitchFamily="18" charset="0"/>
                    <a:cs typeface="Times New Roman" panose="02020603050405020304" pitchFamily="18" charset="0"/>
                  </a:rPr>
                  <a:t>where, </a:t>
                </a:r>
                <a14:m>
                  <m:oMath xmlns:m="http://schemas.openxmlformats.org/officeDocument/2006/math">
                    <m:r>
                      <a:rPr lang="en-US" i="1">
                        <a:solidFill>
                          <a:srgbClr val="FF0000"/>
                        </a:solidFill>
                        <a:latin typeface="Cambria Math"/>
                        <a:ea typeface="Cambria Math"/>
                        <a:cs typeface="Times New Roman" pitchFamily="18" charset="0"/>
                      </a:rPr>
                      <m:t>𝜑</m:t>
                    </m:r>
                  </m:oMath>
                </a14:m>
                <a:r>
                  <a:rPr lang="en-IN" dirty="0">
                    <a:latin typeface="Times New Roman" panose="02020603050405020304" pitchFamily="18" charset="0"/>
                    <a:cs typeface="Times New Roman" panose="02020603050405020304" pitchFamily="18" charset="0"/>
                  </a:rPr>
                  <a:t> is either </a:t>
                </a:r>
                <a14:m>
                  <m:oMath xmlns:m="http://schemas.openxmlformats.org/officeDocument/2006/math">
                    <m:sSup>
                      <m:sSupPr>
                        <m:ctrlPr>
                          <a:rPr lang="en-IN" i="1">
                            <a:solidFill>
                              <a:srgbClr val="FF0000"/>
                            </a:solidFill>
                            <a:latin typeface="Cambria Math" panose="02040503050406030204" pitchFamily="18" charset="0"/>
                            <a:cs typeface="Times New Roman" panose="02020603050405020304" pitchFamily="18" charset="0"/>
                          </a:rPr>
                        </m:ctrlPr>
                      </m:sSupPr>
                      <m:e>
                        <m:r>
                          <a:rPr lang="en-IN" i="1">
                            <a:solidFill>
                              <a:srgbClr val="FF0000"/>
                            </a:solidFill>
                            <a:latin typeface="Cambria Math" panose="02040503050406030204" pitchFamily="18" charset="0"/>
                            <a:cs typeface="Times New Roman" panose="02020603050405020304" pitchFamily="18" charset="0"/>
                          </a:rPr>
                          <m:t>0</m:t>
                        </m:r>
                      </m:e>
                      <m:sup>
                        <m:r>
                          <a:rPr lang="en-IN" i="1">
                            <a:solidFill>
                              <a:srgbClr val="FF0000"/>
                            </a:solidFill>
                            <a:latin typeface="Cambria Math" panose="02040503050406030204" pitchFamily="18" charset="0"/>
                            <a:cs typeface="Times New Roman" panose="02020603050405020304" pitchFamily="18" charset="0"/>
                          </a:rPr>
                          <m:t>0</m:t>
                        </m:r>
                      </m:sup>
                    </m:sSup>
                  </m:oMath>
                </a14:m>
                <a:r>
                  <a:rPr lang="en-IN" dirty="0">
                    <a:latin typeface="Times New Roman" panose="02020603050405020304" pitchFamily="18" charset="0"/>
                    <a:cs typeface="Times New Roman" panose="02020603050405020304" pitchFamily="18" charset="0"/>
                  </a:rPr>
                  <a:t> or </a:t>
                </a:r>
                <a14:m>
                  <m:oMath xmlns:m="http://schemas.openxmlformats.org/officeDocument/2006/math">
                    <m:sSup>
                      <m:sSupPr>
                        <m:ctrlPr>
                          <a:rPr lang="en-IN" i="1">
                            <a:solidFill>
                              <a:srgbClr val="FF0000"/>
                            </a:solidFill>
                            <a:latin typeface="Cambria Math" panose="02040503050406030204" pitchFamily="18" charset="0"/>
                            <a:cs typeface="Times New Roman" panose="02020603050405020304" pitchFamily="18" charset="0"/>
                          </a:rPr>
                        </m:ctrlPr>
                      </m:sSupPr>
                      <m:e>
                        <m:r>
                          <a:rPr lang="en-IN" i="1">
                            <a:solidFill>
                              <a:srgbClr val="FF0000"/>
                            </a:solidFill>
                            <a:latin typeface="Cambria Math" panose="02040503050406030204" pitchFamily="18" charset="0"/>
                            <a:cs typeface="Times New Roman" panose="02020603050405020304" pitchFamily="18" charset="0"/>
                          </a:rPr>
                          <m:t>180</m:t>
                        </m:r>
                      </m:e>
                      <m:sup>
                        <m:r>
                          <a:rPr lang="en-IN" i="1">
                            <a:solidFill>
                              <a:srgbClr val="FF0000"/>
                            </a:solidFill>
                            <a:latin typeface="Cambria Math" panose="02040503050406030204" pitchFamily="18" charset="0"/>
                            <a:cs typeface="Times New Roman" panose="02020603050405020304" pitchFamily="18" charset="0"/>
                          </a:rPr>
                          <m:t>0</m:t>
                        </m:r>
                      </m:sup>
                    </m:sSup>
                  </m:oMath>
                </a14:m>
                <a:r>
                  <a:rPr lang="en-IN" dirty="0">
                    <a:latin typeface="Times New Roman" panose="02020603050405020304" pitchFamily="18" charset="0"/>
                    <a:cs typeface="Times New Roman" panose="02020603050405020304" pitchFamily="18" charset="0"/>
                  </a:rPr>
                  <a:t> depending on whether </a:t>
                </a:r>
                <a14:m>
                  <m:oMath xmlns:m="http://schemas.openxmlformats.org/officeDocument/2006/math">
                    <m:r>
                      <a:rPr lang="en-US" i="1">
                        <a:solidFill>
                          <a:srgbClr val="FF0000"/>
                        </a:solidFill>
                        <a:latin typeface="Cambria Math"/>
                        <a:ea typeface="Cambria Math"/>
                        <a:cs typeface="Times New Roman" pitchFamily="18" charset="0"/>
                      </a:rPr>
                      <m:t>𝜔</m:t>
                    </m:r>
                    <m:r>
                      <a:rPr lang="en-IN" i="1">
                        <a:solidFill>
                          <a:srgbClr val="FF0000"/>
                        </a:solidFill>
                        <a:latin typeface="Cambria Math" panose="02040503050406030204" pitchFamily="18" charset="0"/>
                        <a:ea typeface="Cambria Math"/>
                        <a:cs typeface="Times New Roman" pitchFamily="18" charset="0"/>
                      </a:rPr>
                      <m:t>&lt;</m:t>
                    </m:r>
                    <m:sSub>
                      <m:sSubPr>
                        <m:ctrlPr>
                          <a:rPr lang="en-IN"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ea typeface="Cambria Math" panose="02040503050406030204" pitchFamily="18" charset="0"/>
                            <a:cs typeface="Times New Roman" panose="02020603050405020304" pitchFamily="18" charset="0"/>
                          </a:rPr>
                          <m:t>𝜔</m:t>
                        </m:r>
                      </m:e>
                      <m:sub>
                        <m:r>
                          <a:rPr lang="en-IN" i="1">
                            <a:latin typeface="Cambria Math" panose="02040503050406030204" pitchFamily="18" charset="0"/>
                            <a:cs typeface="Times New Roman" panose="02020603050405020304" pitchFamily="18" charset="0"/>
                          </a:rPr>
                          <m:t>𝑛</m:t>
                        </m:r>
                      </m:sub>
                    </m:sSub>
                  </m:oMath>
                </a14:m>
                <a:r>
                  <a:rPr lang="en-IN" dirty="0">
                    <a:latin typeface="Times New Roman" panose="02020603050405020304" pitchFamily="18" charset="0"/>
                    <a:cs typeface="Times New Roman" panose="02020603050405020304" pitchFamily="18" charset="0"/>
                  </a:rPr>
                  <a:t> or </a:t>
                </a:r>
                <a14:m>
                  <m:oMath xmlns:m="http://schemas.openxmlformats.org/officeDocument/2006/math">
                    <m:sSub>
                      <m:sSubPr>
                        <m:ctrlPr>
                          <a:rPr lang="en-IN" i="1">
                            <a:latin typeface="Cambria Math" panose="02040503050406030204" pitchFamily="18" charset="0"/>
                            <a:cs typeface="Times New Roman" panose="02020603050405020304" pitchFamily="18" charset="0"/>
                          </a:rPr>
                        </m:ctrlPr>
                      </m:sSubPr>
                      <m:e>
                        <m:r>
                          <a:rPr lang="en-US" i="1">
                            <a:solidFill>
                              <a:srgbClr val="FF0000"/>
                            </a:solidFill>
                            <a:latin typeface="Cambria Math"/>
                            <a:ea typeface="Cambria Math"/>
                            <a:cs typeface="Times New Roman" pitchFamily="18" charset="0"/>
                          </a:rPr>
                          <m:t>𝜔</m:t>
                        </m:r>
                        <m:r>
                          <a:rPr lang="en-IN" i="1">
                            <a:solidFill>
                              <a:srgbClr val="FF0000"/>
                            </a:solidFill>
                            <a:latin typeface="Cambria Math" panose="02040503050406030204" pitchFamily="18" charset="0"/>
                            <a:ea typeface="Cambria Math"/>
                            <a:cs typeface="Times New Roman" pitchFamily="18" charset="0"/>
                          </a:rPr>
                          <m:t>&gt;</m:t>
                        </m:r>
                        <m:r>
                          <a:rPr lang="en-IN" i="1">
                            <a:latin typeface="Cambria Math" panose="02040503050406030204" pitchFamily="18" charset="0"/>
                            <a:ea typeface="Cambria Math" panose="02040503050406030204" pitchFamily="18" charset="0"/>
                            <a:cs typeface="Times New Roman" panose="02020603050405020304" pitchFamily="18" charset="0"/>
                          </a:rPr>
                          <m:t>𝜔</m:t>
                        </m:r>
                      </m:e>
                      <m:sub>
                        <m:r>
                          <a:rPr lang="en-IN" i="1">
                            <a:latin typeface="Cambria Math" panose="02040503050406030204" pitchFamily="18" charset="0"/>
                            <a:cs typeface="Times New Roman" panose="02020603050405020304" pitchFamily="18" charset="0"/>
                          </a:rPr>
                          <m:t>𝑛</m:t>
                        </m:r>
                      </m:sub>
                    </m:sSub>
                  </m:oMath>
                </a14:m>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Thus, </a:t>
                </a:r>
                <a14:m>
                  <m:oMath xmlns:m="http://schemas.openxmlformats.org/officeDocument/2006/math">
                    <m:r>
                      <a:rPr lang="en-US" i="1">
                        <a:latin typeface="Cambria Math"/>
                        <a:cs typeface="Times New Roman" pitchFamily="18" charset="0"/>
                      </a:rPr>
                      <m:t>𝑥</m:t>
                    </m:r>
                    <m:r>
                      <a:rPr lang="en-US" i="1">
                        <a:latin typeface="Cambria Math"/>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a:cs typeface="Times New Roman" pitchFamily="18" charset="0"/>
                          </a:rPr>
                          <m:t>𝐴</m:t>
                        </m:r>
                      </m:e>
                      <m:sub>
                        <m:r>
                          <a:rPr lang="en-US" i="1">
                            <a:latin typeface="Cambria Math"/>
                            <a:cs typeface="Times New Roman" pitchFamily="18" charset="0"/>
                          </a:rPr>
                          <m:t>2</m:t>
                        </m:r>
                      </m:sub>
                    </m:sSub>
                    <m:func>
                      <m:funcPr>
                        <m:ctrlPr>
                          <a:rPr lang="en-IN" i="1">
                            <a:solidFill>
                              <a:srgbClr val="FF0000"/>
                            </a:solidFill>
                            <a:latin typeface="Cambria Math" panose="02040503050406030204" pitchFamily="18" charset="0"/>
                            <a:cs typeface="Times New Roman" panose="02020603050405020304" pitchFamily="18" charset="0"/>
                          </a:rPr>
                        </m:ctrlPr>
                      </m:funcPr>
                      <m:fName>
                        <m:r>
                          <m:rPr>
                            <m:sty m:val="p"/>
                          </m:rPr>
                          <a:rPr lang="en-US">
                            <a:solidFill>
                              <a:srgbClr val="FF0000"/>
                            </a:solidFill>
                            <a:latin typeface="Cambria Math"/>
                            <a:cs typeface="Times New Roman" panose="02020603050405020304" pitchFamily="18" charset="0"/>
                          </a:rPr>
                          <m:t>sin</m:t>
                        </m:r>
                      </m:fName>
                      <m:e>
                        <m:d>
                          <m:dPr>
                            <m:begChr m:val="["/>
                            <m:endChr m:val="]"/>
                            <m:ctrlPr>
                              <a:rPr lang="en-IN" i="1">
                                <a:solidFill>
                                  <a:srgbClr val="FF0000"/>
                                </a:solidFill>
                                <a:latin typeface="Cambria Math" panose="02040503050406030204" pitchFamily="18" charset="0"/>
                                <a:cs typeface="Times New Roman" panose="02020603050405020304" pitchFamily="18" charset="0"/>
                              </a:rPr>
                            </m:ctrlPr>
                          </m:dPr>
                          <m:e>
                            <m:sSub>
                              <m:sSubPr>
                                <m:ctrlPr>
                                  <a:rPr lang="en-IN"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ea typeface="Cambria Math" panose="02040503050406030204" pitchFamily="18" charset="0"/>
                                    <a:cs typeface="Times New Roman" panose="02020603050405020304" pitchFamily="18" charset="0"/>
                                  </a:rPr>
                                  <m:t>𝜔</m:t>
                                </m:r>
                              </m:e>
                              <m:sub>
                                <m:r>
                                  <a:rPr lang="en-IN" i="1">
                                    <a:latin typeface="Cambria Math" panose="02040503050406030204" pitchFamily="18" charset="0"/>
                                    <a:cs typeface="Times New Roman" panose="02020603050405020304" pitchFamily="18" charset="0"/>
                                  </a:rPr>
                                  <m:t>𝑛</m:t>
                                </m:r>
                              </m:sub>
                            </m:sSub>
                            <m:r>
                              <a:rPr lang="en-US" i="1">
                                <a:latin typeface="Cambria Math"/>
                                <a:cs typeface="Times New Roman" panose="02020603050405020304" pitchFamily="18" charset="0"/>
                              </a:rPr>
                              <m:t>𝑡</m:t>
                            </m:r>
                            <m:r>
                              <a:rPr lang="en-US" i="1">
                                <a:latin typeface="Cambria Math"/>
                                <a:cs typeface="Times New Roman" panose="02020603050405020304" pitchFamily="18" charset="0"/>
                              </a:rPr>
                              <m:t>+</m:t>
                            </m:r>
                            <m:sSub>
                              <m:sSubPr>
                                <m:ctrlPr>
                                  <a:rPr lang="en-US" i="1">
                                    <a:solidFill>
                                      <a:srgbClr val="FF0000"/>
                                    </a:solidFill>
                                    <a:latin typeface="Cambria Math" panose="02040503050406030204" pitchFamily="18" charset="0"/>
                                    <a:cs typeface="Times New Roman" panose="02020603050405020304" pitchFamily="18" charset="0"/>
                                  </a:rPr>
                                </m:ctrlPr>
                              </m:sSubPr>
                              <m:e>
                                <m:r>
                                  <a:rPr lang="en-US" i="1">
                                    <a:solidFill>
                                      <a:srgbClr val="FF0000"/>
                                    </a:solidFill>
                                    <a:latin typeface="Cambria Math"/>
                                    <a:ea typeface="Cambria Math"/>
                                    <a:cs typeface="Times New Roman" panose="02020603050405020304" pitchFamily="18" charset="0"/>
                                  </a:rPr>
                                  <m:t>𝜑</m:t>
                                </m:r>
                              </m:e>
                              <m:sub>
                                <m:r>
                                  <a:rPr lang="en-US" i="1">
                                    <a:solidFill>
                                      <a:srgbClr val="FF0000"/>
                                    </a:solidFill>
                                    <a:latin typeface="Cambria Math"/>
                                    <a:ea typeface="Cambria Math"/>
                                    <a:cs typeface="Times New Roman" panose="02020603050405020304" pitchFamily="18" charset="0"/>
                                  </a:rPr>
                                  <m:t>2</m:t>
                                </m:r>
                              </m:sub>
                            </m:sSub>
                          </m:e>
                        </m:d>
                      </m:e>
                    </m:func>
                    <m:r>
                      <a:rPr lang="en-US" i="1">
                        <a:solidFill>
                          <a:srgbClr val="FF0000"/>
                        </a:solidFill>
                        <a:latin typeface="Cambria Math"/>
                        <a:cs typeface="Times New Roman" panose="02020603050405020304" pitchFamily="18" charset="0"/>
                      </a:rPr>
                      <m:t>+</m:t>
                    </m:r>
                    <m:f>
                      <m:fPr>
                        <m:ctrlPr>
                          <a:rPr lang="en-US" i="1">
                            <a:solidFill>
                              <a:srgbClr val="FF0000"/>
                            </a:solidFill>
                            <a:latin typeface="Cambria Math" panose="02040503050406030204" pitchFamily="18" charset="0"/>
                            <a:cs typeface="Times New Roman" panose="02020603050405020304" pitchFamily="18" charset="0"/>
                          </a:rPr>
                        </m:ctrlPr>
                      </m:fPr>
                      <m:num>
                        <m:sSub>
                          <m:sSubPr>
                            <m:ctrlPr>
                              <a:rPr lang="en-US" i="1">
                                <a:solidFill>
                                  <a:srgbClr val="FF0000"/>
                                </a:solidFill>
                                <a:latin typeface="Cambria Math" panose="02040503050406030204" pitchFamily="18" charset="0"/>
                                <a:cs typeface="Times New Roman" panose="02020603050405020304" pitchFamily="18" charset="0"/>
                              </a:rPr>
                            </m:ctrlPr>
                          </m:sSubPr>
                          <m:e>
                            <m:r>
                              <a:rPr lang="en-US" i="1">
                                <a:solidFill>
                                  <a:srgbClr val="FF0000"/>
                                </a:solidFill>
                                <a:latin typeface="Cambria Math"/>
                                <a:cs typeface="Times New Roman" panose="02020603050405020304" pitchFamily="18" charset="0"/>
                              </a:rPr>
                              <m:t>𝑋</m:t>
                            </m:r>
                          </m:e>
                          <m:sub>
                            <m:r>
                              <m:rPr>
                                <m:sty m:val="p"/>
                              </m:rPr>
                              <a:rPr lang="en-US">
                                <a:solidFill>
                                  <a:srgbClr val="FF0000"/>
                                </a:solidFill>
                                <a:latin typeface="Cambria Math"/>
                                <a:cs typeface="Times New Roman" pitchFamily="18" charset="0"/>
                              </a:rPr>
                              <m:t>st</m:t>
                            </m:r>
                          </m:sub>
                        </m:sSub>
                        <m:func>
                          <m:funcPr>
                            <m:ctrlPr>
                              <a:rPr lang="en-US" i="1">
                                <a:solidFill>
                                  <a:srgbClr val="FF0000"/>
                                </a:solidFill>
                                <a:latin typeface="Cambria Math" panose="02040503050406030204" pitchFamily="18" charset="0"/>
                                <a:cs typeface="Times New Roman" pitchFamily="18" charset="0"/>
                              </a:rPr>
                            </m:ctrlPr>
                          </m:funcPr>
                          <m:fName>
                            <m:r>
                              <m:rPr>
                                <m:sty m:val="p"/>
                              </m:rPr>
                              <a:rPr lang="en-US">
                                <a:solidFill>
                                  <a:srgbClr val="FF0000"/>
                                </a:solidFill>
                                <a:latin typeface="Cambria Math"/>
                                <a:cs typeface="Times New Roman" pitchFamily="18" charset="0"/>
                              </a:rPr>
                              <m:t>sin</m:t>
                            </m:r>
                          </m:fName>
                          <m:e>
                            <m:r>
                              <a:rPr lang="en-US" i="1">
                                <a:solidFill>
                                  <a:srgbClr val="FF0000"/>
                                </a:solidFill>
                                <a:latin typeface="Cambria Math"/>
                                <a:ea typeface="Cambria Math"/>
                                <a:cs typeface="Times New Roman" pitchFamily="18" charset="0"/>
                              </a:rPr>
                              <m:t>𝜔</m:t>
                            </m:r>
                            <m:r>
                              <a:rPr lang="en-US" i="1">
                                <a:solidFill>
                                  <a:srgbClr val="FF0000"/>
                                </a:solidFill>
                                <a:latin typeface="Cambria Math"/>
                                <a:ea typeface="Cambria Math"/>
                                <a:cs typeface="Times New Roman" pitchFamily="18" charset="0"/>
                              </a:rPr>
                              <m:t>𝑡</m:t>
                            </m:r>
                          </m:e>
                        </m:func>
                      </m:num>
                      <m:den>
                        <m:d>
                          <m:dPr>
                            <m:begChr m:val="["/>
                            <m:endChr m:val="]"/>
                            <m:ctrlPr>
                              <a:rPr lang="en-US" i="1">
                                <a:solidFill>
                                  <a:srgbClr val="FF0000"/>
                                </a:solidFill>
                                <a:latin typeface="Cambria Math" panose="02040503050406030204" pitchFamily="18" charset="0"/>
                                <a:ea typeface="Cambria Math"/>
                                <a:cs typeface="Times New Roman" pitchFamily="18" charset="0"/>
                              </a:rPr>
                            </m:ctrlPr>
                          </m:dPr>
                          <m:e>
                            <m:r>
                              <a:rPr lang="en-US" i="1">
                                <a:solidFill>
                                  <a:srgbClr val="FF0000"/>
                                </a:solidFill>
                                <a:latin typeface="Cambria Math"/>
                                <a:cs typeface="Times New Roman" pitchFamily="18" charset="0"/>
                              </a:rPr>
                              <m:t>1−</m:t>
                            </m:r>
                            <m:sSup>
                              <m:sSupPr>
                                <m:ctrlPr>
                                  <a:rPr lang="en-US" i="1">
                                    <a:solidFill>
                                      <a:srgbClr val="FF0000"/>
                                    </a:solidFill>
                                    <a:latin typeface="Cambria Math" panose="02040503050406030204" pitchFamily="18" charset="0"/>
                                    <a:cs typeface="Times New Roman" pitchFamily="18" charset="0"/>
                                  </a:rPr>
                                </m:ctrlPr>
                              </m:sSupPr>
                              <m:e>
                                <m:d>
                                  <m:dPr>
                                    <m:ctrlPr>
                                      <a:rPr lang="en-US" i="1">
                                        <a:solidFill>
                                          <a:srgbClr val="FF0000"/>
                                        </a:solidFill>
                                        <a:latin typeface="Cambria Math" panose="02040503050406030204" pitchFamily="18" charset="0"/>
                                        <a:cs typeface="Times New Roman" pitchFamily="18" charset="0"/>
                                      </a:rPr>
                                    </m:ctrlPr>
                                  </m:dPr>
                                  <m:e>
                                    <m:f>
                                      <m:fPr>
                                        <m:type m:val="lin"/>
                                        <m:ctrlPr>
                                          <a:rPr lang="en-US" i="1">
                                            <a:solidFill>
                                              <a:srgbClr val="FF0000"/>
                                            </a:solidFill>
                                            <a:latin typeface="Cambria Math" panose="02040503050406030204" pitchFamily="18" charset="0"/>
                                            <a:cs typeface="Times New Roman" pitchFamily="18" charset="0"/>
                                          </a:rPr>
                                        </m:ctrlPr>
                                      </m:fPr>
                                      <m:num>
                                        <m:r>
                                          <a:rPr lang="en-US" i="1">
                                            <a:solidFill>
                                              <a:srgbClr val="FF0000"/>
                                            </a:solidFill>
                                            <a:latin typeface="Cambria Math"/>
                                            <a:ea typeface="Cambria Math"/>
                                            <a:cs typeface="Times New Roman" pitchFamily="18" charset="0"/>
                                          </a:rPr>
                                          <m:t>𝜔</m:t>
                                        </m:r>
                                      </m:num>
                                      <m:den>
                                        <m:sSub>
                                          <m:sSubPr>
                                            <m:ctrlPr>
                                              <a:rPr lang="en-US" i="1">
                                                <a:solidFill>
                                                  <a:srgbClr val="FF0000"/>
                                                </a:solidFill>
                                                <a:latin typeface="Cambria Math" panose="02040503050406030204" pitchFamily="18" charset="0"/>
                                                <a:cs typeface="Times New Roman" pitchFamily="18" charset="0"/>
                                              </a:rPr>
                                            </m:ctrlPr>
                                          </m:sSubPr>
                                          <m:e>
                                            <m:r>
                                              <a:rPr lang="en-US" i="1">
                                                <a:solidFill>
                                                  <a:srgbClr val="FF0000"/>
                                                </a:solidFill>
                                                <a:latin typeface="Cambria Math"/>
                                                <a:ea typeface="Cambria Math"/>
                                                <a:cs typeface="Times New Roman" pitchFamily="18" charset="0"/>
                                              </a:rPr>
                                              <m:t>𝜔</m:t>
                                            </m:r>
                                          </m:e>
                                          <m:sub>
                                            <m:r>
                                              <a:rPr lang="en-US" i="1">
                                                <a:solidFill>
                                                  <a:srgbClr val="FF0000"/>
                                                </a:solidFill>
                                                <a:latin typeface="Cambria Math"/>
                                                <a:cs typeface="Times New Roman" pitchFamily="18" charset="0"/>
                                              </a:rPr>
                                              <m:t>𝑛</m:t>
                                            </m:r>
                                          </m:sub>
                                        </m:sSub>
                                      </m:den>
                                    </m:f>
                                  </m:e>
                                </m:d>
                              </m:e>
                              <m:sup>
                                <m:r>
                                  <a:rPr lang="en-US" i="1">
                                    <a:solidFill>
                                      <a:srgbClr val="FF0000"/>
                                    </a:solidFill>
                                    <a:latin typeface="Cambria Math"/>
                                    <a:cs typeface="Times New Roman" pitchFamily="18" charset="0"/>
                                  </a:rPr>
                                  <m:t>2</m:t>
                                </m:r>
                              </m:sup>
                            </m:sSup>
                          </m:e>
                        </m:d>
                      </m:den>
                    </m:f>
                  </m:oMath>
                </a14:m>
                <a:endParaRPr lang="en-IN" dirty="0"/>
              </a:p>
            </p:txBody>
          </p:sp>
        </mc:Choice>
        <mc:Fallback xmlns="">
          <p:sp>
            <p:nvSpPr>
              <p:cNvPr id="3" name="Rectangle 2"/>
              <p:cNvSpPr>
                <a:spLocks noRot="1" noChangeAspect="1" noMove="1" noResize="1" noEditPoints="1" noAdjustHandles="1" noChangeArrowheads="1" noChangeShapeType="1" noTextEdit="1"/>
              </p:cNvSpPr>
              <p:nvPr/>
            </p:nvSpPr>
            <p:spPr>
              <a:xfrm>
                <a:off x="4695568" y="4481731"/>
                <a:ext cx="7035113" cy="1944828"/>
              </a:xfrm>
              <a:prstGeom prst="rect">
                <a:avLst/>
              </a:prstGeom>
              <a:blipFill rotWithShape="0">
                <a:blip r:embed="rId3"/>
                <a:stretch>
                  <a:fillRect l="-693" t="-1567" b="-24138"/>
                </a:stretch>
              </a:blipFill>
            </p:spPr>
            <p:txBody>
              <a:bodyPr/>
              <a:lstStyle/>
              <a:p>
                <a:r>
                  <a:rPr lang="en-IN">
                    <a:noFill/>
                  </a:rPr>
                  <a:t> </a:t>
                </a:r>
              </a:p>
            </p:txBody>
          </p:sp>
        </mc:Fallback>
      </mc:AlternateContent>
    </p:spTree>
    <p:extLst>
      <p:ext uri="{BB962C8B-B14F-4D97-AF65-F5344CB8AC3E}">
        <p14:creationId xmlns:p14="http://schemas.microsoft.com/office/powerpoint/2010/main" val="2384287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Steady state vibrations</a:t>
            </a:r>
            <a:endParaRPr lang="en-IN" sz="3600" dirty="0">
              <a:solidFill>
                <a:srgbClr val="7030A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4" name="Rectangle 3"/>
              <p:cNvSpPr/>
              <p:nvPr/>
            </p:nvSpPr>
            <p:spPr>
              <a:xfrm>
                <a:off x="223327" y="1156554"/>
                <a:ext cx="11769969" cy="1728358"/>
              </a:xfrm>
              <a:prstGeom prst="rect">
                <a:avLst/>
              </a:prstGeom>
            </p:spPr>
            <p:txBody>
              <a:bodyPr wrap="square">
                <a:spAutoFit/>
              </a:bodyPr>
              <a:lstStyle/>
              <a:p>
                <a:r>
                  <a:rPr lang="en-US" dirty="0">
                    <a:solidFill>
                      <a:srgbClr val="FF0000"/>
                    </a:solidFill>
                    <a:latin typeface="Times New Roman" pitchFamily="18" charset="0"/>
                    <a:cs typeface="Times New Roman" pitchFamily="18" charset="0"/>
                  </a:rPr>
                  <a:t>Magnification Factor: </a:t>
                </a:r>
                <a:r>
                  <a:rPr lang="en-US" dirty="0">
                    <a:latin typeface="Times New Roman" pitchFamily="18" charset="0"/>
                    <a:cs typeface="Times New Roman" pitchFamily="18" charset="0"/>
                  </a:rPr>
                  <a:t>It is the ratio of  steady state amplitude to that of zero frequency deflection i.e. </a:t>
                </a:r>
                <a14:m>
                  <m:oMath xmlns:m="http://schemas.openxmlformats.org/officeDocument/2006/math">
                    <m:f>
                      <m:fPr>
                        <m:type m:val="lin"/>
                        <m:ctrlPr>
                          <a:rPr lang="en-US" i="1" smtClean="0">
                            <a:solidFill>
                              <a:srgbClr val="FF0000"/>
                            </a:solidFill>
                            <a:latin typeface="Cambria Math" panose="02040503050406030204" pitchFamily="18" charset="0"/>
                            <a:cs typeface="Times New Roman" pitchFamily="18" charset="0"/>
                          </a:rPr>
                        </m:ctrlPr>
                      </m:fPr>
                      <m:num>
                        <m:r>
                          <a:rPr lang="en-US" i="1">
                            <a:solidFill>
                              <a:srgbClr val="FF0000"/>
                            </a:solidFill>
                            <a:latin typeface="Cambria Math"/>
                            <a:cs typeface="Times New Roman" pitchFamily="18" charset="0"/>
                          </a:rPr>
                          <m:t>𝑋</m:t>
                        </m:r>
                      </m:num>
                      <m:den>
                        <m:sSub>
                          <m:sSubPr>
                            <m:ctrlPr>
                              <a:rPr lang="en-US" i="1">
                                <a:solidFill>
                                  <a:srgbClr val="FF0000"/>
                                </a:solidFill>
                                <a:latin typeface="Cambria Math" panose="02040503050406030204" pitchFamily="18" charset="0"/>
                                <a:cs typeface="Times New Roman" pitchFamily="18" charset="0"/>
                              </a:rPr>
                            </m:ctrlPr>
                          </m:sSubPr>
                          <m:e>
                            <m:r>
                              <a:rPr lang="en-US" i="1">
                                <a:solidFill>
                                  <a:srgbClr val="FF0000"/>
                                </a:solidFill>
                                <a:latin typeface="Cambria Math"/>
                                <a:cs typeface="Times New Roman" pitchFamily="18" charset="0"/>
                              </a:rPr>
                              <m:t>𝑋</m:t>
                            </m:r>
                          </m:e>
                          <m:sub>
                            <m:r>
                              <m:rPr>
                                <m:sty m:val="p"/>
                              </m:rPr>
                              <a:rPr lang="en-US">
                                <a:solidFill>
                                  <a:srgbClr val="FF0000"/>
                                </a:solidFill>
                                <a:latin typeface="Cambria Math"/>
                                <a:cs typeface="Times New Roman" pitchFamily="18" charset="0"/>
                              </a:rPr>
                              <m:t>st</m:t>
                            </m:r>
                          </m:sub>
                        </m:sSub>
                      </m:den>
                    </m:f>
                    <m:r>
                      <a:rPr lang="en-IN" b="0" i="1" smtClean="0">
                        <a:solidFill>
                          <a:srgbClr val="FF0000"/>
                        </a:solidFill>
                        <a:latin typeface="Cambria Math" panose="02040503050406030204" pitchFamily="18" charset="0"/>
                        <a:cs typeface="Times New Roman" pitchFamily="18" charset="0"/>
                      </a:rPr>
                      <m:t>=</m:t>
                    </m:r>
                    <m:r>
                      <m:rPr>
                        <m:sty m:val="p"/>
                      </m:rPr>
                      <a:rPr lang="en-IN" b="0" i="0" smtClean="0">
                        <a:solidFill>
                          <a:srgbClr val="FF0000"/>
                        </a:solidFill>
                        <a:latin typeface="Cambria Math" panose="02040503050406030204" pitchFamily="18" charset="0"/>
                        <a:cs typeface="Times New Roman" pitchFamily="18" charset="0"/>
                      </a:rPr>
                      <m:t>M</m:t>
                    </m:r>
                    <m:r>
                      <a:rPr lang="en-IN" b="0" i="0" smtClean="0">
                        <a:solidFill>
                          <a:srgbClr val="FF0000"/>
                        </a:solidFill>
                        <a:latin typeface="Cambria Math" panose="02040503050406030204" pitchFamily="18" charset="0"/>
                        <a:cs typeface="Times New Roman" pitchFamily="18" charset="0"/>
                      </a:rPr>
                      <m:t>.</m:t>
                    </m:r>
                    <m:r>
                      <m:rPr>
                        <m:sty m:val="p"/>
                      </m:rPr>
                      <a:rPr lang="en-IN" b="0" i="0" smtClean="0">
                        <a:solidFill>
                          <a:srgbClr val="FF0000"/>
                        </a:solidFill>
                        <a:latin typeface="Cambria Math" panose="02040503050406030204" pitchFamily="18" charset="0"/>
                        <a:cs typeface="Times New Roman" pitchFamily="18" charset="0"/>
                      </a:rPr>
                      <m:t>F</m:t>
                    </m:r>
                    <m:r>
                      <a:rPr lang="en-IN" b="0" i="0" smtClean="0">
                        <a:solidFill>
                          <a:srgbClr val="FF0000"/>
                        </a:solidFill>
                        <a:latin typeface="Cambria Math" panose="02040503050406030204" pitchFamily="18" charset="0"/>
                        <a:cs typeface="Times New Roman" pitchFamily="18" charset="0"/>
                      </a:rPr>
                      <m:t>.</m:t>
                    </m:r>
                  </m:oMath>
                </a14:m>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In other words, it is the factor by which the zero frequency deflection is to be multiplied to get the amplitude of oscillation.</a:t>
                </a:r>
              </a:p>
              <a:p>
                <a:endParaRPr lang="en-IN" dirty="0">
                  <a:solidFill>
                    <a:srgbClr val="FF0000"/>
                  </a:solidFill>
                  <a:latin typeface="Cambria Math" panose="02040503050406030204" pitchFamily="18" charset="0"/>
                  <a:cs typeface="Times New Roman" pitchFamily="18" charset="0"/>
                </a:endParaRPr>
              </a:p>
              <a:p>
                <a14:m>
                  <m:oMath xmlns:m="http://schemas.openxmlformats.org/officeDocument/2006/math">
                    <m:r>
                      <m:rPr>
                        <m:sty m:val="p"/>
                      </m:rPr>
                      <a:rPr lang="en-IN">
                        <a:solidFill>
                          <a:srgbClr val="FF0000"/>
                        </a:solidFill>
                        <a:latin typeface="Cambria Math" panose="02040503050406030204" pitchFamily="18" charset="0"/>
                        <a:cs typeface="Times New Roman" pitchFamily="18" charset="0"/>
                      </a:rPr>
                      <m:t>M</m:t>
                    </m:r>
                    <m:r>
                      <a:rPr lang="en-IN">
                        <a:solidFill>
                          <a:srgbClr val="FF0000"/>
                        </a:solidFill>
                        <a:latin typeface="Cambria Math" panose="02040503050406030204" pitchFamily="18" charset="0"/>
                        <a:cs typeface="Times New Roman" pitchFamily="18" charset="0"/>
                      </a:rPr>
                      <m:t>.</m:t>
                    </m:r>
                    <m:r>
                      <m:rPr>
                        <m:sty m:val="p"/>
                      </m:rPr>
                      <a:rPr lang="en-IN">
                        <a:solidFill>
                          <a:srgbClr val="FF0000"/>
                        </a:solidFill>
                        <a:latin typeface="Cambria Math" panose="02040503050406030204" pitchFamily="18" charset="0"/>
                        <a:cs typeface="Times New Roman" pitchFamily="18" charset="0"/>
                      </a:rPr>
                      <m:t>F</m:t>
                    </m:r>
                    <m:r>
                      <a:rPr lang="en-IN">
                        <a:solidFill>
                          <a:srgbClr val="FF0000"/>
                        </a:solidFill>
                        <a:latin typeface="Cambria Math" panose="02040503050406030204" pitchFamily="18" charset="0"/>
                        <a:cs typeface="Times New Roman" pitchFamily="18" charset="0"/>
                      </a:rPr>
                      <m:t>.</m:t>
                    </m:r>
                    <m:r>
                      <a:rPr lang="en-IN" b="0" i="1" smtClean="0">
                        <a:solidFill>
                          <a:srgbClr val="FF0000"/>
                        </a:solidFill>
                        <a:latin typeface="Cambria Math" panose="02040503050406030204" pitchFamily="18" charset="0"/>
                        <a:cs typeface="Times New Roman" pitchFamily="18" charset="0"/>
                      </a:rPr>
                      <m:t>=</m:t>
                    </m:r>
                    <m:f>
                      <m:fPr>
                        <m:ctrlPr>
                          <a:rPr lang="en-IN" b="0" i="1" smtClean="0">
                            <a:solidFill>
                              <a:srgbClr val="FF0000"/>
                            </a:solidFill>
                            <a:latin typeface="Cambria Math" panose="02040503050406030204" pitchFamily="18" charset="0"/>
                            <a:cs typeface="Times New Roman" pitchFamily="18" charset="0"/>
                          </a:rPr>
                        </m:ctrlPr>
                      </m:fPr>
                      <m:num>
                        <m:r>
                          <a:rPr lang="en-US" i="1">
                            <a:solidFill>
                              <a:srgbClr val="FF0000"/>
                            </a:solidFill>
                            <a:latin typeface="Cambria Math"/>
                            <a:cs typeface="Times New Roman" pitchFamily="18" charset="0"/>
                          </a:rPr>
                          <m:t>𝑋</m:t>
                        </m:r>
                      </m:num>
                      <m:den>
                        <m:sSub>
                          <m:sSubPr>
                            <m:ctrlPr>
                              <a:rPr lang="en-US" i="1">
                                <a:solidFill>
                                  <a:srgbClr val="FF0000"/>
                                </a:solidFill>
                                <a:latin typeface="Cambria Math" panose="02040503050406030204" pitchFamily="18" charset="0"/>
                                <a:cs typeface="Times New Roman" pitchFamily="18" charset="0"/>
                              </a:rPr>
                            </m:ctrlPr>
                          </m:sSubPr>
                          <m:e>
                            <m:r>
                              <a:rPr lang="en-US" i="1">
                                <a:solidFill>
                                  <a:srgbClr val="FF0000"/>
                                </a:solidFill>
                                <a:latin typeface="Cambria Math"/>
                                <a:cs typeface="Times New Roman" pitchFamily="18" charset="0"/>
                              </a:rPr>
                              <m:t>𝑋</m:t>
                            </m:r>
                          </m:e>
                          <m:sub>
                            <m:r>
                              <m:rPr>
                                <m:sty m:val="p"/>
                              </m:rPr>
                              <a:rPr lang="en-US">
                                <a:solidFill>
                                  <a:srgbClr val="FF0000"/>
                                </a:solidFill>
                                <a:latin typeface="Cambria Math"/>
                                <a:cs typeface="Times New Roman" pitchFamily="18" charset="0"/>
                              </a:rPr>
                              <m:t>st</m:t>
                            </m:r>
                          </m:sub>
                        </m:sSub>
                      </m:den>
                    </m:f>
                    <m:r>
                      <a:rPr lang="en-IN" i="1">
                        <a:solidFill>
                          <a:srgbClr val="FF0000"/>
                        </a:solidFill>
                        <a:latin typeface="Cambria Math" panose="02040503050406030204" pitchFamily="18" charset="0"/>
                        <a:cs typeface="Times New Roman" pitchFamily="18" charset="0"/>
                      </a:rPr>
                      <m:t>=</m:t>
                    </m:r>
                    <m:f>
                      <m:fPr>
                        <m:ctrlPr>
                          <a:rPr lang="en-US" i="1">
                            <a:solidFill>
                              <a:srgbClr val="FF0000"/>
                            </a:solidFill>
                            <a:latin typeface="Cambria Math" panose="02040503050406030204" pitchFamily="18" charset="0"/>
                            <a:cs typeface="Times New Roman" pitchFamily="18" charset="0"/>
                          </a:rPr>
                        </m:ctrlPr>
                      </m:fPr>
                      <m:num>
                        <m:r>
                          <a:rPr lang="en-IN" b="0" i="1" smtClean="0">
                            <a:solidFill>
                              <a:srgbClr val="FF0000"/>
                            </a:solidFill>
                            <a:latin typeface="Cambria Math" panose="02040503050406030204" pitchFamily="18" charset="0"/>
                            <a:cs typeface="Times New Roman" pitchFamily="18" charset="0"/>
                          </a:rPr>
                          <m:t>1</m:t>
                        </m:r>
                      </m:num>
                      <m:den>
                        <m:rad>
                          <m:radPr>
                            <m:degHide m:val="on"/>
                            <m:ctrlPr>
                              <a:rPr lang="en-US" i="1">
                                <a:solidFill>
                                  <a:srgbClr val="FF0000"/>
                                </a:solidFill>
                                <a:latin typeface="Cambria Math" panose="02040503050406030204" pitchFamily="18" charset="0"/>
                                <a:cs typeface="Times New Roman" pitchFamily="18" charset="0"/>
                              </a:rPr>
                            </m:ctrlPr>
                          </m:radPr>
                          <m:deg/>
                          <m:e>
                            <m:sSup>
                              <m:sSupPr>
                                <m:ctrlPr>
                                  <a:rPr lang="en-US" i="1">
                                    <a:solidFill>
                                      <a:srgbClr val="FF0000"/>
                                    </a:solidFill>
                                    <a:latin typeface="Cambria Math" panose="02040503050406030204" pitchFamily="18" charset="0"/>
                                    <a:cs typeface="Times New Roman" pitchFamily="18" charset="0"/>
                                  </a:rPr>
                                </m:ctrlPr>
                              </m:sSupPr>
                              <m:e>
                                <m:d>
                                  <m:dPr>
                                    <m:begChr m:val="["/>
                                    <m:endChr m:val="]"/>
                                    <m:ctrlPr>
                                      <a:rPr lang="en-US" i="1">
                                        <a:solidFill>
                                          <a:srgbClr val="FF0000"/>
                                        </a:solidFill>
                                        <a:latin typeface="Cambria Math" panose="02040503050406030204" pitchFamily="18" charset="0"/>
                                        <a:cs typeface="Times New Roman" pitchFamily="18" charset="0"/>
                                      </a:rPr>
                                    </m:ctrlPr>
                                  </m:dPr>
                                  <m:e>
                                    <m:r>
                                      <a:rPr lang="en-US" i="1">
                                        <a:solidFill>
                                          <a:srgbClr val="FF0000"/>
                                        </a:solidFill>
                                        <a:latin typeface="Cambria Math"/>
                                        <a:cs typeface="Times New Roman" pitchFamily="18" charset="0"/>
                                      </a:rPr>
                                      <m:t>1−</m:t>
                                    </m:r>
                                    <m:sSup>
                                      <m:sSupPr>
                                        <m:ctrlPr>
                                          <a:rPr lang="en-US" i="1">
                                            <a:solidFill>
                                              <a:srgbClr val="FF0000"/>
                                            </a:solidFill>
                                            <a:latin typeface="Cambria Math" panose="02040503050406030204" pitchFamily="18" charset="0"/>
                                            <a:cs typeface="Times New Roman" pitchFamily="18" charset="0"/>
                                          </a:rPr>
                                        </m:ctrlPr>
                                      </m:sSupPr>
                                      <m:e>
                                        <m:d>
                                          <m:dPr>
                                            <m:ctrlPr>
                                              <a:rPr lang="en-US" i="1">
                                                <a:solidFill>
                                                  <a:srgbClr val="FF0000"/>
                                                </a:solidFill>
                                                <a:latin typeface="Cambria Math" panose="02040503050406030204" pitchFamily="18" charset="0"/>
                                                <a:cs typeface="Times New Roman" pitchFamily="18" charset="0"/>
                                              </a:rPr>
                                            </m:ctrlPr>
                                          </m:dPr>
                                          <m:e>
                                            <m:f>
                                              <m:fPr>
                                                <m:ctrlPr>
                                                  <a:rPr lang="en-US" i="1">
                                                    <a:solidFill>
                                                      <a:srgbClr val="FF0000"/>
                                                    </a:solidFill>
                                                    <a:latin typeface="Cambria Math" panose="02040503050406030204" pitchFamily="18" charset="0"/>
                                                    <a:cs typeface="Times New Roman" pitchFamily="18" charset="0"/>
                                                  </a:rPr>
                                                </m:ctrlPr>
                                              </m:fPr>
                                              <m:num>
                                                <m:r>
                                                  <a:rPr lang="en-US" i="1">
                                                    <a:solidFill>
                                                      <a:srgbClr val="FF0000"/>
                                                    </a:solidFill>
                                                    <a:latin typeface="Cambria Math"/>
                                                    <a:ea typeface="Cambria Math"/>
                                                    <a:cs typeface="Times New Roman" pitchFamily="18" charset="0"/>
                                                  </a:rPr>
                                                  <m:t>𝜔</m:t>
                                                </m:r>
                                              </m:num>
                                              <m:den>
                                                <m:sSub>
                                                  <m:sSubPr>
                                                    <m:ctrlPr>
                                                      <a:rPr lang="en-US" i="1">
                                                        <a:solidFill>
                                                          <a:srgbClr val="FF0000"/>
                                                        </a:solidFill>
                                                        <a:latin typeface="Cambria Math" panose="02040503050406030204" pitchFamily="18" charset="0"/>
                                                        <a:cs typeface="Times New Roman" pitchFamily="18" charset="0"/>
                                                      </a:rPr>
                                                    </m:ctrlPr>
                                                  </m:sSubPr>
                                                  <m:e>
                                                    <m:r>
                                                      <a:rPr lang="en-US" i="1">
                                                        <a:solidFill>
                                                          <a:srgbClr val="FF0000"/>
                                                        </a:solidFill>
                                                        <a:latin typeface="Cambria Math"/>
                                                        <a:ea typeface="Cambria Math"/>
                                                        <a:cs typeface="Times New Roman" pitchFamily="18" charset="0"/>
                                                      </a:rPr>
                                                      <m:t>𝜔</m:t>
                                                    </m:r>
                                                  </m:e>
                                                  <m:sub>
                                                    <m:r>
                                                      <a:rPr lang="en-US" i="1">
                                                        <a:solidFill>
                                                          <a:srgbClr val="FF0000"/>
                                                        </a:solidFill>
                                                        <a:latin typeface="Cambria Math"/>
                                                        <a:cs typeface="Times New Roman" pitchFamily="18" charset="0"/>
                                                      </a:rPr>
                                                      <m:t>𝑛</m:t>
                                                    </m:r>
                                                  </m:sub>
                                                </m:sSub>
                                              </m:den>
                                            </m:f>
                                          </m:e>
                                        </m:d>
                                      </m:e>
                                      <m:sup>
                                        <m:r>
                                          <a:rPr lang="en-US" i="1">
                                            <a:solidFill>
                                              <a:srgbClr val="FF0000"/>
                                            </a:solidFill>
                                            <a:latin typeface="Cambria Math"/>
                                            <a:cs typeface="Times New Roman" pitchFamily="18" charset="0"/>
                                          </a:rPr>
                                          <m:t>2</m:t>
                                        </m:r>
                                      </m:sup>
                                    </m:sSup>
                                  </m:e>
                                </m:d>
                              </m:e>
                              <m:sup>
                                <m:r>
                                  <a:rPr lang="en-US" i="1">
                                    <a:solidFill>
                                      <a:srgbClr val="FF0000"/>
                                    </a:solidFill>
                                    <a:latin typeface="Cambria Math"/>
                                    <a:cs typeface="Times New Roman" pitchFamily="18" charset="0"/>
                                  </a:rPr>
                                  <m:t>2</m:t>
                                </m:r>
                              </m:sup>
                            </m:sSup>
                            <m:r>
                              <a:rPr lang="en-US" i="1">
                                <a:solidFill>
                                  <a:srgbClr val="FF0000"/>
                                </a:solidFill>
                                <a:latin typeface="Cambria Math"/>
                                <a:cs typeface="Times New Roman" pitchFamily="18" charset="0"/>
                              </a:rPr>
                              <m:t>+</m:t>
                            </m:r>
                            <m:sSup>
                              <m:sSupPr>
                                <m:ctrlPr>
                                  <a:rPr lang="en-US" i="1">
                                    <a:solidFill>
                                      <a:srgbClr val="FF0000"/>
                                    </a:solidFill>
                                    <a:latin typeface="Cambria Math" panose="02040503050406030204" pitchFamily="18" charset="0"/>
                                    <a:cs typeface="Times New Roman" pitchFamily="18" charset="0"/>
                                  </a:rPr>
                                </m:ctrlPr>
                              </m:sSupPr>
                              <m:e>
                                <m:d>
                                  <m:dPr>
                                    <m:begChr m:val="["/>
                                    <m:endChr m:val="]"/>
                                    <m:ctrlPr>
                                      <a:rPr lang="en-US" i="1">
                                        <a:solidFill>
                                          <a:srgbClr val="FF0000"/>
                                        </a:solidFill>
                                        <a:latin typeface="Cambria Math" panose="02040503050406030204" pitchFamily="18" charset="0"/>
                                        <a:cs typeface="Times New Roman" pitchFamily="18" charset="0"/>
                                      </a:rPr>
                                    </m:ctrlPr>
                                  </m:dPr>
                                  <m:e>
                                    <m:r>
                                      <a:rPr lang="en-US" i="1">
                                        <a:latin typeface="Cambria Math"/>
                                      </a:rPr>
                                      <m:t>2</m:t>
                                    </m:r>
                                    <m:r>
                                      <a:rPr lang="en-US" i="1">
                                        <a:latin typeface="Cambria Math"/>
                                        <a:ea typeface="Cambria Math"/>
                                      </a:rPr>
                                      <m:t>𝜁</m:t>
                                    </m:r>
                                    <m:d>
                                      <m:dPr>
                                        <m:ctrlPr>
                                          <a:rPr lang="en-US" i="1">
                                            <a:latin typeface="Cambria Math" panose="02040503050406030204" pitchFamily="18" charset="0"/>
                                            <a:ea typeface="Cambria Math"/>
                                          </a:rPr>
                                        </m:ctrlPr>
                                      </m:dPr>
                                      <m:e>
                                        <m:f>
                                          <m:fPr>
                                            <m:ctrlPr>
                                              <a:rPr lang="en-US" i="1">
                                                <a:solidFill>
                                                  <a:srgbClr val="FF0000"/>
                                                </a:solidFill>
                                                <a:latin typeface="Cambria Math" panose="02040503050406030204" pitchFamily="18" charset="0"/>
                                                <a:cs typeface="Times New Roman" pitchFamily="18" charset="0"/>
                                              </a:rPr>
                                            </m:ctrlPr>
                                          </m:fPr>
                                          <m:num>
                                            <m:r>
                                              <a:rPr lang="en-US" i="1">
                                                <a:solidFill>
                                                  <a:srgbClr val="FF0000"/>
                                                </a:solidFill>
                                                <a:latin typeface="Cambria Math"/>
                                                <a:ea typeface="Cambria Math"/>
                                                <a:cs typeface="Times New Roman" pitchFamily="18" charset="0"/>
                                              </a:rPr>
                                              <m:t>𝜔</m:t>
                                            </m:r>
                                          </m:num>
                                          <m:den>
                                            <m:sSub>
                                              <m:sSubPr>
                                                <m:ctrlPr>
                                                  <a:rPr lang="en-US" i="1">
                                                    <a:solidFill>
                                                      <a:srgbClr val="FF0000"/>
                                                    </a:solidFill>
                                                    <a:latin typeface="Cambria Math" panose="02040503050406030204" pitchFamily="18" charset="0"/>
                                                    <a:cs typeface="Times New Roman" pitchFamily="18" charset="0"/>
                                                  </a:rPr>
                                                </m:ctrlPr>
                                              </m:sSubPr>
                                              <m:e>
                                                <m:r>
                                                  <a:rPr lang="en-US" i="1">
                                                    <a:solidFill>
                                                      <a:srgbClr val="FF0000"/>
                                                    </a:solidFill>
                                                    <a:latin typeface="Cambria Math"/>
                                                    <a:ea typeface="Cambria Math"/>
                                                    <a:cs typeface="Times New Roman" pitchFamily="18" charset="0"/>
                                                  </a:rPr>
                                                  <m:t>𝜔</m:t>
                                                </m:r>
                                              </m:e>
                                              <m:sub>
                                                <m:r>
                                                  <a:rPr lang="en-US" i="1">
                                                    <a:solidFill>
                                                      <a:srgbClr val="FF0000"/>
                                                    </a:solidFill>
                                                    <a:latin typeface="Cambria Math"/>
                                                    <a:cs typeface="Times New Roman" pitchFamily="18" charset="0"/>
                                                  </a:rPr>
                                                  <m:t>𝑛</m:t>
                                                </m:r>
                                              </m:sub>
                                            </m:sSub>
                                          </m:den>
                                        </m:f>
                                      </m:e>
                                    </m:d>
                                  </m:e>
                                </m:d>
                              </m:e>
                              <m:sup>
                                <m:r>
                                  <a:rPr lang="en-US" i="1">
                                    <a:solidFill>
                                      <a:srgbClr val="FF0000"/>
                                    </a:solidFill>
                                    <a:latin typeface="Cambria Math"/>
                                    <a:cs typeface="Times New Roman" pitchFamily="18" charset="0"/>
                                  </a:rPr>
                                  <m:t>2</m:t>
                                </m:r>
                              </m:sup>
                            </m:sSup>
                          </m:e>
                        </m:rad>
                      </m:den>
                    </m:f>
                  </m:oMath>
                </a14:m>
                <a:r>
                  <a:rPr lang="en-US" dirty="0">
                    <a:latin typeface="Times New Roman" pitchFamily="18" charset="0"/>
                    <a:cs typeface="Times New Roman" pitchFamily="18" charset="0"/>
                  </a:rPr>
                  <a:t> and  </a:t>
                </a:r>
                <a14:m>
                  <m:oMath xmlns:m="http://schemas.openxmlformats.org/officeDocument/2006/math">
                    <m:r>
                      <a:rPr lang="en-US" i="1">
                        <a:solidFill>
                          <a:srgbClr val="FF0000"/>
                        </a:solidFill>
                        <a:latin typeface="Cambria Math"/>
                        <a:ea typeface="Cambria Math"/>
                        <a:cs typeface="Times New Roman" pitchFamily="18" charset="0"/>
                      </a:rPr>
                      <m:t>𝜑</m:t>
                    </m:r>
                    <m:r>
                      <a:rPr lang="en-US" i="1">
                        <a:solidFill>
                          <a:srgbClr val="FF0000"/>
                        </a:solidFill>
                        <a:latin typeface="Cambria Math"/>
                        <a:ea typeface="Cambria Math"/>
                        <a:cs typeface="Times New Roman" pitchFamily="18" charset="0"/>
                      </a:rPr>
                      <m:t>=</m:t>
                    </m:r>
                    <m:func>
                      <m:funcPr>
                        <m:ctrlPr>
                          <a:rPr lang="en-IN" i="1" dirty="0">
                            <a:latin typeface="Cambria Math" panose="02040503050406030204" pitchFamily="18" charset="0"/>
                          </a:rPr>
                        </m:ctrlPr>
                      </m:funcPr>
                      <m:fName>
                        <m:sSup>
                          <m:sSupPr>
                            <m:ctrlPr>
                              <a:rPr lang="en-IN" i="1" dirty="0">
                                <a:latin typeface="Cambria Math" panose="02040503050406030204" pitchFamily="18" charset="0"/>
                              </a:rPr>
                            </m:ctrlPr>
                          </m:sSupPr>
                          <m:e>
                            <m:r>
                              <m:rPr>
                                <m:sty m:val="p"/>
                              </m:rPr>
                              <a:rPr lang="en-IN" dirty="0">
                                <a:latin typeface="Cambria Math"/>
                              </a:rPr>
                              <m:t>tan</m:t>
                            </m:r>
                          </m:e>
                          <m:sup>
                            <m:r>
                              <a:rPr lang="en-IN" i="1" dirty="0">
                                <a:latin typeface="Cambria Math"/>
                              </a:rPr>
                              <m:t>−1</m:t>
                            </m:r>
                          </m:sup>
                        </m:sSup>
                      </m:fName>
                      <m:e>
                        <m:d>
                          <m:dPr>
                            <m:begChr m:val="["/>
                            <m:endChr m:val="]"/>
                            <m:ctrlPr>
                              <a:rPr lang="en-IN" i="1" dirty="0">
                                <a:latin typeface="Cambria Math" panose="02040503050406030204" pitchFamily="18" charset="0"/>
                              </a:rPr>
                            </m:ctrlPr>
                          </m:dPr>
                          <m:e>
                            <m:f>
                              <m:fPr>
                                <m:ctrlPr>
                                  <a:rPr lang="en-IN" i="1" dirty="0">
                                    <a:latin typeface="Cambria Math" panose="02040503050406030204" pitchFamily="18" charset="0"/>
                                  </a:rPr>
                                </m:ctrlPr>
                              </m:fPr>
                              <m:num>
                                <m:r>
                                  <a:rPr lang="en-US" i="1">
                                    <a:latin typeface="Cambria Math"/>
                                  </a:rPr>
                                  <m:t>2</m:t>
                                </m:r>
                                <m:r>
                                  <a:rPr lang="en-US" i="1">
                                    <a:latin typeface="Cambria Math"/>
                                    <a:ea typeface="Cambria Math"/>
                                  </a:rPr>
                                  <m:t>𝜁</m:t>
                                </m:r>
                                <m:d>
                                  <m:dPr>
                                    <m:ctrlPr>
                                      <a:rPr lang="en-US" i="1">
                                        <a:latin typeface="Cambria Math" panose="02040503050406030204" pitchFamily="18" charset="0"/>
                                        <a:ea typeface="Cambria Math"/>
                                      </a:rPr>
                                    </m:ctrlPr>
                                  </m:dPr>
                                  <m:e>
                                    <m:f>
                                      <m:fPr>
                                        <m:ctrlPr>
                                          <a:rPr lang="en-US" i="1">
                                            <a:solidFill>
                                              <a:srgbClr val="FF0000"/>
                                            </a:solidFill>
                                            <a:latin typeface="Cambria Math" panose="02040503050406030204" pitchFamily="18" charset="0"/>
                                            <a:cs typeface="Times New Roman" pitchFamily="18" charset="0"/>
                                          </a:rPr>
                                        </m:ctrlPr>
                                      </m:fPr>
                                      <m:num>
                                        <m:r>
                                          <a:rPr lang="en-US" i="1">
                                            <a:solidFill>
                                              <a:srgbClr val="FF0000"/>
                                            </a:solidFill>
                                            <a:latin typeface="Cambria Math"/>
                                            <a:ea typeface="Cambria Math"/>
                                            <a:cs typeface="Times New Roman" pitchFamily="18" charset="0"/>
                                          </a:rPr>
                                          <m:t>𝜔</m:t>
                                        </m:r>
                                      </m:num>
                                      <m:den>
                                        <m:sSub>
                                          <m:sSubPr>
                                            <m:ctrlPr>
                                              <a:rPr lang="en-US" i="1">
                                                <a:solidFill>
                                                  <a:srgbClr val="FF0000"/>
                                                </a:solidFill>
                                                <a:latin typeface="Cambria Math" panose="02040503050406030204" pitchFamily="18" charset="0"/>
                                                <a:cs typeface="Times New Roman" pitchFamily="18" charset="0"/>
                                              </a:rPr>
                                            </m:ctrlPr>
                                          </m:sSubPr>
                                          <m:e>
                                            <m:r>
                                              <a:rPr lang="en-US" i="1">
                                                <a:solidFill>
                                                  <a:srgbClr val="FF0000"/>
                                                </a:solidFill>
                                                <a:latin typeface="Cambria Math"/>
                                                <a:ea typeface="Cambria Math"/>
                                                <a:cs typeface="Times New Roman" pitchFamily="18" charset="0"/>
                                              </a:rPr>
                                              <m:t>𝜔</m:t>
                                            </m:r>
                                          </m:e>
                                          <m:sub>
                                            <m:r>
                                              <a:rPr lang="en-US" i="1">
                                                <a:solidFill>
                                                  <a:srgbClr val="FF0000"/>
                                                </a:solidFill>
                                                <a:latin typeface="Cambria Math"/>
                                                <a:cs typeface="Times New Roman" pitchFamily="18" charset="0"/>
                                              </a:rPr>
                                              <m:t>𝑛</m:t>
                                            </m:r>
                                          </m:sub>
                                        </m:sSub>
                                      </m:den>
                                    </m:f>
                                  </m:e>
                                </m:d>
                              </m:num>
                              <m:den>
                                <m:r>
                                  <a:rPr lang="en-US" i="1" dirty="0">
                                    <a:latin typeface="Cambria Math"/>
                                  </a:rPr>
                                  <m:t>1−</m:t>
                                </m:r>
                                <m:sSup>
                                  <m:sSupPr>
                                    <m:ctrlPr>
                                      <a:rPr lang="en-US" i="1">
                                        <a:solidFill>
                                          <a:srgbClr val="FF0000"/>
                                        </a:solidFill>
                                        <a:latin typeface="Cambria Math" panose="02040503050406030204" pitchFamily="18" charset="0"/>
                                        <a:cs typeface="Times New Roman" pitchFamily="18" charset="0"/>
                                      </a:rPr>
                                    </m:ctrlPr>
                                  </m:sSupPr>
                                  <m:e>
                                    <m:d>
                                      <m:dPr>
                                        <m:ctrlPr>
                                          <a:rPr lang="en-US" i="1">
                                            <a:solidFill>
                                              <a:srgbClr val="FF0000"/>
                                            </a:solidFill>
                                            <a:latin typeface="Cambria Math" panose="02040503050406030204" pitchFamily="18" charset="0"/>
                                            <a:cs typeface="Times New Roman" pitchFamily="18" charset="0"/>
                                          </a:rPr>
                                        </m:ctrlPr>
                                      </m:dPr>
                                      <m:e>
                                        <m:f>
                                          <m:fPr>
                                            <m:ctrlPr>
                                              <a:rPr lang="en-US" i="1">
                                                <a:solidFill>
                                                  <a:srgbClr val="FF0000"/>
                                                </a:solidFill>
                                                <a:latin typeface="Cambria Math" panose="02040503050406030204" pitchFamily="18" charset="0"/>
                                                <a:cs typeface="Times New Roman" pitchFamily="18" charset="0"/>
                                              </a:rPr>
                                            </m:ctrlPr>
                                          </m:fPr>
                                          <m:num>
                                            <m:r>
                                              <a:rPr lang="en-US" i="1">
                                                <a:solidFill>
                                                  <a:srgbClr val="FF0000"/>
                                                </a:solidFill>
                                                <a:latin typeface="Cambria Math"/>
                                                <a:ea typeface="Cambria Math"/>
                                                <a:cs typeface="Times New Roman" pitchFamily="18" charset="0"/>
                                              </a:rPr>
                                              <m:t>𝜔</m:t>
                                            </m:r>
                                          </m:num>
                                          <m:den>
                                            <m:sSub>
                                              <m:sSubPr>
                                                <m:ctrlPr>
                                                  <a:rPr lang="en-US" i="1">
                                                    <a:solidFill>
                                                      <a:srgbClr val="FF0000"/>
                                                    </a:solidFill>
                                                    <a:latin typeface="Cambria Math" panose="02040503050406030204" pitchFamily="18" charset="0"/>
                                                    <a:cs typeface="Times New Roman" pitchFamily="18" charset="0"/>
                                                  </a:rPr>
                                                </m:ctrlPr>
                                              </m:sSubPr>
                                              <m:e>
                                                <m:r>
                                                  <a:rPr lang="en-US" i="1">
                                                    <a:solidFill>
                                                      <a:srgbClr val="FF0000"/>
                                                    </a:solidFill>
                                                    <a:latin typeface="Cambria Math"/>
                                                    <a:ea typeface="Cambria Math"/>
                                                    <a:cs typeface="Times New Roman" pitchFamily="18" charset="0"/>
                                                  </a:rPr>
                                                  <m:t>𝜔</m:t>
                                                </m:r>
                                              </m:e>
                                              <m:sub>
                                                <m:r>
                                                  <a:rPr lang="en-US" i="1">
                                                    <a:solidFill>
                                                      <a:srgbClr val="FF0000"/>
                                                    </a:solidFill>
                                                    <a:latin typeface="Cambria Math"/>
                                                    <a:cs typeface="Times New Roman" pitchFamily="18" charset="0"/>
                                                  </a:rPr>
                                                  <m:t>𝑛</m:t>
                                                </m:r>
                                              </m:sub>
                                            </m:sSub>
                                          </m:den>
                                        </m:f>
                                      </m:e>
                                    </m:d>
                                  </m:e>
                                  <m:sup>
                                    <m:r>
                                      <a:rPr lang="en-US" i="1">
                                        <a:solidFill>
                                          <a:srgbClr val="FF0000"/>
                                        </a:solidFill>
                                        <a:latin typeface="Cambria Math"/>
                                        <a:cs typeface="Times New Roman" pitchFamily="18" charset="0"/>
                                      </a:rPr>
                                      <m:t>2</m:t>
                                    </m:r>
                                  </m:sup>
                                </m:sSup>
                              </m:den>
                            </m:f>
                          </m:e>
                        </m:d>
                      </m:e>
                    </m:func>
                  </m:oMath>
                </a14:m>
                <a:endParaRPr lang="en-US" dirty="0">
                  <a:latin typeface="Times New Roman" pitchFamily="18" charset="0"/>
                  <a:cs typeface="Times New Roman"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223327" y="1156554"/>
                <a:ext cx="11769969" cy="1728358"/>
              </a:xfrm>
              <a:prstGeom prst="rect">
                <a:avLst/>
              </a:prstGeom>
              <a:blipFill rotWithShape="0">
                <a:blip r:embed="rId2"/>
                <a:stretch>
                  <a:fillRect l="-466" t="-24735" b="-2120"/>
                </a:stretch>
              </a:blipFill>
            </p:spPr>
            <p:txBody>
              <a:bodyPr/>
              <a:lstStyle/>
              <a:p>
                <a:r>
                  <a:rPr lang="en-IN">
                    <a:noFill/>
                  </a:rPr>
                  <a:t> </a:t>
                </a:r>
              </a:p>
            </p:txBody>
          </p:sp>
        </mc:Fallback>
      </mc:AlternateContent>
      <p:pic>
        <p:nvPicPr>
          <p:cNvPr id="6" name="Picture 5"/>
          <p:cNvPicPr>
            <a:picLocks noChangeAspect="1"/>
          </p:cNvPicPr>
          <p:nvPr/>
        </p:nvPicPr>
        <p:blipFill>
          <a:blip r:embed="rId3"/>
          <a:stretch>
            <a:fillRect/>
          </a:stretch>
        </p:blipFill>
        <p:spPr>
          <a:xfrm>
            <a:off x="720683" y="2999864"/>
            <a:ext cx="3454810" cy="3420000"/>
          </a:xfrm>
          <a:prstGeom prst="rect">
            <a:avLst/>
          </a:prstGeom>
        </p:spPr>
      </p:pic>
      <p:pic>
        <p:nvPicPr>
          <p:cNvPr id="8" name="Picture 7"/>
          <p:cNvPicPr>
            <a:picLocks noChangeAspect="1"/>
          </p:cNvPicPr>
          <p:nvPr/>
        </p:nvPicPr>
        <p:blipFill>
          <a:blip r:embed="rId4"/>
          <a:stretch>
            <a:fillRect/>
          </a:stretch>
        </p:blipFill>
        <p:spPr>
          <a:xfrm>
            <a:off x="4421923" y="2977522"/>
            <a:ext cx="3173901" cy="3420000"/>
          </a:xfrm>
          <a:prstGeom prst="rect">
            <a:avLst/>
          </a:prstGeom>
        </p:spPr>
      </p:pic>
    </p:spTree>
    <p:extLst>
      <p:ext uri="{BB962C8B-B14F-4D97-AF65-F5344CB8AC3E}">
        <p14:creationId xmlns:p14="http://schemas.microsoft.com/office/powerpoint/2010/main" val="2405539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Steady state vibrations</a:t>
            </a:r>
            <a:endParaRPr lang="en-IN" sz="3600" dirty="0">
              <a:solidFill>
                <a:srgbClr val="7030A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4" name="Rectangle 3"/>
              <p:cNvSpPr/>
              <p:nvPr/>
            </p:nvSpPr>
            <p:spPr>
              <a:xfrm>
                <a:off x="305706" y="4051891"/>
                <a:ext cx="11687592" cy="2181879"/>
              </a:xfrm>
              <a:prstGeom prst="rect">
                <a:avLst/>
              </a:prstGeom>
            </p:spPr>
            <p:txBody>
              <a:bodyPr wrap="square">
                <a:spAutoFit/>
              </a:bodyPr>
              <a:lstStyle/>
              <a:p>
                <a:r>
                  <a:rPr lang="en-US" dirty="0">
                    <a:solidFill>
                      <a:srgbClr val="FF0000"/>
                    </a:solidFill>
                    <a:latin typeface="Times New Roman" pitchFamily="18" charset="0"/>
                    <a:cs typeface="Times New Roman" pitchFamily="18" charset="0"/>
                  </a:rPr>
                  <a:t>Conclusions:</a:t>
                </a:r>
              </a:p>
              <a:p>
                <a:endParaRPr lang="en-US" dirty="0">
                  <a:solidFill>
                    <a:srgbClr val="FF0000"/>
                  </a:solidFill>
                  <a:latin typeface="Times New Roman" pitchFamily="18" charset="0"/>
                  <a:cs typeface="Times New Roman" pitchFamily="18" charset="0"/>
                </a:endParaRPr>
              </a:p>
              <a:p>
                <a:pPr marL="285750" indent="-285750">
                  <a:buFont typeface="Arial" panose="020B0604020202020204" pitchFamily="34" charset="0"/>
                  <a:buChar char="•"/>
                </a:pPr>
                <a:r>
                  <a:rPr lang="en-US" dirty="0">
                    <a:solidFill>
                      <a:srgbClr val="7030A0"/>
                    </a:solidFill>
                    <a:latin typeface="Times New Roman" pitchFamily="18" charset="0"/>
                    <a:cs typeface="Times New Roman" pitchFamily="18" charset="0"/>
                  </a:rPr>
                  <a:t>At very low frequency, the phase angle is zero and the impressed force balances the spring force.</a:t>
                </a:r>
              </a:p>
              <a:p>
                <a:pPr marL="285750" indent="-285750">
                  <a:buFont typeface="Arial" panose="020B0604020202020204" pitchFamily="34" charset="0"/>
                  <a:buChar char="•"/>
                </a:pPr>
                <a:r>
                  <a:rPr lang="en-US" dirty="0">
                    <a:latin typeface="Times New Roman" pitchFamily="18" charset="0"/>
                    <a:cs typeface="Times New Roman" pitchFamily="18" charset="0"/>
                  </a:rPr>
                  <a:t>At the resonance frequency, the phase angle is </a:t>
                </a:r>
                <a14:m>
                  <m:oMath xmlns:m="http://schemas.openxmlformats.org/officeDocument/2006/math">
                    <m:sSup>
                      <m:sSupPr>
                        <m:ctrlPr>
                          <a:rPr lang="en-IN" i="1">
                            <a:solidFill>
                              <a:srgbClr val="FF0000"/>
                            </a:solidFill>
                            <a:latin typeface="Cambria Math" panose="02040503050406030204" pitchFamily="18" charset="0"/>
                            <a:cs typeface="Times New Roman" panose="02020603050405020304" pitchFamily="18" charset="0"/>
                          </a:rPr>
                        </m:ctrlPr>
                      </m:sSupPr>
                      <m:e>
                        <m:r>
                          <a:rPr lang="en-IN" b="0" i="1" smtClean="0">
                            <a:solidFill>
                              <a:srgbClr val="FF0000"/>
                            </a:solidFill>
                            <a:latin typeface="Cambria Math" panose="02040503050406030204" pitchFamily="18" charset="0"/>
                            <a:cs typeface="Times New Roman" panose="02020603050405020304" pitchFamily="18" charset="0"/>
                          </a:rPr>
                          <m:t>9</m:t>
                        </m:r>
                        <m:r>
                          <a:rPr lang="en-IN" i="1">
                            <a:solidFill>
                              <a:srgbClr val="FF0000"/>
                            </a:solidFill>
                            <a:latin typeface="Cambria Math" panose="02040503050406030204" pitchFamily="18" charset="0"/>
                            <a:cs typeface="Times New Roman" panose="02020603050405020304" pitchFamily="18" charset="0"/>
                          </a:rPr>
                          <m:t>0</m:t>
                        </m:r>
                      </m:e>
                      <m:sup>
                        <m:r>
                          <a:rPr lang="en-IN" i="1">
                            <a:solidFill>
                              <a:srgbClr val="FF0000"/>
                            </a:solidFill>
                            <a:latin typeface="Cambria Math" panose="02040503050406030204" pitchFamily="18" charset="0"/>
                            <a:cs typeface="Times New Roman" panose="02020603050405020304" pitchFamily="18" charset="0"/>
                          </a:rPr>
                          <m:t>0</m:t>
                        </m:r>
                      </m:sup>
                    </m:sSup>
                  </m:oMath>
                </a14:m>
                <a:r>
                  <a:rPr lang="en-US" dirty="0">
                    <a:latin typeface="Times New Roman" pitchFamily="18" charset="0"/>
                    <a:cs typeface="Times New Roman" pitchFamily="18" charset="0"/>
                  </a:rPr>
                  <a:t> and the impressed force balances the damping force. The amplitude at resonance is inversely proportional to the damping factor. Therefore, </a:t>
                </a:r>
                <a14:m>
                  <m:oMath xmlns:m="http://schemas.openxmlformats.org/officeDocument/2006/math">
                    <m:f>
                      <m:fPr>
                        <m:ctrlPr>
                          <a:rPr lang="en-IN" i="1">
                            <a:solidFill>
                              <a:srgbClr val="FF0000"/>
                            </a:solidFill>
                            <a:latin typeface="Cambria Math" panose="02040503050406030204" pitchFamily="18" charset="0"/>
                            <a:cs typeface="Times New Roman" pitchFamily="18" charset="0"/>
                          </a:rPr>
                        </m:ctrlPr>
                      </m:fPr>
                      <m:num>
                        <m:sSub>
                          <m:sSubPr>
                            <m:ctrlPr>
                              <a:rPr lang="en-IN" i="1" smtClean="0">
                                <a:solidFill>
                                  <a:srgbClr val="FF0000"/>
                                </a:solidFill>
                                <a:latin typeface="Cambria Math" panose="02040503050406030204" pitchFamily="18" charset="0"/>
                                <a:cs typeface="Times New Roman" pitchFamily="18" charset="0"/>
                              </a:rPr>
                            </m:ctrlPr>
                          </m:sSubPr>
                          <m:e>
                            <m:r>
                              <a:rPr lang="en-IN" b="0" i="1" smtClean="0">
                                <a:solidFill>
                                  <a:srgbClr val="FF0000"/>
                                </a:solidFill>
                                <a:latin typeface="Cambria Math" panose="02040503050406030204" pitchFamily="18" charset="0"/>
                                <a:cs typeface="Times New Roman" pitchFamily="18" charset="0"/>
                              </a:rPr>
                              <m:t>𝑋</m:t>
                            </m:r>
                          </m:e>
                          <m:sub>
                            <m:r>
                              <a:rPr lang="en-IN" b="0" i="1" smtClean="0">
                                <a:solidFill>
                                  <a:srgbClr val="FF0000"/>
                                </a:solidFill>
                                <a:latin typeface="Cambria Math" panose="02040503050406030204" pitchFamily="18" charset="0"/>
                                <a:cs typeface="Times New Roman" pitchFamily="18" charset="0"/>
                              </a:rPr>
                              <m:t>𝑟</m:t>
                            </m:r>
                          </m:sub>
                        </m:sSub>
                      </m:num>
                      <m:den>
                        <m:sSub>
                          <m:sSubPr>
                            <m:ctrlPr>
                              <a:rPr lang="en-US" i="1">
                                <a:solidFill>
                                  <a:srgbClr val="FF0000"/>
                                </a:solidFill>
                                <a:latin typeface="Cambria Math" panose="02040503050406030204" pitchFamily="18" charset="0"/>
                                <a:cs typeface="Times New Roman" pitchFamily="18" charset="0"/>
                              </a:rPr>
                            </m:ctrlPr>
                          </m:sSubPr>
                          <m:e>
                            <m:r>
                              <a:rPr lang="en-US" i="1">
                                <a:solidFill>
                                  <a:srgbClr val="FF0000"/>
                                </a:solidFill>
                                <a:latin typeface="Cambria Math"/>
                                <a:cs typeface="Times New Roman" pitchFamily="18" charset="0"/>
                              </a:rPr>
                              <m:t>𝑋</m:t>
                            </m:r>
                          </m:e>
                          <m:sub>
                            <m:r>
                              <m:rPr>
                                <m:sty m:val="p"/>
                              </m:rPr>
                              <a:rPr lang="en-US">
                                <a:solidFill>
                                  <a:srgbClr val="FF0000"/>
                                </a:solidFill>
                                <a:latin typeface="Cambria Math"/>
                                <a:cs typeface="Times New Roman" pitchFamily="18" charset="0"/>
                              </a:rPr>
                              <m:t>st</m:t>
                            </m:r>
                          </m:sub>
                        </m:sSub>
                      </m:den>
                    </m:f>
                    <m:r>
                      <a:rPr lang="en-IN" b="0" i="1" smtClean="0">
                        <a:solidFill>
                          <a:srgbClr val="FF0000"/>
                        </a:solidFill>
                        <a:latin typeface="Cambria Math" panose="02040503050406030204" pitchFamily="18" charset="0"/>
                        <a:cs typeface="Times New Roman" pitchFamily="18" charset="0"/>
                      </a:rPr>
                      <m:t>=</m:t>
                    </m:r>
                    <m:f>
                      <m:fPr>
                        <m:ctrlPr>
                          <a:rPr lang="en-IN" b="0" i="1" smtClean="0">
                            <a:solidFill>
                              <a:srgbClr val="FF0000"/>
                            </a:solidFill>
                            <a:latin typeface="Cambria Math" panose="02040503050406030204" pitchFamily="18" charset="0"/>
                            <a:cs typeface="Times New Roman" pitchFamily="18" charset="0"/>
                          </a:rPr>
                        </m:ctrlPr>
                      </m:fPr>
                      <m:num>
                        <m:r>
                          <a:rPr lang="en-IN" b="0" i="1" smtClean="0">
                            <a:solidFill>
                              <a:srgbClr val="FF0000"/>
                            </a:solidFill>
                            <a:latin typeface="Cambria Math" panose="02040503050406030204" pitchFamily="18" charset="0"/>
                            <a:cs typeface="Times New Roman" pitchFamily="18" charset="0"/>
                          </a:rPr>
                          <m:t>1</m:t>
                        </m:r>
                      </m:num>
                      <m:den>
                        <m:r>
                          <a:rPr lang="en-IN" b="0" i="1" smtClean="0">
                            <a:solidFill>
                              <a:srgbClr val="FF0000"/>
                            </a:solidFill>
                            <a:latin typeface="Cambria Math" panose="02040503050406030204" pitchFamily="18" charset="0"/>
                            <a:cs typeface="Times New Roman" pitchFamily="18" charset="0"/>
                          </a:rPr>
                          <m:t>2</m:t>
                        </m:r>
                        <m:r>
                          <a:rPr lang="en-IN" b="0" i="1" smtClean="0">
                            <a:solidFill>
                              <a:srgbClr val="FF0000"/>
                            </a:solidFill>
                            <a:latin typeface="Cambria Math" panose="02040503050406030204" pitchFamily="18" charset="0"/>
                            <a:ea typeface="Cambria Math" panose="02040503050406030204" pitchFamily="18" charset="0"/>
                            <a:cs typeface="Times New Roman" pitchFamily="18" charset="0"/>
                          </a:rPr>
                          <m:t>𝜁</m:t>
                        </m:r>
                      </m:den>
                    </m:f>
                  </m:oMath>
                </a14:m>
                <a:r>
                  <a:rPr lang="en-US" dirty="0">
                    <a:latin typeface="Times New Roman" pitchFamily="18" charset="0"/>
                    <a:cs typeface="Times New Roman" pitchFamily="18" charset="0"/>
                  </a:rPr>
                  <a:t>. Also, the spring force and the inertia force are equal and opposite in resonance.</a:t>
                </a:r>
              </a:p>
              <a:p>
                <a:pPr marL="285750" indent="-285750">
                  <a:buFont typeface="Arial" panose="020B0604020202020204" pitchFamily="34" charset="0"/>
                  <a:buChar char="•"/>
                </a:pPr>
                <a:r>
                  <a:rPr lang="en-US" dirty="0">
                    <a:solidFill>
                      <a:srgbClr val="00B050"/>
                    </a:solidFill>
                    <a:latin typeface="Times New Roman" pitchFamily="18" charset="0"/>
                    <a:cs typeface="Times New Roman" pitchFamily="18" charset="0"/>
                  </a:rPr>
                  <a:t>At high frequencies the phase angle is </a:t>
                </a:r>
                <a14:m>
                  <m:oMath xmlns:m="http://schemas.openxmlformats.org/officeDocument/2006/math">
                    <m:sSup>
                      <m:sSupPr>
                        <m:ctrlPr>
                          <a:rPr lang="en-IN" i="1">
                            <a:solidFill>
                              <a:srgbClr val="FF0000"/>
                            </a:solidFill>
                            <a:latin typeface="Cambria Math" panose="02040503050406030204" pitchFamily="18" charset="0"/>
                            <a:cs typeface="Times New Roman" panose="02020603050405020304" pitchFamily="18" charset="0"/>
                          </a:rPr>
                        </m:ctrlPr>
                      </m:sSupPr>
                      <m:e>
                        <m:r>
                          <a:rPr lang="en-IN" b="0" i="1" smtClean="0">
                            <a:solidFill>
                              <a:srgbClr val="FF0000"/>
                            </a:solidFill>
                            <a:latin typeface="Cambria Math" panose="02040503050406030204" pitchFamily="18" charset="0"/>
                            <a:cs typeface="Times New Roman" panose="02020603050405020304" pitchFamily="18" charset="0"/>
                          </a:rPr>
                          <m:t>18</m:t>
                        </m:r>
                        <m:r>
                          <a:rPr lang="en-IN" i="1">
                            <a:solidFill>
                              <a:srgbClr val="FF0000"/>
                            </a:solidFill>
                            <a:latin typeface="Cambria Math" panose="02040503050406030204" pitchFamily="18" charset="0"/>
                            <a:cs typeface="Times New Roman" panose="02020603050405020304" pitchFamily="18" charset="0"/>
                          </a:rPr>
                          <m:t>0</m:t>
                        </m:r>
                      </m:e>
                      <m:sup>
                        <m:r>
                          <a:rPr lang="en-IN" i="1">
                            <a:solidFill>
                              <a:srgbClr val="FF0000"/>
                            </a:solidFill>
                            <a:latin typeface="Cambria Math" panose="02040503050406030204" pitchFamily="18" charset="0"/>
                            <a:cs typeface="Times New Roman" panose="02020603050405020304" pitchFamily="18" charset="0"/>
                          </a:rPr>
                          <m:t>0</m:t>
                        </m:r>
                      </m:sup>
                    </m:sSup>
                  </m:oMath>
                </a14:m>
                <a:r>
                  <a:rPr lang="en-US" dirty="0">
                    <a:solidFill>
                      <a:srgbClr val="00B050"/>
                    </a:solidFill>
                    <a:latin typeface="Times New Roman" pitchFamily="18" charset="0"/>
                    <a:cs typeface="Times New Roman" pitchFamily="18" charset="0"/>
                  </a:rPr>
                  <a:t> and the impressed force balances the inertia force.</a:t>
                </a:r>
              </a:p>
            </p:txBody>
          </p:sp>
        </mc:Choice>
        <mc:Fallback xmlns="">
          <p:sp>
            <p:nvSpPr>
              <p:cNvPr id="4" name="Rectangle 3"/>
              <p:cNvSpPr>
                <a:spLocks noRot="1" noChangeAspect="1" noMove="1" noResize="1" noEditPoints="1" noAdjustHandles="1" noChangeArrowheads="1" noChangeShapeType="1" noTextEdit="1"/>
              </p:cNvSpPr>
              <p:nvPr/>
            </p:nvSpPr>
            <p:spPr>
              <a:xfrm>
                <a:off x="305706" y="4051891"/>
                <a:ext cx="11687592" cy="2181879"/>
              </a:xfrm>
              <a:prstGeom prst="rect">
                <a:avLst/>
              </a:prstGeom>
              <a:blipFill rotWithShape="0">
                <a:blip r:embed="rId2"/>
                <a:stretch>
                  <a:fillRect l="-417" t="-1676" b="-3631"/>
                </a:stretch>
              </a:blipFill>
            </p:spPr>
            <p:txBody>
              <a:bodyPr/>
              <a:lstStyle/>
              <a:p>
                <a:r>
                  <a:rPr lang="en-IN">
                    <a:noFill/>
                  </a:rPr>
                  <a:t> </a:t>
                </a:r>
              </a:p>
            </p:txBody>
          </p:sp>
        </mc:Fallback>
      </mc:AlternateContent>
      <p:pic>
        <p:nvPicPr>
          <p:cNvPr id="3" name="Picture 2"/>
          <p:cNvPicPr>
            <a:picLocks noChangeAspect="1"/>
          </p:cNvPicPr>
          <p:nvPr/>
        </p:nvPicPr>
        <p:blipFill rotWithShape="1">
          <a:blip r:embed="rId3"/>
          <a:srcRect l="14401" t="1904"/>
          <a:stretch/>
        </p:blipFill>
        <p:spPr>
          <a:xfrm rot="5400000">
            <a:off x="4385106" y="-1769100"/>
            <a:ext cx="2774346" cy="8489862"/>
          </a:xfrm>
          <a:prstGeom prst="rect">
            <a:avLst/>
          </a:prstGeom>
        </p:spPr>
      </p:pic>
    </p:spTree>
    <p:extLst>
      <p:ext uri="{BB962C8B-B14F-4D97-AF65-F5344CB8AC3E}">
        <p14:creationId xmlns:p14="http://schemas.microsoft.com/office/powerpoint/2010/main" val="3581841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Steady state vibrations</a:t>
            </a:r>
            <a:endParaRPr lang="en-IN" sz="3600" dirty="0">
              <a:solidFill>
                <a:srgbClr val="7030A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4" name="Rectangle 3"/>
              <p:cNvSpPr/>
              <p:nvPr/>
            </p:nvSpPr>
            <p:spPr>
              <a:xfrm>
                <a:off x="223328" y="1063944"/>
                <a:ext cx="11687592" cy="5365380"/>
              </a:xfrm>
              <a:prstGeom prst="rect">
                <a:avLst/>
              </a:prstGeom>
            </p:spPr>
            <p:txBody>
              <a:bodyPr wrap="square">
                <a:spAutoFit/>
              </a:bodyPr>
              <a:lstStyle/>
              <a:p>
                <a:r>
                  <a:rPr lang="en-US" sz="2400" dirty="0">
                    <a:solidFill>
                      <a:srgbClr val="FF0000"/>
                    </a:solidFill>
                    <a:latin typeface="Times New Roman" pitchFamily="18" charset="0"/>
                    <a:cs typeface="Times New Roman" pitchFamily="18" charset="0"/>
                  </a:rPr>
                  <a:t>Conclusions:</a:t>
                </a:r>
                <a:endParaRPr lang="en-US" dirty="0">
                  <a:solidFill>
                    <a:srgbClr val="FF0000"/>
                  </a:solidFill>
                  <a:latin typeface="Times New Roman" pitchFamily="18" charset="0"/>
                  <a:cs typeface="Times New Roman" pitchFamily="18" charset="0"/>
                </a:endParaRPr>
              </a:p>
              <a:p>
                <a:pPr marL="285750" indent="-285750">
                  <a:buFont typeface="Arial" panose="020B0604020202020204" pitchFamily="34" charset="0"/>
                  <a:buChar char="•"/>
                </a:pPr>
                <a:r>
                  <a:rPr lang="en-US" sz="2400" dirty="0">
                    <a:solidFill>
                      <a:srgbClr val="7030A0"/>
                    </a:solidFill>
                    <a:latin typeface="Times New Roman" pitchFamily="18" charset="0"/>
                    <a:cs typeface="Times New Roman" pitchFamily="18" charset="0"/>
                  </a:rPr>
                  <a:t>The phase angle lies between zero and </a:t>
                </a:r>
                <a14:m>
                  <m:oMath xmlns:m="http://schemas.openxmlformats.org/officeDocument/2006/math">
                    <m:sSup>
                      <m:sSupPr>
                        <m:ctrlPr>
                          <a:rPr lang="en-IN" sz="2400" i="1">
                            <a:solidFill>
                              <a:srgbClr val="FF0000"/>
                            </a:solidFill>
                            <a:latin typeface="Cambria Math" panose="02040503050406030204" pitchFamily="18" charset="0"/>
                            <a:cs typeface="Times New Roman" panose="02020603050405020304" pitchFamily="18" charset="0"/>
                          </a:rPr>
                        </m:ctrlPr>
                      </m:sSupPr>
                      <m:e>
                        <m:r>
                          <a:rPr lang="en-IN" sz="2400" b="0" i="1" smtClean="0">
                            <a:solidFill>
                              <a:srgbClr val="FF0000"/>
                            </a:solidFill>
                            <a:latin typeface="Cambria Math" panose="02040503050406030204" pitchFamily="18" charset="0"/>
                            <a:cs typeface="Times New Roman" panose="02020603050405020304" pitchFamily="18" charset="0"/>
                          </a:rPr>
                          <m:t>9</m:t>
                        </m:r>
                        <m:r>
                          <a:rPr lang="en-IN" sz="2400" i="1">
                            <a:solidFill>
                              <a:srgbClr val="FF0000"/>
                            </a:solidFill>
                            <a:latin typeface="Cambria Math" panose="02040503050406030204" pitchFamily="18" charset="0"/>
                            <a:cs typeface="Times New Roman" panose="02020603050405020304" pitchFamily="18" charset="0"/>
                          </a:rPr>
                          <m:t>0</m:t>
                        </m:r>
                      </m:e>
                      <m:sup>
                        <m:r>
                          <a:rPr lang="en-IN" sz="2400" i="1">
                            <a:solidFill>
                              <a:srgbClr val="FF0000"/>
                            </a:solidFill>
                            <a:latin typeface="Cambria Math" panose="02040503050406030204" pitchFamily="18" charset="0"/>
                            <a:cs typeface="Times New Roman" panose="02020603050405020304" pitchFamily="18" charset="0"/>
                          </a:rPr>
                          <m:t>0</m:t>
                        </m:r>
                      </m:sup>
                    </m:sSup>
                  </m:oMath>
                </a14:m>
                <a:r>
                  <a:rPr lang="en-US" sz="2400" dirty="0">
                    <a:latin typeface="Times New Roman" pitchFamily="18" charset="0"/>
                    <a:cs typeface="Times New Roman" pitchFamily="18" charset="0"/>
                  </a:rPr>
                  <a:t> </a:t>
                </a:r>
                <a:r>
                  <a:rPr lang="en-US" sz="2400" dirty="0">
                    <a:solidFill>
                      <a:srgbClr val="7030A0"/>
                    </a:solidFill>
                    <a:latin typeface="Times New Roman" pitchFamily="18" charset="0"/>
                    <a:cs typeface="Times New Roman" pitchFamily="18" charset="0"/>
                  </a:rPr>
                  <a:t>for frequencies below resonance and lies between  </a:t>
                </a:r>
                <a14:m>
                  <m:oMath xmlns:m="http://schemas.openxmlformats.org/officeDocument/2006/math">
                    <m:sSup>
                      <m:sSupPr>
                        <m:ctrlPr>
                          <a:rPr lang="en-IN" sz="2400" i="1">
                            <a:solidFill>
                              <a:srgbClr val="FF0000"/>
                            </a:solidFill>
                            <a:latin typeface="Cambria Math" panose="02040503050406030204" pitchFamily="18" charset="0"/>
                            <a:cs typeface="Times New Roman" panose="02020603050405020304" pitchFamily="18" charset="0"/>
                          </a:rPr>
                        </m:ctrlPr>
                      </m:sSupPr>
                      <m:e>
                        <m:r>
                          <a:rPr lang="en-IN" sz="2400" b="0" i="1" smtClean="0">
                            <a:solidFill>
                              <a:srgbClr val="FF0000"/>
                            </a:solidFill>
                            <a:latin typeface="Cambria Math" panose="02040503050406030204" pitchFamily="18" charset="0"/>
                            <a:cs typeface="Times New Roman" panose="02020603050405020304" pitchFamily="18" charset="0"/>
                          </a:rPr>
                          <m:t>9</m:t>
                        </m:r>
                        <m:r>
                          <a:rPr lang="en-IN" sz="2400" i="1">
                            <a:solidFill>
                              <a:srgbClr val="FF0000"/>
                            </a:solidFill>
                            <a:latin typeface="Cambria Math" panose="02040503050406030204" pitchFamily="18" charset="0"/>
                            <a:cs typeface="Times New Roman" panose="02020603050405020304" pitchFamily="18" charset="0"/>
                          </a:rPr>
                          <m:t>0</m:t>
                        </m:r>
                      </m:e>
                      <m:sup>
                        <m:r>
                          <a:rPr lang="en-IN" sz="2400" i="1">
                            <a:solidFill>
                              <a:srgbClr val="FF0000"/>
                            </a:solidFill>
                            <a:latin typeface="Cambria Math" panose="02040503050406030204" pitchFamily="18" charset="0"/>
                            <a:cs typeface="Times New Roman" panose="02020603050405020304" pitchFamily="18" charset="0"/>
                          </a:rPr>
                          <m:t>0</m:t>
                        </m:r>
                      </m:sup>
                    </m:sSup>
                  </m:oMath>
                </a14:m>
                <a:r>
                  <a:rPr lang="en-US" sz="2400" dirty="0">
                    <a:solidFill>
                      <a:srgbClr val="7030A0"/>
                    </a:solidFill>
                    <a:latin typeface="Times New Roman" pitchFamily="18" charset="0"/>
                    <a:cs typeface="Times New Roman" pitchFamily="18" charset="0"/>
                  </a:rPr>
                  <a:t> and </a:t>
                </a:r>
                <a14:m>
                  <m:oMath xmlns:m="http://schemas.openxmlformats.org/officeDocument/2006/math">
                    <m:sSup>
                      <m:sSupPr>
                        <m:ctrlPr>
                          <a:rPr lang="en-IN" sz="2400" i="1">
                            <a:solidFill>
                              <a:srgbClr val="FF0000"/>
                            </a:solidFill>
                            <a:latin typeface="Cambria Math" panose="02040503050406030204" pitchFamily="18" charset="0"/>
                            <a:cs typeface="Times New Roman" panose="02020603050405020304" pitchFamily="18" charset="0"/>
                          </a:rPr>
                        </m:ctrlPr>
                      </m:sSupPr>
                      <m:e>
                        <m:r>
                          <a:rPr lang="en-IN" sz="2400" i="1">
                            <a:solidFill>
                              <a:srgbClr val="FF0000"/>
                            </a:solidFill>
                            <a:latin typeface="Cambria Math" panose="02040503050406030204" pitchFamily="18" charset="0"/>
                            <a:cs typeface="Times New Roman" panose="02020603050405020304" pitchFamily="18" charset="0"/>
                          </a:rPr>
                          <m:t>180</m:t>
                        </m:r>
                      </m:e>
                      <m:sup>
                        <m:r>
                          <a:rPr lang="en-IN" sz="2400" i="1">
                            <a:solidFill>
                              <a:srgbClr val="FF0000"/>
                            </a:solidFill>
                            <a:latin typeface="Cambria Math" panose="02040503050406030204" pitchFamily="18" charset="0"/>
                            <a:cs typeface="Times New Roman" panose="02020603050405020304" pitchFamily="18" charset="0"/>
                          </a:rPr>
                          <m:t>0</m:t>
                        </m:r>
                      </m:sup>
                    </m:sSup>
                  </m:oMath>
                </a14:m>
                <a:r>
                  <a:rPr lang="en-US" sz="2400" dirty="0">
                    <a:solidFill>
                      <a:srgbClr val="7030A0"/>
                    </a:solidFill>
                    <a:latin typeface="Times New Roman" pitchFamily="18" charset="0"/>
                    <a:cs typeface="Times New Roman" pitchFamily="18" charset="0"/>
                  </a:rPr>
                  <a:t> for frequencies above resonance.</a:t>
                </a:r>
                <a:endParaRPr lang="en-US" sz="2400" dirty="0">
                  <a:latin typeface="Times New Roman" pitchFamily="18" charset="0"/>
                  <a:cs typeface="Times New Roman" pitchFamily="18" charset="0"/>
                </a:endParaRPr>
              </a:p>
              <a:p>
                <a:pPr marL="285750" indent="-285750">
                  <a:buFont typeface="Arial" panose="020B0604020202020204" pitchFamily="34" charset="0"/>
                  <a:buChar char="•"/>
                </a:pPr>
                <a:r>
                  <a:rPr lang="en-US" sz="2400" dirty="0">
                    <a:solidFill>
                      <a:srgbClr val="00B050"/>
                    </a:solidFill>
                    <a:latin typeface="Times New Roman" pitchFamily="18" charset="0"/>
                    <a:cs typeface="Times New Roman" pitchFamily="18" charset="0"/>
                  </a:rPr>
                  <a:t>For zero damping the maximum amplitude (infinite value) is obtained at the resonant frequency. </a:t>
                </a:r>
              </a:p>
              <a:p>
                <a:r>
                  <a:rPr lang="en-US" sz="2400" dirty="0">
                    <a:solidFill>
                      <a:schemeClr val="tx1"/>
                    </a:solidFill>
                    <a:latin typeface="Times New Roman" pitchFamily="18" charset="0"/>
                    <a:cs typeface="Times New Roman" pitchFamily="18" charset="0"/>
                  </a:rPr>
                  <a:t>The frequency at which maximum amplitude occurs can be obtained by differentiating </a:t>
                </a:r>
                <a:r>
                  <a:rPr lang="en-US" sz="2400" dirty="0">
                    <a:solidFill>
                      <a:srgbClr val="FF0000"/>
                    </a:solidFill>
                    <a:latin typeface="Times New Roman" pitchFamily="18" charset="0"/>
                    <a:cs typeface="Times New Roman" pitchFamily="18" charset="0"/>
                  </a:rPr>
                  <a:t>M.F. </a:t>
                </a:r>
                <a:r>
                  <a:rPr lang="en-US" sz="2400" dirty="0">
                    <a:solidFill>
                      <a:schemeClr val="tx1"/>
                    </a:solidFill>
                    <a:latin typeface="Times New Roman" pitchFamily="18" charset="0"/>
                    <a:cs typeface="Times New Roman" pitchFamily="18" charset="0"/>
                  </a:rPr>
                  <a:t>with respect to </a:t>
                </a:r>
                <a14:m>
                  <m:oMath xmlns:m="http://schemas.openxmlformats.org/officeDocument/2006/math">
                    <m:d>
                      <m:dPr>
                        <m:ctrlPr>
                          <a:rPr lang="en-US" sz="2400" i="1">
                            <a:solidFill>
                              <a:schemeClr val="tx1"/>
                            </a:solidFill>
                            <a:latin typeface="Cambria Math" panose="02040503050406030204" pitchFamily="18" charset="0"/>
                            <a:ea typeface="Cambria Math"/>
                          </a:rPr>
                        </m:ctrlPr>
                      </m:dPr>
                      <m:e>
                        <m:f>
                          <m:fPr>
                            <m:ctrlPr>
                              <a:rPr lang="en-US" sz="2400" i="1" smtClean="0">
                                <a:solidFill>
                                  <a:srgbClr val="FF0000"/>
                                </a:solidFill>
                                <a:latin typeface="Cambria Math" panose="02040503050406030204" pitchFamily="18" charset="0"/>
                                <a:cs typeface="Times New Roman" pitchFamily="18" charset="0"/>
                              </a:rPr>
                            </m:ctrlPr>
                          </m:fPr>
                          <m:num>
                            <m:r>
                              <a:rPr lang="en-US" sz="2400" i="1">
                                <a:solidFill>
                                  <a:srgbClr val="FF0000"/>
                                </a:solidFill>
                                <a:latin typeface="Cambria Math"/>
                                <a:ea typeface="Cambria Math"/>
                                <a:cs typeface="Times New Roman" pitchFamily="18" charset="0"/>
                              </a:rPr>
                              <m:t>𝜔</m:t>
                            </m:r>
                          </m:num>
                          <m:den>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US" sz="2400" i="1">
                                    <a:solidFill>
                                      <a:srgbClr val="FF0000"/>
                                    </a:solidFill>
                                    <a:latin typeface="Cambria Math"/>
                                    <a:cs typeface="Times New Roman" pitchFamily="18" charset="0"/>
                                  </a:rPr>
                                  <m:t>𝑛</m:t>
                                </m:r>
                              </m:sub>
                            </m:sSub>
                          </m:den>
                        </m:f>
                      </m:e>
                    </m:d>
                  </m:oMath>
                </a14:m>
                <a:r>
                  <a:rPr lang="en-US" sz="2400" dirty="0">
                    <a:solidFill>
                      <a:schemeClr val="tx1"/>
                    </a:solidFill>
                    <a:latin typeface="Times New Roman" pitchFamily="18" charset="0"/>
                    <a:cs typeface="Times New Roman" pitchFamily="18" charset="0"/>
                  </a:rPr>
                  <a:t> and equating it to zero. </a:t>
                </a:r>
              </a:p>
              <a:p>
                <a:r>
                  <a:rPr lang="en-US" sz="2400" dirty="0">
                    <a:latin typeface="Times New Roman" pitchFamily="18" charset="0"/>
                    <a:cs typeface="Times New Roman" pitchFamily="18" charset="0"/>
                  </a:rPr>
                  <a:t>Thus, </a:t>
                </a:r>
                <a14:m>
                  <m:oMath xmlns:m="http://schemas.openxmlformats.org/officeDocument/2006/math">
                    <m:f>
                      <m:fPr>
                        <m:ctrlPr>
                          <a:rPr lang="en-IN" sz="2400" i="1" smtClean="0">
                            <a:solidFill>
                              <a:srgbClr val="FF0000"/>
                            </a:solidFill>
                            <a:latin typeface="Cambria Math" panose="02040503050406030204" pitchFamily="18" charset="0"/>
                            <a:cs typeface="Times New Roman" pitchFamily="18" charset="0"/>
                          </a:rPr>
                        </m:ctrlPr>
                      </m:fPr>
                      <m:num>
                        <m:r>
                          <a:rPr lang="en-IN" sz="2400" b="0" i="1" smtClean="0">
                            <a:solidFill>
                              <a:srgbClr val="FF0000"/>
                            </a:solidFill>
                            <a:latin typeface="Cambria Math" panose="02040503050406030204" pitchFamily="18" charset="0"/>
                            <a:cs typeface="Times New Roman" pitchFamily="18" charset="0"/>
                          </a:rPr>
                          <m:t>𝑑</m:t>
                        </m:r>
                        <m:d>
                          <m:dPr>
                            <m:ctrlPr>
                              <a:rPr lang="en-IN" sz="2400" b="0" i="1" smtClean="0">
                                <a:solidFill>
                                  <a:schemeClr val="tx1"/>
                                </a:solidFill>
                                <a:latin typeface="Cambria Math" panose="02040503050406030204" pitchFamily="18" charset="0"/>
                                <a:cs typeface="Times New Roman" pitchFamily="18" charset="0"/>
                              </a:rPr>
                            </m:ctrlPr>
                          </m:dPr>
                          <m:e>
                            <m:r>
                              <m:rPr>
                                <m:sty m:val="p"/>
                              </m:rPr>
                              <a:rPr lang="en-IN" sz="2400" smtClean="0">
                                <a:solidFill>
                                  <a:srgbClr val="FF0000"/>
                                </a:solidFill>
                                <a:latin typeface="Cambria Math" panose="02040503050406030204" pitchFamily="18" charset="0"/>
                                <a:cs typeface="Times New Roman" pitchFamily="18" charset="0"/>
                              </a:rPr>
                              <m:t>M</m:t>
                            </m:r>
                            <m:r>
                              <a:rPr lang="en-IN" sz="2400" smtClean="0">
                                <a:solidFill>
                                  <a:srgbClr val="FF0000"/>
                                </a:solidFill>
                                <a:latin typeface="Cambria Math" panose="02040503050406030204" pitchFamily="18" charset="0"/>
                                <a:cs typeface="Times New Roman" pitchFamily="18" charset="0"/>
                              </a:rPr>
                              <m:t>.</m:t>
                            </m:r>
                            <m:r>
                              <m:rPr>
                                <m:sty m:val="p"/>
                              </m:rPr>
                              <a:rPr lang="en-IN" sz="2400" smtClean="0">
                                <a:solidFill>
                                  <a:srgbClr val="FF0000"/>
                                </a:solidFill>
                                <a:latin typeface="Cambria Math" panose="02040503050406030204" pitchFamily="18" charset="0"/>
                                <a:cs typeface="Times New Roman" pitchFamily="18" charset="0"/>
                              </a:rPr>
                              <m:t>F</m:t>
                            </m:r>
                            <m:r>
                              <a:rPr lang="en-IN" sz="2400" smtClean="0">
                                <a:solidFill>
                                  <a:srgbClr val="FF0000"/>
                                </a:solidFill>
                                <a:latin typeface="Cambria Math" panose="02040503050406030204" pitchFamily="18" charset="0"/>
                                <a:cs typeface="Times New Roman" pitchFamily="18" charset="0"/>
                              </a:rPr>
                              <m:t>.</m:t>
                            </m:r>
                          </m:e>
                        </m:d>
                      </m:num>
                      <m:den>
                        <m:r>
                          <a:rPr lang="en-IN" sz="2400" b="0" i="1" smtClean="0">
                            <a:solidFill>
                              <a:srgbClr val="FF0000"/>
                            </a:solidFill>
                            <a:latin typeface="Cambria Math" panose="02040503050406030204" pitchFamily="18" charset="0"/>
                            <a:cs typeface="Times New Roman" pitchFamily="18" charset="0"/>
                          </a:rPr>
                          <m:t>𝑑</m:t>
                        </m:r>
                        <m:d>
                          <m:dPr>
                            <m:ctrlPr>
                              <a:rPr lang="en-IN" sz="2400" b="0" i="1" smtClean="0">
                                <a:solidFill>
                                  <a:schemeClr val="tx1"/>
                                </a:solidFill>
                                <a:latin typeface="Cambria Math" panose="02040503050406030204" pitchFamily="18" charset="0"/>
                                <a:cs typeface="Times New Roman" pitchFamily="18" charset="0"/>
                              </a:rPr>
                            </m:ctrlPr>
                          </m:dPr>
                          <m:e>
                            <m:f>
                              <m:fPr>
                                <m:ctrlPr>
                                  <a:rPr lang="en-US" sz="2400" i="1" smtClean="0">
                                    <a:solidFill>
                                      <a:srgbClr val="FF0000"/>
                                    </a:solidFill>
                                    <a:latin typeface="Cambria Math" panose="02040503050406030204" pitchFamily="18" charset="0"/>
                                    <a:cs typeface="Times New Roman" pitchFamily="18" charset="0"/>
                                  </a:rPr>
                                </m:ctrlPr>
                              </m:fPr>
                              <m:num>
                                <m:r>
                                  <a:rPr lang="en-US" sz="2400" i="1">
                                    <a:solidFill>
                                      <a:srgbClr val="FF0000"/>
                                    </a:solidFill>
                                    <a:latin typeface="Cambria Math"/>
                                    <a:ea typeface="Cambria Math"/>
                                    <a:cs typeface="Times New Roman" pitchFamily="18" charset="0"/>
                                  </a:rPr>
                                  <m:t>𝜔</m:t>
                                </m:r>
                              </m:num>
                              <m:den>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US" sz="2400" i="1">
                                        <a:solidFill>
                                          <a:srgbClr val="FF0000"/>
                                        </a:solidFill>
                                        <a:latin typeface="Cambria Math"/>
                                        <a:cs typeface="Times New Roman" pitchFamily="18" charset="0"/>
                                      </a:rPr>
                                      <m:t>𝑛</m:t>
                                    </m:r>
                                  </m:sub>
                                </m:sSub>
                              </m:den>
                            </m:f>
                          </m:e>
                        </m:d>
                      </m:den>
                    </m:f>
                    <m:r>
                      <a:rPr lang="en-IN" sz="2400" i="1">
                        <a:solidFill>
                          <a:srgbClr val="FF0000"/>
                        </a:solidFill>
                        <a:latin typeface="Cambria Math" panose="02040503050406030204" pitchFamily="18" charset="0"/>
                        <a:cs typeface="Times New Roman" pitchFamily="18" charset="0"/>
                      </a:rPr>
                      <m:t>=</m:t>
                    </m:r>
                    <m:f>
                      <m:fPr>
                        <m:ctrlPr>
                          <a:rPr lang="en-US" sz="2400" i="1">
                            <a:solidFill>
                              <a:srgbClr val="FF0000"/>
                            </a:solidFill>
                            <a:latin typeface="Cambria Math" panose="02040503050406030204" pitchFamily="18" charset="0"/>
                            <a:cs typeface="Times New Roman" pitchFamily="18" charset="0"/>
                          </a:rPr>
                        </m:ctrlPr>
                      </m:fPr>
                      <m:num>
                        <m:r>
                          <a:rPr lang="en-IN" sz="2400" b="0" i="1" smtClean="0">
                            <a:solidFill>
                              <a:srgbClr val="FF0000"/>
                            </a:solidFill>
                            <a:latin typeface="Cambria Math" panose="02040503050406030204" pitchFamily="18" charset="0"/>
                            <a:cs typeface="Times New Roman" pitchFamily="18" charset="0"/>
                          </a:rPr>
                          <m:t>2</m:t>
                        </m:r>
                        <m:d>
                          <m:dPr>
                            <m:begChr m:val="["/>
                            <m:endChr m:val="]"/>
                            <m:ctrlPr>
                              <a:rPr lang="en-IN" sz="2400" b="0" i="1" smtClean="0">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cs typeface="Times New Roman" pitchFamily="18" charset="0"/>
                              </a:rPr>
                              <m:t>1−</m:t>
                            </m:r>
                            <m:sSup>
                              <m:sSupPr>
                                <m:ctrlPr>
                                  <a:rPr lang="en-US" sz="2400" i="1">
                                    <a:solidFill>
                                      <a:srgbClr val="FF0000"/>
                                    </a:solidFill>
                                    <a:latin typeface="Cambria Math" panose="02040503050406030204" pitchFamily="18" charset="0"/>
                                    <a:cs typeface="Times New Roman" pitchFamily="18" charset="0"/>
                                  </a:rPr>
                                </m:ctrlPr>
                              </m:sSupPr>
                              <m:e>
                                <m:d>
                                  <m:dPr>
                                    <m:ctrlPr>
                                      <a:rPr lang="en-US" sz="2400" i="1">
                                        <a:solidFill>
                                          <a:srgbClr val="FF0000"/>
                                        </a:solidFill>
                                        <a:latin typeface="Cambria Math" panose="02040503050406030204" pitchFamily="18" charset="0"/>
                                        <a:cs typeface="Times New Roman" pitchFamily="18" charset="0"/>
                                      </a:rPr>
                                    </m:ctrlPr>
                                  </m:dPr>
                                  <m:e>
                                    <m:f>
                                      <m:fPr>
                                        <m:ctrlPr>
                                          <a:rPr lang="en-US" sz="2400" i="1">
                                            <a:solidFill>
                                              <a:srgbClr val="FF0000"/>
                                            </a:solidFill>
                                            <a:latin typeface="Cambria Math" panose="02040503050406030204" pitchFamily="18" charset="0"/>
                                            <a:cs typeface="Times New Roman" pitchFamily="18" charset="0"/>
                                          </a:rPr>
                                        </m:ctrlPr>
                                      </m:fPr>
                                      <m:num>
                                        <m:r>
                                          <a:rPr lang="en-US" sz="2400" i="1">
                                            <a:solidFill>
                                              <a:srgbClr val="FF0000"/>
                                            </a:solidFill>
                                            <a:latin typeface="Cambria Math"/>
                                            <a:ea typeface="Cambria Math"/>
                                            <a:cs typeface="Times New Roman" pitchFamily="18" charset="0"/>
                                          </a:rPr>
                                          <m:t>𝜔</m:t>
                                        </m:r>
                                      </m:num>
                                      <m:den>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US" sz="2400" i="1">
                                                <a:solidFill>
                                                  <a:srgbClr val="FF0000"/>
                                                </a:solidFill>
                                                <a:latin typeface="Cambria Math"/>
                                                <a:cs typeface="Times New Roman" pitchFamily="18" charset="0"/>
                                              </a:rPr>
                                              <m:t>𝑛</m:t>
                                            </m:r>
                                          </m:sub>
                                        </m:sSub>
                                      </m:den>
                                    </m:f>
                                  </m:e>
                                </m:d>
                              </m:e>
                              <m:sup>
                                <m:r>
                                  <a:rPr lang="en-US" sz="2400" i="1">
                                    <a:solidFill>
                                      <a:srgbClr val="FF0000"/>
                                    </a:solidFill>
                                    <a:latin typeface="Cambria Math"/>
                                    <a:cs typeface="Times New Roman" pitchFamily="18" charset="0"/>
                                  </a:rPr>
                                  <m:t>2</m:t>
                                </m:r>
                              </m:sup>
                            </m:sSup>
                          </m:e>
                        </m:d>
                        <m:d>
                          <m:dPr>
                            <m:begChr m:val="["/>
                            <m:endChr m:val="]"/>
                            <m:ctrlPr>
                              <a:rPr lang="en-IN" sz="2400" b="0" i="1" smtClean="0">
                                <a:solidFill>
                                  <a:srgbClr val="FF0000"/>
                                </a:solidFill>
                                <a:latin typeface="Cambria Math" panose="02040503050406030204" pitchFamily="18" charset="0"/>
                                <a:cs typeface="Times New Roman" pitchFamily="18" charset="0"/>
                              </a:rPr>
                            </m:ctrlPr>
                          </m:dPr>
                          <m:e>
                            <m:r>
                              <a:rPr lang="en-IN" sz="2400" b="0" i="1" smtClean="0">
                                <a:solidFill>
                                  <a:srgbClr val="FF0000"/>
                                </a:solidFill>
                                <a:latin typeface="Cambria Math" panose="02040503050406030204" pitchFamily="18" charset="0"/>
                                <a:cs typeface="Times New Roman" pitchFamily="18" charset="0"/>
                              </a:rPr>
                              <m:t>−2</m:t>
                            </m:r>
                            <m:d>
                              <m:dPr>
                                <m:ctrlPr>
                                  <a:rPr lang="en-US" sz="2400" i="1">
                                    <a:latin typeface="Cambria Math" panose="02040503050406030204" pitchFamily="18" charset="0"/>
                                    <a:ea typeface="Cambria Math"/>
                                  </a:rPr>
                                </m:ctrlPr>
                              </m:dPr>
                              <m:e>
                                <m:f>
                                  <m:fPr>
                                    <m:ctrlPr>
                                      <a:rPr lang="en-US" sz="2400" i="1">
                                        <a:solidFill>
                                          <a:srgbClr val="FF0000"/>
                                        </a:solidFill>
                                        <a:latin typeface="Cambria Math" panose="02040503050406030204" pitchFamily="18" charset="0"/>
                                        <a:cs typeface="Times New Roman" pitchFamily="18" charset="0"/>
                                      </a:rPr>
                                    </m:ctrlPr>
                                  </m:fPr>
                                  <m:num>
                                    <m:r>
                                      <a:rPr lang="en-US" sz="2400" i="1">
                                        <a:solidFill>
                                          <a:srgbClr val="FF0000"/>
                                        </a:solidFill>
                                        <a:latin typeface="Cambria Math"/>
                                        <a:ea typeface="Cambria Math"/>
                                        <a:cs typeface="Times New Roman" pitchFamily="18" charset="0"/>
                                      </a:rPr>
                                      <m:t>𝜔</m:t>
                                    </m:r>
                                  </m:num>
                                  <m:den>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US" sz="2400" i="1">
                                            <a:solidFill>
                                              <a:srgbClr val="FF0000"/>
                                            </a:solidFill>
                                            <a:latin typeface="Cambria Math"/>
                                            <a:cs typeface="Times New Roman" pitchFamily="18" charset="0"/>
                                          </a:rPr>
                                          <m:t>𝑛</m:t>
                                        </m:r>
                                      </m:sub>
                                    </m:sSub>
                                  </m:den>
                                </m:f>
                              </m:e>
                            </m:d>
                          </m:e>
                        </m:d>
                        <m:r>
                          <a:rPr lang="en-IN" sz="2400" b="0" i="1" smtClean="0">
                            <a:solidFill>
                              <a:srgbClr val="FF0000"/>
                            </a:solidFill>
                            <a:latin typeface="Cambria Math" panose="02040503050406030204" pitchFamily="18" charset="0"/>
                            <a:cs typeface="Times New Roman" pitchFamily="18" charset="0"/>
                          </a:rPr>
                          <m:t>+2</m:t>
                        </m:r>
                        <m:d>
                          <m:dPr>
                            <m:begChr m:val="["/>
                            <m:endChr m:val="]"/>
                            <m:ctrlPr>
                              <a:rPr lang="en-IN" sz="2400" b="0" i="1" smtClean="0">
                                <a:solidFill>
                                  <a:srgbClr val="FF0000"/>
                                </a:solidFill>
                                <a:latin typeface="Cambria Math" panose="02040503050406030204" pitchFamily="18" charset="0"/>
                                <a:cs typeface="Times New Roman" pitchFamily="18" charset="0"/>
                              </a:rPr>
                            </m:ctrlPr>
                          </m:dPr>
                          <m:e>
                            <m:r>
                              <a:rPr lang="en-US" sz="2400" i="1">
                                <a:latin typeface="Cambria Math"/>
                              </a:rPr>
                              <m:t>2</m:t>
                            </m:r>
                            <m:r>
                              <a:rPr lang="en-US" sz="2400" i="1">
                                <a:latin typeface="Cambria Math"/>
                                <a:ea typeface="Cambria Math"/>
                              </a:rPr>
                              <m:t>𝜁</m:t>
                            </m:r>
                            <m:d>
                              <m:dPr>
                                <m:ctrlPr>
                                  <a:rPr lang="en-US" sz="2400" i="1">
                                    <a:latin typeface="Cambria Math" panose="02040503050406030204" pitchFamily="18" charset="0"/>
                                    <a:ea typeface="Cambria Math"/>
                                  </a:rPr>
                                </m:ctrlPr>
                              </m:dPr>
                              <m:e>
                                <m:f>
                                  <m:fPr>
                                    <m:ctrlPr>
                                      <a:rPr lang="en-US" sz="2400" i="1">
                                        <a:solidFill>
                                          <a:srgbClr val="FF0000"/>
                                        </a:solidFill>
                                        <a:latin typeface="Cambria Math" panose="02040503050406030204" pitchFamily="18" charset="0"/>
                                        <a:cs typeface="Times New Roman" pitchFamily="18" charset="0"/>
                                      </a:rPr>
                                    </m:ctrlPr>
                                  </m:fPr>
                                  <m:num>
                                    <m:r>
                                      <a:rPr lang="en-US" sz="2400" i="1">
                                        <a:solidFill>
                                          <a:srgbClr val="FF0000"/>
                                        </a:solidFill>
                                        <a:latin typeface="Cambria Math"/>
                                        <a:ea typeface="Cambria Math"/>
                                        <a:cs typeface="Times New Roman" pitchFamily="18" charset="0"/>
                                      </a:rPr>
                                      <m:t>𝜔</m:t>
                                    </m:r>
                                  </m:num>
                                  <m:den>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US" sz="2400" i="1">
                                            <a:solidFill>
                                              <a:srgbClr val="FF0000"/>
                                            </a:solidFill>
                                            <a:latin typeface="Cambria Math"/>
                                            <a:cs typeface="Times New Roman" pitchFamily="18" charset="0"/>
                                          </a:rPr>
                                          <m:t>𝑛</m:t>
                                        </m:r>
                                      </m:sub>
                                    </m:sSub>
                                  </m:den>
                                </m:f>
                              </m:e>
                            </m:d>
                          </m:e>
                        </m:d>
                        <m:d>
                          <m:dPr>
                            <m:ctrlPr>
                              <a:rPr lang="en-IN" sz="2400" b="0" i="1" smtClean="0">
                                <a:solidFill>
                                  <a:srgbClr val="FF0000"/>
                                </a:solidFill>
                                <a:latin typeface="Cambria Math" panose="02040503050406030204" pitchFamily="18" charset="0"/>
                                <a:cs typeface="Times New Roman" pitchFamily="18" charset="0"/>
                              </a:rPr>
                            </m:ctrlPr>
                          </m:dPr>
                          <m:e>
                            <m:r>
                              <a:rPr lang="en-US" sz="2400" i="1">
                                <a:latin typeface="Cambria Math"/>
                              </a:rPr>
                              <m:t>2</m:t>
                            </m:r>
                            <m:r>
                              <a:rPr lang="en-US" sz="2400" i="1">
                                <a:latin typeface="Cambria Math"/>
                                <a:ea typeface="Cambria Math"/>
                              </a:rPr>
                              <m:t>𝜁</m:t>
                            </m:r>
                          </m:e>
                        </m:d>
                      </m:num>
                      <m:den>
                        <m:r>
                          <a:rPr lang="en-IN" sz="2400" b="0" i="1" smtClean="0">
                            <a:solidFill>
                              <a:srgbClr val="FF0000"/>
                            </a:solidFill>
                            <a:latin typeface="Cambria Math" panose="02040503050406030204" pitchFamily="18" charset="0"/>
                            <a:cs typeface="Times New Roman" pitchFamily="18" charset="0"/>
                          </a:rPr>
                          <m:t>2</m:t>
                        </m:r>
                        <m:sSup>
                          <m:sSupPr>
                            <m:ctrlPr>
                              <a:rPr lang="en-IN" sz="2400" b="0" i="1" smtClean="0">
                                <a:solidFill>
                                  <a:srgbClr val="FF0000"/>
                                </a:solidFill>
                                <a:latin typeface="Cambria Math" panose="02040503050406030204" pitchFamily="18" charset="0"/>
                                <a:cs typeface="Times New Roman" pitchFamily="18" charset="0"/>
                              </a:rPr>
                            </m:ctrlPr>
                          </m:sSupPr>
                          <m:e>
                            <m:d>
                              <m:dPr>
                                <m:begChr m:val="{"/>
                                <m:endChr m:val="}"/>
                                <m:ctrlPr>
                                  <a:rPr lang="en-IN" sz="2400" b="0" i="1" smtClean="0">
                                    <a:solidFill>
                                      <a:srgbClr val="FF0000"/>
                                    </a:solidFill>
                                    <a:latin typeface="Cambria Math" panose="02040503050406030204" pitchFamily="18" charset="0"/>
                                    <a:cs typeface="Times New Roman" pitchFamily="18" charset="0"/>
                                  </a:rPr>
                                </m:ctrlPr>
                              </m:dPr>
                              <m:e>
                                <m:sSup>
                                  <m:sSupPr>
                                    <m:ctrlPr>
                                      <a:rPr lang="en-US" sz="2400" i="1">
                                        <a:solidFill>
                                          <a:srgbClr val="FF0000"/>
                                        </a:solidFill>
                                        <a:latin typeface="Cambria Math" panose="02040503050406030204" pitchFamily="18" charset="0"/>
                                        <a:cs typeface="Times New Roman" pitchFamily="18" charset="0"/>
                                      </a:rPr>
                                    </m:ctrlPr>
                                  </m:sSupPr>
                                  <m:e>
                                    <m:d>
                                      <m:dPr>
                                        <m:begChr m:val="["/>
                                        <m:endChr m:val="]"/>
                                        <m:ctrlPr>
                                          <a:rPr lang="en-US" sz="2400" i="1">
                                            <a:solidFill>
                                              <a:srgbClr val="FF0000"/>
                                            </a:solidFill>
                                            <a:latin typeface="Cambria Math" panose="02040503050406030204" pitchFamily="18" charset="0"/>
                                            <a:cs typeface="Times New Roman" pitchFamily="18" charset="0"/>
                                          </a:rPr>
                                        </m:ctrlPr>
                                      </m:dPr>
                                      <m:e>
                                        <m:r>
                                          <a:rPr lang="en-US" sz="2400" i="1">
                                            <a:solidFill>
                                              <a:srgbClr val="FF0000"/>
                                            </a:solidFill>
                                            <a:latin typeface="Cambria Math"/>
                                            <a:cs typeface="Times New Roman" pitchFamily="18" charset="0"/>
                                          </a:rPr>
                                          <m:t>1−</m:t>
                                        </m:r>
                                        <m:sSup>
                                          <m:sSupPr>
                                            <m:ctrlPr>
                                              <a:rPr lang="en-US" sz="2400" i="1">
                                                <a:solidFill>
                                                  <a:srgbClr val="FF0000"/>
                                                </a:solidFill>
                                                <a:latin typeface="Cambria Math" panose="02040503050406030204" pitchFamily="18" charset="0"/>
                                                <a:cs typeface="Times New Roman" pitchFamily="18" charset="0"/>
                                              </a:rPr>
                                            </m:ctrlPr>
                                          </m:sSupPr>
                                          <m:e>
                                            <m:d>
                                              <m:dPr>
                                                <m:ctrlPr>
                                                  <a:rPr lang="en-US" sz="2400" i="1">
                                                    <a:solidFill>
                                                      <a:srgbClr val="FF0000"/>
                                                    </a:solidFill>
                                                    <a:latin typeface="Cambria Math" panose="02040503050406030204" pitchFamily="18" charset="0"/>
                                                    <a:cs typeface="Times New Roman" pitchFamily="18" charset="0"/>
                                                  </a:rPr>
                                                </m:ctrlPr>
                                              </m:dPr>
                                              <m:e>
                                                <m:f>
                                                  <m:fPr>
                                                    <m:ctrlPr>
                                                      <a:rPr lang="en-US" sz="2400" i="1">
                                                        <a:solidFill>
                                                          <a:srgbClr val="FF0000"/>
                                                        </a:solidFill>
                                                        <a:latin typeface="Cambria Math" panose="02040503050406030204" pitchFamily="18" charset="0"/>
                                                        <a:cs typeface="Times New Roman" pitchFamily="18" charset="0"/>
                                                      </a:rPr>
                                                    </m:ctrlPr>
                                                  </m:fPr>
                                                  <m:num>
                                                    <m:r>
                                                      <a:rPr lang="en-US" sz="2400" i="1">
                                                        <a:solidFill>
                                                          <a:srgbClr val="FF0000"/>
                                                        </a:solidFill>
                                                        <a:latin typeface="Cambria Math"/>
                                                        <a:ea typeface="Cambria Math"/>
                                                        <a:cs typeface="Times New Roman" pitchFamily="18" charset="0"/>
                                                      </a:rPr>
                                                      <m:t>𝜔</m:t>
                                                    </m:r>
                                                  </m:num>
                                                  <m:den>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US" sz="2400" i="1">
                                                            <a:solidFill>
                                                              <a:srgbClr val="FF0000"/>
                                                            </a:solidFill>
                                                            <a:latin typeface="Cambria Math"/>
                                                            <a:cs typeface="Times New Roman" pitchFamily="18" charset="0"/>
                                                          </a:rPr>
                                                          <m:t>𝑛</m:t>
                                                        </m:r>
                                                      </m:sub>
                                                    </m:sSub>
                                                  </m:den>
                                                </m:f>
                                              </m:e>
                                            </m:d>
                                          </m:e>
                                          <m:sup>
                                            <m:r>
                                              <a:rPr lang="en-US" sz="2400" i="1">
                                                <a:solidFill>
                                                  <a:srgbClr val="FF0000"/>
                                                </a:solidFill>
                                                <a:latin typeface="Cambria Math"/>
                                                <a:cs typeface="Times New Roman" pitchFamily="18" charset="0"/>
                                              </a:rPr>
                                              <m:t>2</m:t>
                                            </m:r>
                                          </m:sup>
                                        </m:sSup>
                                      </m:e>
                                    </m:d>
                                  </m:e>
                                  <m:sup>
                                    <m:r>
                                      <a:rPr lang="en-US" sz="2400" i="1">
                                        <a:solidFill>
                                          <a:srgbClr val="FF0000"/>
                                        </a:solidFill>
                                        <a:latin typeface="Cambria Math"/>
                                        <a:cs typeface="Times New Roman" pitchFamily="18" charset="0"/>
                                      </a:rPr>
                                      <m:t>2</m:t>
                                    </m:r>
                                  </m:sup>
                                </m:sSup>
                                <m:r>
                                  <a:rPr lang="en-US" sz="2400" i="1">
                                    <a:solidFill>
                                      <a:srgbClr val="FF0000"/>
                                    </a:solidFill>
                                    <a:latin typeface="Cambria Math"/>
                                    <a:cs typeface="Times New Roman" pitchFamily="18" charset="0"/>
                                  </a:rPr>
                                  <m:t>+</m:t>
                                </m:r>
                                <m:sSup>
                                  <m:sSupPr>
                                    <m:ctrlPr>
                                      <a:rPr lang="en-US" sz="2400" i="1">
                                        <a:solidFill>
                                          <a:srgbClr val="FF0000"/>
                                        </a:solidFill>
                                        <a:latin typeface="Cambria Math" panose="02040503050406030204" pitchFamily="18" charset="0"/>
                                        <a:cs typeface="Times New Roman" pitchFamily="18" charset="0"/>
                                      </a:rPr>
                                    </m:ctrlPr>
                                  </m:sSupPr>
                                  <m:e>
                                    <m:d>
                                      <m:dPr>
                                        <m:begChr m:val="["/>
                                        <m:endChr m:val="]"/>
                                        <m:ctrlPr>
                                          <a:rPr lang="en-US" sz="2400" i="1">
                                            <a:solidFill>
                                              <a:srgbClr val="FF0000"/>
                                            </a:solidFill>
                                            <a:latin typeface="Cambria Math" panose="02040503050406030204" pitchFamily="18" charset="0"/>
                                            <a:cs typeface="Times New Roman" pitchFamily="18" charset="0"/>
                                          </a:rPr>
                                        </m:ctrlPr>
                                      </m:dPr>
                                      <m:e>
                                        <m:r>
                                          <a:rPr lang="en-US" sz="2400" i="1">
                                            <a:latin typeface="Cambria Math"/>
                                          </a:rPr>
                                          <m:t>2</m:t>
                                        </m:r>
                                        <m:r>
                                          <a:rPr lang="en-US" sz="2400" i="1">
                                            <a:latin typeface="Cambria Math"/>
                                            <a:ea typeface="Cambria Math"/>
                                          </a:rPr>
                                          <m:t>𝜁</m:t>
                                        </m:r>
                                        <m:d>
                                          <m:dPr>
                                            <m:ctrlPr>
                                              <a:rPr lang="en-US" sz="2400" i="1">
                                                <a:latin typeface="Cambria Math" panose="02040503050406030204" pitchFamily="18" charset="0"/>
                                                <a:ea typeface="Cambria Math"/>
                                              </a:rPr>
                                            </m:ctrlPr>
                                          </m:dPr>
                                          <m:e>
                                            <m:f>
                                              <m:fPr>
                                                <m:ctrlPr>
                                                  <a:rPr lang="en-US" sz="2400" i="1">
                                                    <a:solidFill>
                                                      <a:srgbClr val="FF0000"/>
                                                    </a:solidFill>
                                                    <a:latin typeface="Cambria Math" panose="02040503050406030204" pitchFamily="18" charset="0"/>
                                                    <a:cs typeface="Times New Roman" pitchFamily="18" charset="0"/>
                                                  </a:rPr>
                                                </m:ctrlPr>
                                              </m:fPr>
                                              <m:num>
                                                <m:r>
                                                  <a:rPr lang="en-US" sz="2400" i="1">
                                                    <a:solidFill>
                                                      <a:srgbClr val="FF0000"/>
                                                    </a:solidFill>
                                                    <a:latin typeface="Cambria Math"/>
                                                    <a:ea typeface="Cambria Math"/>
                                                    <a:cs typeface="Times New Roman" pitchFamily="18" charset="0"/>
                                                  </a:rPr>
                                                  <m:t>𝜔</m:t>
                                                </m:r>
                                              </m:num>
                                              <m:den>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US" sz="2400" i="1">
                                                        <a:solidFill>
                                                          <a:srgbClr val="FF0000"/>
                                                        </a:solidFill>
                                                        <a:latin typeface="Cambria Math"/>
                                                        <a:cs typeface="Times New Roman" pitchFamily="18" charset="0"/>
                                                      </a:rPr>
                                                      <m:t>𝑛</m:t>
                                                    </m:r>
                                                  </m:sub>
                                                </m:sSub>
                                              </m:den>
                                            </m:f>
                                          </m:e>
                                        </m:d>
                                      </m:e>
                                    </m:d>
                                  </m:e>
                                  <m:sup>
                                    <m:r>
                                      <a:rPr lang="en-US" sz="2400" i="1">
                                        <a:solidFill>
                                          <a:srgbClr val="FF0000"/>
                                        </a:solidFill>
                                        <a:latin typeface="Cambria Math"/>
                                        <a:cs typeface="Times New Roman" pitchFamily="18" charset="0"/>
                                      </a:rPr>
                                      <m:t>2</m:t>
                                    </m:r>
                                  </m:sup>
                                </m:sSup>
                              </m:e>
                            </m:d>
                          </m:e>
                          <m:sup>
                            <m:f>
                              <m:fPr>
                                <m:type m:val="lin"/>
                                <m:ctrlPr>
                                  <a:rPr lang="en-IN" sz="2400" b="0" i="1" smtClean="0">
                                    <a:solidFill>
                                      <a:srgbClr val="FF0000"/>
                                    </a:solidFill>
                                    <a:latin typeface="Cambria Math" panose="02040503050406030204" pitchFamily="18" charset="0"/>
                                    <a:cs typeface="Times New Roman" pitchFamily="18" charset="0"/>
                                  </a:rPr>
                                </m:ctrlPr>
                              </m:fPr>
                              <m:num>
                                <m:r>
                                  <a:rPr lang="en-IN" sz="2400" b="0" i="1" smtClean="0">
                                    <a:solidFill>
                                      <a:srgbClr val="FF0000"/>
                                    </a:solidFill>
                                    <a:latin typeface="Cambria Math" panose="02040503050406030204" pitchFamily="18" charset="0"/>
                                    <a:cs typeface="Times New Roman" pitchFamily="18" charset="0"/>
                                  </a:rPr>
                                  <m:t>3</m:t>
                                </m:r>
                              </m:num>
                              <m:den>
                                <m:r>
                                  <a:rPr lang="en-IN" sz="2400" b="0" i="1" smtClean="0">
                                    <a:solidFill>
                                      <a:srgbClr val="FF0000"/>
                                    </a:solidFill>
                                    <a:latin typeface="Cambria Math" panose="02040503050406030204" pitchFamily="18" charset="0"/>
                                    <a:cs typeface="Times New Roman" pitchFamily="18" charset="0"/>
                                  </a:rPr>
                                  <m:t>2</m:t>
                                </m:r>
                              </m:den>
                            </m:f>
                          </m:sup>
                        </m:sSup>
                      </m:den>
                    </m:f>
                    <m:r>
                      <a:rPr lang="en-IN" sz="2400" b="0" i="1" smtClean="0">
                        <a:solidFill>
                          <a:srgbClr val="FF0000"/>
                        </a:solidFill>
                        <a:latin typeface="Cambria Math" panose="02040503050406030204" pitchFamily="18" charset="0"/>
                        <a:cs typeface="Times New Roman" pitchFamily="18" charset="0"/>
                      </a:rPr>
                      <m:t>=0</m:t>
                    </m:r>
                  </m:oMath>
                </a14:m>
                <a:r>
                  <a:rPr lang="en-US" sz="2400" dirty="0">
                    <a:solidFill>
                      <a:schemeClr val="tx1"/>
                    </a:solidFill>
                    <a:latin typeface="Times New Roman" pitchFamily="18" charset="0"/>
                    <a:cs typeface="Times New Roman" pitchFamily="18" charset="0"/>
                  </a:rPr>
                  <a:t>, which gives </a:t>
                </a:r>
                <a14:m>
                  <m:oMath xmlns:m="http://schemas.openxmlformats.org/officeDocument/2006/math">
                    <m:f>
                      <m:fPr>
                        <m:ctrlPr>
                          <a:rPr lang="en-US" sz="2400" i="1">
                            <a:solidFill>
                              <a:srgbClr val="FF0000"/>
                            </a:solidFill>
                            <a:latin typeface="Cambria Math" panose="02040503050406030204" pitchFamily="18" charset="0"/>
                            <a:cs typeface="Times New Roman" pitchFamily="18" charset="0"/>
                          </a:rPr>
                        </m:ctrlPr>
                      </m:fPr>
                      <m:num>
                        <m:sSub>
                          <m:sSubPr>
                            <m:ctrlPr>
                              <a:rPr lang="en-US" sz="2400" i="1" smtClean="0">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IN" sz="2400" b="0" i="1" smtClean="0">
                                <a:solidFill>
                                  <a:srgbClr val="FF0000"/>
                                </a:solidFill>
                                <a:latin typeface="Cambria Math" panose="02040503050406030204" pitchFamily="18" charset="0"/>
                                <a:cs typeface="Times New Roman" pitchFamily="18" charset="0"/>
                              </a:rPr>
                              <m:t>𝑝</m:t>
                            </m:r>
                          </m:sub>
                        </m:sSub>
                      </m:num>
                      <m:den>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US" sz="2400" i="1">
                                <a:solidFill>
                                  <a:srgbClr val="FF0000"/>
                                </a:solidFill>
                                <a:latin typeface="Cambria Math"/>
                                <a:cs typeface="Times New Roman" pitchFamily="18" charset="0"/>
                              </a:rPr>
                              <m:t>𝑛</m:t>
                            </m:r>
                          </m:sub>
                        </m:sSub>
                      </m:den>
                    </m:f>
                    <m:r>
                      <a:rPr lang="en-IN" sz="2400" b="0" i="1" smtClean="0">
                        <a:solidFill>
                          <a:srgbClr val="FF0000"/>
                        </a:solidFill>
                        <a:latin typeface="Cambria Math" panose="02040503050406030204" pitchFamily="18" charset="0"/>
                        <a:cs typeface="Times New Roman" pitchFamily="18" charset="0"/>
                      </a:rPr>
                      <m:t>=</m:t>
                    </m:r>
                    <m:rad>
                      <m:radPr>
                        <m:degHide m:val="on"/>
                        <m:ctrlPr>
                          <a:rPr lang="en-IN" sz="2400" b="0" i="1" smtClean="0">
                            <a:solidFill>
                              <a:srgbClr val="FF0000"/>
                            </a:solidFill>
                            <a:latin typeface="Cambria Math" panose="02040503050406030204" pitchFamily="18" charset="0"/>
                            <a:cs typeface="Times New Roman" pitchFamily="18" charset="0"/>
                          </a:rPr>
                        </m:ctrlPr>
                      </m:radPr>
                      <m:deg/>
                      <m:e>
                        <m:r>
                          <a:rPr lang="en-IN" sz="2400" b="0" i="1" smtClean="0">
                            <a:solidFill>
                              <a:srgbClr val="FF0000"/>
                            </a:solidFill>
                            <a:latin typeface="Cambria Math" panose="02040503050406030204" pitchFamily="18" charset="0"/>
                            <a:cs typeface="Times New Roman" pitchFamily="18" charset="0"/>
                          </a:rPr>
                          <m:t>1−2</m:t>
                        </m:r>
                        <m:sSup>
                          <m:sSupPr>
                            <m:ctrlPr>
                              <a:rPr lang="en-IN" sz="2400" b="0" i="1" smtClean="0">
                                <a:solidFill>
                                  <a:srgbClr val="FF0000"/>
                                </a:solidFill>
                                <a:latin typeface="Cambria Math" panose="02040503050406030204" pitchFamily="18" charset="0"/>
                                <a:ea typeface="Cambria Math" panose="02040503050406030204" pitchFamily="18" charset="0"/>
                                <a:cs typeface="Times New Roman" pitchFamily="18" charset="0"/>
                              </a:rPr>
                            </m:ctrlPr>
                          </m:sSupPr>
                          <m:e>
                            <m:r>
                              <a:rPr lang="en-IN" sz="2400" i="1">
                                <a:solidFill>
                                  <a:srgbClr val="FF0000"/>
                                </a:solidFill>
                                <a:latin typeface="Cambria Math" panose="02040503050406030204" pitchFamily="18" charset="0"/>
                                <a:ea typeface="Cambria Math" panose="02040503050406030204" pitchFamily="18" charset="0"/>
                                <a:cs typeface="Times New Roman" pitchFamily="18" charset="0"/>
                              </a:rPr>
                              <m:t>𝜁</m:t>
                            </m:r>
                          </m:e>
                          <m:sup>
                            <m:r>
                              <a:rPr lang="en-IN" sz="2400" b="0" i="1" smtClean="0">
                                <a:solidFill>
                                  <a:srgbClr val="FF0000"/>
                                </a:solidFill>
                                <a:latin typeface="Cambria Math" panose="02040503050406030204" pitchFamily="18" charset="0"/>
                                <a:ea typeface="Cambria Math" panose="02040503050406030204" pitchFamily="18" charset="0"/>
                                <a:cs typeface="Times New Roman" pitchFamily="18" charset="0"/>
                              </a:rPr>
                              <m:t>2</m:t>
                            </m:r>
                          </m:sup>
                        </m:sSup>
                      </m:e>
                    </m:rad>
                  </m:oMath>
                </a14:m>
                <a:endParaRPr lang="en-US" sz="2400" dirty="0">
                  <a:solidFill>
                    <a:schemeClr val="tx1"/>
                  </a:solidFill>
                  <a:latin typeface="Times New Roman" pitchFamily="18" charset="0"/>
                  <a:cs typeface="Times New Roman" pitchFamily="18" charset="0"/>
                </a:endParaRPr>
              </a:p>
              <a:p>
                <a14:m>
                  <m:oMath xmlns:m="http://schemas.openxmlformats.org/officeDocument/2006/math">
                    <m:sSub>
                      <m:sSubPr>
                        <m:ctrlPr>
                          <a:rPr lang="en-US" sz="2400" i="1">
                            <a:solidFill>
                              <a:srgbClr val="FF0000"/>
                            </a:solidFill>
                            <a:latin typeface="Cambria Math" panose="02040503050406030204" pitchFamily="18" charset="0"/>
                            <a:cs typeface="Times New Roman" pitchFamily="18" charset="0"/>
                          </a:rPr>
                        </m:ctrlPr>
                      </m:sSubPr>
                      <m:e>
                        <m:r>
                          <a:rPr lang="en-US" sz="2400" i="1">
                            <a:solidFill>
                              <a:srgbClr val="FF0000"/>
                            </a:solidFill>
                            <a:latin typeface="Cambria Math"/>
                            <a:ea typeface="Cambria Math"/>
                            <a:cs typeface="Times New Roman" pitchFamily="18" charset="0"/>
                          </a:rPr>
                          <m:t>𝜔</m:t>
                        </m:r>
                      </m:e>
                      <m:sub>
                        <m:r>
                          <a:rPr lang="en-IN" sz="2400" i="1">
                            <a:solidFill>
                              <a:srgbClr val="FF0000"/>
                            </a:solidFill>
                            <a:latin typeface="Cambria Math" panose="02040503050406030204" pitchFamily="18" charset="0"/>
                            <a:cs typeface="Times New Roman" pitchFamily="18" charset="0"/>
                          </a:rPr>
                          <m:t>𝑝</m:t>
                        </m:r>
                      </m:sub>
                    </m:sSub>
                  </m:oMath>
                </a14:m>
                <a:r>
                  <a:rPr lang="en-US" sz="2400" dirty="0">
                    <a:solidFill>
                      <a:schemeClr val="tx1"/>
                    </a:solidFill>
                    <a:latin typeface="Times New Roman" pitchFamily="18" charset="0"/>
                    <a:cs typeface="Times New Roman" pitchFamily="18" charset="0"/>
                  </a:rPr>
                  <a:t>= frequency corresponding to peak amplitude. </a:t>
                </a:r>
              </a:p>
              <a:p>
                <a:r>
                  <a:rPr lang="en-US" sz="2400" dirty="0">
                    <a:solidFill>
                      <a:schemeClr val="tx1"/>
                    </a:solidFill>
                    <a:latin typeface="Times New Roman" pitchFamily="18" charset="0"/>
                    <a:cs typeface="Times New Roman" pitchFamily="18" charset="0"/>
                  </a:rPr>
                  <a:t>No maxima occurs for </a:t>
                </a:r>
                <a14:m>
                  <m:oMath xmlns:m="http://schemas.openxmlformats.org/officeDocument/2006/math">
                    <m:rad>
                      <m:radPr>
                        <m:degHide m:val="on"/>
                        <m:ctrlPr>
                          <a:rPr lang="en-IN" sz="2400" i="1">
                            <a:solidFill>
                              <a:srgbClr val="FF0000"/>
                            </a:solidFill>
                            <a:latin typeface="Cambria Math" panose="02040503050406030204" pitchFamily="18" charset="0"/>
                            <a:cs typeface="Times New Roman" pitchFamily="18" charset="0"/>
                          </a:rPr>
                        </m:ctrlPr>
                      </m:radPr>
                      <m:deg/>
                      <m:e>
                        <m:r>
                          <a:rPr lang="en-IN" sz="2400" i="1">
                            <a:solidFill>
                              <a:srgbClr val="FF0000"/>
                            </a:solidFill>
                            <a:latin typeface="Cambria Math" panose="02040503050406030204" pitchFamily="18" charset="0"/>
                            <a:cs typeface="Times New Roman" pitchFamily="18" charset="0"/>
                          </a:rPr>
                          <m:t>1−2</m:t>
                        </m:r>
                        <m:sSup>
                          <m:sSupPr>
                            <m:ctrlPr>
                              <a:rPr lang="en-IN" sz="2400" i="1">
                                <a:solidFill>
                                  <a:srgbClr val="FF0000"/>
                                </a:solidFill>
                                <a:latin typeface="Cambria Math" panose="02040503050406030204" pitchFamily="18" charset="0"/>
                                <a:ea typeface="Cambria Math" panose="02040503050406030204" pitchFamily="18" charset="0"/>
                                <a:cs typeface="Times New Roman" pitchFamily="18" charset="0"/>
                              </a:rPr>
                            </m:ctrlPr>
                          </m:sSupPr>
                          <m:e>
                            <m:r>
                              <a:rPr lang="en-IN" sz="2400" i="1">
                                <a:solidFill>
                                  <a:srgbClr val="FF0000"/>
                                </a:solidFill>
                                <a:latin typeface="Cambria Math" panose="02040503050406030204" pitchFamily="18" charset="0"/>
                                <a:ea typeface="Cambria Math" panose="02040503050406030204" pitchFamily="18" charset="0"/>
                                <a:cs typeface="Times New Roman" pitchFamily="18" charset="0"/>
                              </a:rPr>
                              <m:t>𝜁</m:t>
                            </m:r>
                          </m:e>
                          <m:sup>
                            <m:r>
                              <a:rPr lang="en-IN" sz="2400" i="1">
                                <a:solidFill>
                                  <a:srgbClr val="FF0000"/>
                                </a:solidFill>
                                <a:latin typeface="Cambria Math" panose="02040503050406030204" pitchFamily="18" charset="0"/>
                                <a:ea typeface="Cambria Math" panose="02040503050406030204" pitchFamily="18" charset="0"/>
                                <a:cs typeface="Times New Roman" pitchFamily="18" charset="0"/>
                              </a:rPr>
                              <m:t>2</m:t>
                            </m:r>
                          </m:sup>
                        </m:sSup>
                      </m:e>
                    </m:rad>
                    <m:r>
                      <a:rPr lang="en-IN" sz="2400" i="1" smtClean="0">
                        <a:solidFill>
                          <a:srgbClr val="FF0000"/>
                        </a:solidFill>
                        <a:latin typeface="Cambria Math" panose="02040503050406030204" pitchFamily="18" charset="0"/>
                        <a:ea typeface="Cambria Math" panose="02040503050406030204" pitchFamily="18" charset="0"/>
                        <a:cs typeface="Times New Roman" pitchFamily="18" charset="0"/>
                      </a:rPr>
                      <m:t>&lt;</m:t>
                    </m:r>
                    <m:r>
                      <a:rPr lang="en-IN" sz="2400" b="0" i="1" smtClean="0">
                        <a:solidFill>
                          <a:srgbClr val="FF0000"/>
                        </a:solidFill>
                        <a:latin typeface="Cambria Math" panose="02040503050406030204" pitchFamily="18" charset="0"/>
                        <a:ea typeface="Cambria Math" panose="02040503050406030204" pitchFamily="18" charset="0"/>
                        <a:cs typeface="Times New Roman" pitchFamily="18" charset="0"/>
                      </a:rPr>
                      <m:t>0</m:t>
                    </m:r>
                  </m:oMath>
                </a14:m>
                <a:r>
                  <a:rPr lang="en-US" sz="2400" dirty="0">
                    <a:solidFill>
                      <a:schemeClr val="tx1"/>
                    </a:solidFill>
                    <a:latin typeface="Times New Roman" pitchFamily="18" charset="0"/>
                    <a:cs typeface="Times New Roman" pitchFamily="18" charset="0"/>
                  </a:rPr>
                  <a:t> o</a:t>
                </a:r>
                <a:r>
                  <a:rPr lang="en-US" sz="2400" dirty="0">
                    <a:latin typeface="Times New Roman" pitchFamily="18" charset="0"/>
                    <a:cs typeface="Times New Roman" pitchFamily="18" charset="0"/>
                  </a:rPr>
                  <a:t>r </a:t>
                </a:r>
                <a14:m>
                  <m:oMath xmlns:m="http://schemas.openxmlformats.org/officeDocument/2006/math">
                    <m:r>
                      <a:rPr lang="en-IN" sz="2400" i="1">
                        <a:solidFill>
                          <a:srgbClr val="FF0000"/>
                        </a:solidFill>
                        <a:latin typeface="Cambria Math" panose="02040503050406030204" pitchFamily="18" charset="0"/>
                        <a:ea typeface="Cambria Math" panose="02040503050406030204" pitchFamily="18" charset="0"/>
                        <a:cs typeface="Times New Roman" pitchFamily="18" charset="0"/>
                      </a:rPr>
                      <m:t>𝜁</m:t>
                    </m:r>
                    <m:r>
                      <a:rPr lang="en-IN" sz="2400" b="0" i="1" smtClean="0">
                        <a:solidFill>
                          <a:srgbClr val="FF0000"/>
                        </a:solidFill>
                        <a:latin typeface="Cambria Math" panose="02040503050406030204" pitchFamily="18" charset="0"/>
                        <a:ea typeface="Cambria Math" panose="02040503050406030204" pitchFamily="18" charset="0"/>
                        <a:cs typeface="Times New Roman" pitchFamily="18" charset="0"/>
                      </a:rPr>
                      <m:t>&gt;.707</m:t>
                    </m:r>
                  </m:oMath>
                </a14:m>
                <a:r>
                  <a:rPr lang="en-US" sz="2400" dirty="0">
                    <a:solidFill>
                      <a:schemeClr val="tx1"/>
                    </a:solidFill>
                    <a:latin typeface="Times New Roman" pitchFamily="18" charset="0"/>
                    <a:cs typeface="Times New Roman" pitchFamily="18" charset="0"/>
                  </a:rPr>
                  <a:t> (can be verified from magnification vs frequency curve)</a:t>
                </a:r>
              </a:p>
            </p:txBody>
          </p:sp>
        </mc:Choice>
        <mc:Fallback xmlns="">
          <p:sp>
            <p:nvSpPr>
              <p:cNvPr id="4" name="Rectangle 3"/>
              <p:cNvSpPr>
                <a:spLocks noRot="1" noChangeAspect="1" noMove="1" noResize="1" noEditPoints="1" noAdjustHandles="1" noChangeArrowheads="1" noChangeShapeType="1" noTextEdit="1"/>
              </p:cNvSpPr>
              <p:nvPr/>
            </p:nvSpPr>
            <p:spPr>
              <a:xfrm>
                <a:off x="223328" y="1063944"/>
                <a:ext cx="11687592" cy="5365380"/>
              </a:xfrm>
              <a:prstGeom prst="rect">
                <a:avLst/>
              </a:prstGeom>
              <a:blipFill rotWithShape="0">
                <a:blip r:embed="rId2"/>
                <a:stretch>
                  <a:fillRect l="-835" t="-909" b="-1705"/>
                </a:stretch>
              </a:blipFill>
            </p:spPr>
            <p:txBody>
              <a:bodyPr/>
              <a:lstStyle/>
              <a:p>
                <a:r>
                  <a:rPr lang="en-IN">
                    <a:noFill/>
                  </a:rPr>
                  <a:t> </a:t>
                </a:r>
              </a:p>
            </p:txBody>
          </p:sp>
        </mc:Fallback>
      </mc:AlternateContent>
    </p:spTree>
    <p:extLst>
      <p:ext uri="{BB962C8B-B14F-4D97-AF65-F5344CB8AC3E}">
        <p14:creationId xmlns:p14="http://schemas.microsoft.com/office/powerpoint/2010/main" val="3868865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Steady state vibrations</a:t>
            </a:r>
            <a:endParaRPr lang="en-IN" sz="3600" dirty="0">
              <a:solidFill>
                <a:srgbClr val="7030A0"/>
              </a:solidFill>
              <a:latin typeface="Times New Roman" pitchFamily="18" charset="0"/>
              <a:cs typeface="Times New Roman" pitchFamily="18" charset="0"/>
            </a:endParaRPr>
          </a:p>
        </p:txBody>
      </p:sp>
      <p:sp>
        <p:nvSpPr>
          <p:cNvPr id="4" name="Rectangle 3"/>
          <p:cNvSpPr/>
          <p:nvPr/>
        </p:nvSpPr>
        <p:spPr>
          <a:xfrm>
            <a:off x="223328" y="1063944"/>
            <a:ext cx="11687592" cy="1938992"/>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A periodic torque is having a maximum value of 0.588 N-m at a frequency corresponding to 4radian per second is impressed upon a flywheel suspended from wire. The wheel has a moment of inertia of 0.12 kg-m</a:t>
            </a:r>
            <a:r>
              <a:rPr lang="en-US" sz="2000" baseline="30000" dirty="0">
                <a:solidFill>
                  <a:schemeClr val="tx1"/>
                </a:solidFill>
                <a:latin typeface="Times New Roman" pitchFamily="18" charset="0"/>
                <a:cs typeface="Times New Roman" pitchFamily="18" charset="0"/>
              </a:rPr>
              <a:t>2</a:t>
            </a:r>
            <a:r>
              <a:rPr lang="en-US" sz="2000" dirty="0">
                <a:latin typeface="Times New Roman" pitchFamily="18" charset="0"/>
                <a:cs typeface="Times New Roman" pitchFamily="18" charset="0"/>
              </a:rPr>
              <a:t> and the wire has a stiffness of 1.176 N-m/rad. A viscous dashpot applies damping couple of 0.392 N-m at an angular velocity of 1 rad/sec. calculate</a:t>
            </a:r>
          </a:p>
          <a:p>
            <a:r>
              <a:rPr lang="en-US" sz="2000" dirty="0">
                <a:solidFill>
                  <a:schemeClr val="tx1"/>
                </a:solidFill>
                <a:latin typeface="Times New Roman" pitchFamily="18" charset="0"/>
                <a:cs typeface="Times New Roman" pitchFamily="18" charset="0"/>
              </a:rPr>
              <a:t>(a) The maximum angular displacement from rest position, (b) </a:t>
            </a:r>
            <a:r>
              <a:rPr lang="en-US" sz="2000" dirty="0">
                <a:latin typeface="Times New Roman" pitchFamily="18" charset="0"/>
                <a:cs typeface="Times New Roman" pitchFamily="18" charset="0"/>
              </a:rPr>
              <a:t>maximum couple applied at the dashpot and (c) the angle by which the angular displacement lags the torque.</a:t>
            </a:r>
            <a:endParaRPr lang="en-US"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53841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Steady state vibrations</a:t>
            </a:r>
            <a:endParaRPr lang="en-IN" sz="3600" dirty="0">
              <a:solidFill>
                <a:srgbClr val="7030A0"/>
              </a:solidFill>
              <a:latin typeface="Times New Roman" pitchFamily="18" charset="0"/>
              <a:cs typeface="Times New Roman" pitchFamily="18" charset="0"/>
            </a:endParaRPr>
          </a:p>
        </p:txBody>
      </p:sp>
      <p:sp>
        <p:nvSpPr>
          <p:cNvPr id="4" name="Rectangle 3"/>
          <p:cNvSpPr/>
          <p:nvPr/>
        </p:nvSpPr>
        <p:spPr>
          <a:xfrm>
            <a:off x="223328" y="1063944"/>
            <a:ext cx="11687592" cy="1015663"/>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The damped natural frequency of the system as obtained from a free vibration test is 9.8 Hz. During the forced vibration test with constant exciting force on the same system, the maximum amplitude of vibration is found to be 9.6 Hz. Find the damping factor for the system and its natural frequency.</a:t>
            </a:r>
          </a:p>
        </p:txBody>
      </p:sp>
    </p:spTree>
    <p:extLst>
      <p:ext uri="{BB962C8B-B14F-4D97-AF65-F5344CB8AC3E}">
        <p14:creationId xmlns:p14="http://schemas.microsoft.com/office/powerpoint/2010/main" val="1731949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Steady state vibrations</a:t>
            </a:r>
            <a:endParaRPr lang="en-IN" sz="3600" dirty="0">
              <a:solidFill>
                <a:srgbClr val="7030A0"/>
              </a:solidFill>
              <a:latin typeface="Times New Roman" pitchFamily="18" charset="0"/>
              <a:cs typeface="Times New Roman" pitchFamily="18" charset="0"/>
            </a:endParaRPr>
          </a:p>
        </p:txBody>
      </p:sp>
      <p:sp>
        <p:nvSpPr>
          <p:cNvPr id="4" name="Rectangle 3"/>
          <p:cNvSpPr/>
          <p:nvPr/>
        </p:nvSpPr>
        <p:spPr>
          <a:xfrm>
            <a:off x="223328" y="1063944"/>
            <a:ext cx="11687592" cy="1015663"/>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A system of beams supports a motor of mass 1200 kg. The motor has an unbalanced mass of 1 kg located at 6.00 cm radius. It is known that the resonance occurs at 2210 rpm. What amplitude of vibration can be expected at the motor’s operating speed of 1440 rpm if the damping factor is assumed to be less than 0.1.</a:t>
            </a:r>
          </a:p>
        </p:txBody>
      </p:sp>
    </p:spTree>
    <p:extLst>
      <p:ext uri="{BB962C8B-B14F-4D97-AF65-F5344CB8AC3E}">
        <p14:creationId xmlns:p14="http://schemas.microsoft.com/office/powerpoint/2010/main" val="3658415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Steady state vibrations</a:t>
            </a:r>
            <a:endParaRPr lang="en-IN" sz="3600" dirty="0">
              <a:solidFill>
                <a:srgbClr val="7030A0"/>
              </a:solidFill>
              <a:latin typeface="Times New Roman" pitchFamily="18" charset="0"/>
              <a:cs typeface="Times New Roman" pitchFamily="18" charset="0"/>
            </a:endParaRPr>
          </a:p>
        </p:txBody>
      </p:sp>
      <p:sp>
        <p:nvSpPr>
          <p:cNvPr id="4" name="Rectangle 3"/>
          <p:cNvSpPr/>
          <p:nvPr/>
        </p:nvSpPr>
        <p:spPr>
          <a:xfrm>
            <a:off x="223328" y="1063944"/>
            <a:ext cx="11687592" cy="2246769"/>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A single cylinder vertical petrol engine of total mass 320 kg is mounted upon a steel chassis frame and causes a vertical static deflection of 0.2 cm. The reciprocating part of the engine have a mass of 24 kg and move through a vertical stoke of 15 cm with SHM. A dashpot is provided and the damping resistance of which is directly proportional to the velocity and amount to 490 N at 0.3 m/s. Determine</a:t>
            </a:r>
          </a:p>
          <a:p>
            <a:pPr marL="457200" indent="-457200">
              <a:buAutoNum type="alphaLcParenBoth"/>
            </a:pPr>
            <a:r>
              <a:rPr lang="en-US" sz="2000" dirty="0">
                <a:latin typeface="Times New Roman" pitchFamily="18" charset="0"/>
                <a:cs typeface="Times New Roman" pitchFamily="18" charset="0"/>
              </a:rPr>
              <a:t>The speed of driving shaft at which the resonance occurs.</a:t>
            </a:r>
          </a:p>
          <a:p>
            <a:pPr marL="457200" indent="-457200">
              <a:buAutoNum type="alphaLcParenBoth"/>
            </a:pPr>
            <a:r>
              <a:rPr lang="en-US" sz="2000" dirty="0">
                <a:latin typeface="Times New Roman" pitchFamily="18" charset="0"/>
                <a:cs typeface="Times New Roman" pitchFamily="18" charset="0"/>
              </a:rPr>
              <a:t>The amplitude of steady state forced vibrations when the driving shaft of the engine rotates at 480 rpm.</a:t>
            </a:r>
          </a:p>
          <a:p>
            <a:pPr marL="457200" indent="-457200">
              <a:buAutoNum type="alphaLcParenBoth"/>
            </a:pPr>
            <a:endParaRPr lang="en-US"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249233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Forced vibrations due to excitation of support</a:t>
            </a:r>
            <a:endParaRPr lang="en-IN" sz="3600" dirty="0">
              <a:solidFill>
                <a:srgbClr val="7030A0"/>
              </a:solidFill>
              <a:latin typeface="Times New Roman" pitchFamily="18" charset="0"/>
              <a:cs typeface="Times New Roman" pitchFamily="18" charset="0"/>
            </a:endParaRPr>
          </a:p>
        </p:txBody>
      </p:sp>
      <p:grpSp>
        <p:nvGrpSpPr>
          <p:cNvPr id="4" name="Group 3"/>
          <p:cNvGrpSpPr/>
          <p:nvPr/>
        </p:nvGrpSpPr>
        <p:grpSpPr>
          <a:xfrm>
            <a:off x="778750" y="1354012"/>
            <a:ext cx="2223837" cy="2843673"/>
            <a:chOff x="778750" y="1354012"/>
            <a:chExt cx="2676682" cy="3422736"/>
          </a:xfrm>
        </p:grpSpPr>
        <mc:AlternateContent xmlns:mc="http://schemas.openxmlformats.org/markup-compatibility/2006" xmlns:a14="http://schemas.microsoft.com/office/drawing/2010/main">
          <mc:Choice Requires="a14">
            <p:sp>
              <p:nvSpPr>
                <p:cNvPr id="5" name="TextBox 4"/>
                <p:cNvSpPr txBox="1"/>
                <p:nvPr/>
              </p:nvSpPr>
              <p:spPr>
                <a:xfrm>
                  <a:off x="778750" y="2670241"/>
                  <a:ext cx="412163" cy="83099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sz="2400" b="0" i="1" smtClean="0">
                          <a:latin typeface="Cambria Math"/>
                          <a:cs typeface="Times New Roman" panose="02020603050405020304" pitchFamily="18" charset="0"/>
                        </a:rPr>
                        <m:t>𝐾</m:t>
                      </m:r>
                    </m:oMath>
                  </a14:m>
                  <a:endParaRPr lang="en-IN" sz="2400" dirty="0">
                    <a:latin typeface="Times New Roman" panose="02020603050405020304" pitchFamily="18" charset="0"/>
                    <a:cs typeface="Times New Roman" panose="02020603050405020304" pitchFamily="18"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778750" y="2670241"/>
                  <a:ext cx="412163" cy="830997"/>
                </a:xfrm>
                <a:prstGeom prst="rect">
                  <a:avLst/>
                </a:prstGeom>
                <a:blipFill rotWithShape="1">
                  <a:blip r:embed="rId3"/>
                  <a:stretch>
                    <a:fillRect l="-4478"/>
                  </a:stretch>
                </a:blipFill>
              </p:spPr>
              <p:txBody>
                <a:bodyPr/>
                <a:lstStyle/>
                <a:p>
                  <a:r>
                    <a:rPr lang="en-IN">
                      <a:noFill/>
                    </a:rPr>
                    <a:t> </a:t>
                  </a:r>
                </a:p>
              </p:txBody>
            </p:sp>
          </mc:Fallback>
        </mc:AlternateContent>
        <p:cxnSp>
          <p:nvCxnSpPr>
            <p:cNvPr id="6" name="Straight Connector 5"/>
            <p:cNvCxnSpPr/>
            <p:nvPr/>
          </p:nvCxnSpPr>
          <p:spPr>
            <a:xfrm>
              <a:off x="1401032" y="1627422"/>
              <a:ext cx="0" cy="400754"/>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380439" y="3367444"/>
              <a:ext cx="0" cy="380692"/>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1150565" y="2014865"/>
              <a:ext cx="418004" cy="1370185"/>
              <a:chOff x="1895549" y="1876841"/>
              <a:chExt cx="418004" cy="1370185"/>
            </a:xfrm>
          </p:grpSpPr>
          <p:cxnSp>
            <p:nvCxnSpPr>
              <p:cNvPr id="10" name="Straight Connector 9"/>
              <p:cNvCxnSpPr/>
              <p:nvPr/>
            </p:nvCxnSpPr>
            <p:spPr>
              <a:xfrm flipH="1">
                <a:off x="1977649" y="1876841"/>
                <a:ext cx="168367"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920577" y="2671231"/>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1920577" y="2786390"/>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900098" y="2901549"/>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1895549" y="3016708"/>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922850" y="3131867"/>
                <a:ext cx="202041"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947878" y="2214200"/>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947878" y="2329359"/>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927399" y="2444519"/>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1922850" y="2559678"/>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976818" y="1985577"/>
                <a:ext cx="336735"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1972269" y="2100736"/>
                <a:ext cx="336735"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969434" y="1354013"/>
              <a:ext cx="706915" cy="256346"/>
              <a:chOff x="1837988" y="1215989"/>
              <a:chExt cx="706915" cy="256346"/>
            </a:xfrm>
          </p:grpSpPr>
          <p:cxnSp>
            <p:nvCxnSpPr>
              <p:cNvPr id="23" name="Straight Connector 22"/>
              <p:cNvCxnSpPr/>
              <p:nvPr/>
            </p:nvCxnSpPr>
            <p:spPr>
              <a:xfrm>
                <a:off x="1837988" y="1463218"/>
                <a:ext cx="6006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1893189"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2034382" y="1225106"/>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2178358" y="1225105"/>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2332396"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 name="Rectangle 27"/>
            <p:cNvSpPr/>
            <p:nvPr/>
          </p:nvSpPr>
          <p:spPr>
            <a:xfrm>
              <a:off x="795534" y="3748136"/>
              <a:ext cx="1800000" cy="4320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grpSp>
          <p:nvGrpSpPr>
            <p:cNvPr id="29" name="Group 28"/>
            <p:cNvGrpSpPr/>
            <p:nvPr/>
          </p:nvGrpSpPr>
          <p:grpSpPr>
            <a:xfrm>
              <a:off x="1538775" y="1354012"/>
              <a:ext cx="706915" cy="256346"/>
              <a:chOff x="1837988" y="1215989"/>
              <a:chExt cx="706915" cy="256346"/>
            </a:xfrm>
          </p:grpSpPr>
          <p:cxnSp>
            <p:nvCxnSpPr>
              <p:cNvPr id="30" name="Straight Connector 29"/>
              <p:cNvCxnSpPr/>
              <p:nvPr/>
            </p:nvCxnSpPr>
            <p:spPr>
              <a:xfrm>
                <a:off x="1837988" y="1463218"/>
                <a:ext cx="6006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a:off x="1893189"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2034382" y="1225106"/>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2178358" y="1225105"/>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2332396"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Group 34"/>
            <p:cNvGrpSpPr/>
            <p:nvPr/>
          </p:nvGrpSpPr>
          <p:grpSpPr>
            <a:xfrm>
              <a:off x="2107250" y="1354446"/>
              <a:ext cx="706915" cy="256346"/>
              <a:chOff x="1837988" y="1215989"/>
              <a:chExt cx="706915" cy="256346"/>
            </a:xfrm>
          </p:grpSpPr>
          <p:cxnSp>
            <p:nvCxnSpPr>
              <p:cNvPr id="36" name="Straight Connector 35"/>
              <p:cNvCxnSpPr/>
              <p:nvPr/>
            </p:nvCxnSpPr>
            <p:spPr>
              <a:xfrm>
                <a:off x="1837988" y="1463218"/>
                <a:ext cx="6006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H="1">
                <a:off x="1893189"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H="1">
                <a:off x="2034382" y="1225106"/>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2178358" y="1225105"/>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a:off x="2332396"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Straight Connector 40"/>
            <p:cNvCxnSpPr/>
            <p:nvPr/>
          </p:nvCxnSpPr>
          <p:spPr>
            <a:xfrm>
              <a:off x="2105860" y="1618447"/>
              <a:ext cx="0" cy="72118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093609" y="2753238"/>
              <a:ext cx="0" cy="1008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1909499" y="2337450"/>
              <a:ext cx="36059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1791291" y="2178584"/>
              <a:ext cx="0" cy="57669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2383639" y="2191104"/>
              <a:ext cx="0" cy="57669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1791291" y="2755281"/>
              <a:ext cx="60098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2419537" y="2281579"/>
              <a:ext cx="389850" cy="461665"/>
            </a:xfrm>
            <a:prstGeom prst="rect">
              <a:avLst/>
            </a:prstGeom>
            <a:noFill/>
            <a:ln w="38100">
              <a:noFill/>
            </a:ln>
          </p:spPr>
          <p:txBody>
            <a:bodyPr wrap="none" rtlCol="0">
              <a:spAutoFit/>
            </a:bodyPr>
            <a:lstStyle/>
            <a:p>
              <a:r>
                <a:rPr lang="en-US" sz="2400" i="1" dirty="0">
                  <a:latin typeface="Times New Roman" pitchFamily="18" charset="0"/>
                  <a:cs typeface="Times New Roman" pitchFamily="18" charset="0"/>
                </a:rPr>
                <a:t>C</a:t>
              </a:r>
              <a:endParaRPr lang="en-IN" sz="2400" i="1" dirty="0">
                <a:latin typeface="Times New Roman" pitchFamily="18" charset="0"/>
                <a:cs typeface="Times New Roman" pitchFamily="18" charset="0"/>
              </a:endParaRPr>
            </a:p>
          </p:txBody>
        </p:sp>
        <p:sp>
          <p:nvSpPr>
            <p:cNvPr id="48" name="TextBox 47"/>
            <p:cNvSpPr txBox="1"/>
            <p:nvPr/>
          </p:nvSpPr>
          <p:spPr>
            <a:xfrm>
              <a:off x="1462184" y="3736020"/>
              <a:ext cx="407484" cy="461665"/>
            </a:xfrm>
            <a:prstGeom prst="rect">
              <a:avLst/>
            </a:prstGeom>
            <a:noFill/>
            <a:ln w="38100">
              <a:noFill/>
            </a:ln>
          </p:spPr>
          <p:txBody>
            <a:bodyPr wrap="none" rtlCol="0">
              <a:spAutoFit/>
            </a:bodyPr>
            <a:lstStyle/>
            <a:p>
              <a:r>
                <a:rPr lang="en-US" sz="2400" i="1" dirty="0">
                  <a:latin typeface="Times New Roman" pitchFamily="18" charset="0"/>
                  <a:cs typeface="Times New Roman" pitchFamily="18" charset="0"/>
                </a:rPr>
                <a:t>m</a:t>
              </a:r>
              <a:endParaRPr lang="en-IN" sz="2400" i="1" dirty="0">
                <a:latin typeface="Times New Roman" pitchFamily="18" charset="0"/>
                <a:cs typeface="Times New Roman" pitchFamily="18" charset="0"/>
              </a:endParaRPr>
            </a:p>
          </p:txBody>
        </p:sp>
        <p:cxnSp>
          <p:nvCxnSpPr>
            <p:cNvPr id="49" name="Straight Connector 48"/>
            <p:cNvCxnSpPr/>
            <p:nvPr/>
          </p:nvCxnSpPr>
          <p:spPr>
            <a:xfrm>
              <a:off x="3026229" y="3961925"/>
              <a:ext cx="0" cy="730108"/>
            </a:xfrm>
            <a:prstGeom prst="line">
              <a:avLst/>
            </a:prstGeom>
            <a:ln w="28575">
              <a:solidFill>
                <a:schemeClr val="tx1"/>
              </a:solidFill>
              <a:prstDash val="solid"/>
              <a:headEnd type="none"/>
              <a:tailEnd type="stealth" w="lg" len="lg"/>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endCxn id="28" idx="3"/>
            </p:cNvCxnSpPr>
            <p:nvPr/>
          </p:nvCxnSpPr>
          <p:spPr>
            <a:xfrm flipH="1" flipV="1">
              <a:off x="2595534" y="3964136"/>
              <a:ext cx="430695" cy="120"/>
            </a:xfrm>
            <a:prstGeom prst="line">
              <a:avLst/>
            </a:prstGeom>
            <a:ln w="28575">
              <a:solidFill>
                <a:schemeClr val="tx1"/>
              </a:solidFill>
              <a:prstDash val="solid"/>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3019468" y="1599596"/>
              <a:ext cx="0" cy="730108"/>
            </a:xfrm>
            <a:prstGeom prst="line">
              <a:avLst/>
            </a:prstGeom>
            <a:ln w="28575">
              <a:solidFill>
                <a:schemeClr val="tx1"/>
              </a:solidFill>
              <a:prstDash val="solid"/>
              <a:headEnd type="none"/>
              <a:tailEnd type="stealth" w="lg" len="lg"/>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H="1">
              <a:off x="2701412" y="1601927"/>
              <a:ext cx="318056" cy="0"/>
            </a:xfrm>
            <a:prstGeom prst="line">
              <a:avLst/>
            </a:prstGeom>
            <a:ln w="28575">
              <a:solidFill>
                <a:schemeClr val="tx1"/>
              </a:solidFill>
              <a:prstDash val="solid"/>
              <a:headEnd type="none"/>
              <a:tailEnd type="non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Rectangle 52"/>
                <p:cNvSpPr/>
                <p:nvPr/>
              </p:nvSpPr>
              <p:spPr>
                <a:xfrm>
                  <a:off x="3019468" y="4407416"/>
                  <a:ext cx="36798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cs typeface="Times New Roman" panose="02020603050405020304" pitchFamily="18" charset="0"/>
                          </a:rPr>
                          <m:t>𝑥</m:t>
                        </m:r>
                      </m:oMath>
                    </m:oMathPara>
                  </a14:m>
                  <a:endParaRPr lang="en-IN" dirty="0"/>
                </a:p>
              </p:txBody>
            </p:sp>
          </mc:Choice>
          <mc:Fallback xmlns="">
            <p:sp>
              <p:nvSpPr>
                <p:cNvPr id="53" name="Rectangle 52"/>
                <p:cNvSpPr>
                  <a:spLocks noRot="1" noChangeAspect="1" noMove="1" noResize="1" noEditPoints="1" noAdjustHandles="1" noChangeArrowheads="1" noChangeShapeType="1" noTextEdit="1"/>
                </p:cNvSpPr>
                <p:nvPr/>
              </p:nvSpPr>
              <p:spPr>
                <a:xfrm>
                  <a:off x="3019468" y="4407416"/>
                  <a:ext cx="367985" cy="369332"/>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Rectangle 53"/>
                <p:cNvSpPr/>
                <p:nvPr/>
              </p:nvSpPr>
              <p:spPr>
                <a:xfrm>
                  <a:off x="3087447" y="1905759"/>
                  <a:ext cx="36798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cs typeface="Times New Roman" panose="02020603050405020304" pitchFamily="18" charset="0"/>
                          </a:rPr>
                          <m:t>𝑦</m:t>
                        </m:r>
                      </m:oMath>
                    </m:oMathPara>
                  </a14:m>
                  <a:endParaRPr lang="en-IN" dirty="0"/>
                </a:p>
              </p:txBody>
            </p:sp>
          </mc:Choice>
          <mc:Fallback xmlns="">
            <p:sp>
              <p:nvSpPr>
                <p:cNvPr id="54" name="Rectangle 53"/>
                <p:cNvSpPr>
                  <a:spLocks noRot="1" noChangeAspect="1" noMove="1" noResize="1" noEditPoints="1" noAdjustHandles="1" noChangeArrowheads="1" noChangeShapeType="1" noTextEdit="1"/>
                </p:cNvSpPr>
                <p:nvPr/>
              </p:nvSpPr>
              <p:spPr>
                <a:xfrm>
                  <a:off x="3087447" y="1905759"/>
                  <a:ext cx="367985" cy="369332"/>
                </a:xfrm>
                <a:prstGeom prst="rect">
                  <a:avLst/>
                </a:prstGeom>
                <a:blipFill rotWithShape="0">
                  <a:blip r:embed="rId5"/>
                  <a:stretch>
                    <a:fillRect b="-6667"/>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3" name="Rectangle 2"/>
              <p:cNvSpPr/>
              <p:nvPr/>
            </p:nvSpPr>
            <p:spPr>
              <a:xfrm>
                <a:off x="3002587" y="1073390"/>
                <a:ext cx="8990711" cy="3027239"/>
              </a:xfrm>
              <a:prstGeom prst="rect">
                <a:avLst/>
              </a:prstGeom>
            </p:spPr>
            <p:txBody>
              <a:bodyPr wrap="square">
                <a:spAutoFit/>
              </a:bodyPr>
              <a:lstStyle/>
              <a:p>
                <a:r>
                  <a:rPr lang="en-US" dirty="0">
                    <a:latin typeface="Times New Roman" pitchFamily="18" charset="0"/>
                    <a:cs typeface="Times New Roman" pitchFamily="18" charset="0"/>
                  </a:rPr>
                  <a:t>Let the excitation of the system is  through the support of the base instead of mass. In such case, the support will be  considered to be excited by a regular sinusoidal motion </a:t>
                </a:r>
                <a14:m>
                  <m:oMath xmlns:m="http://schemas.openxmlformats.org/officeDocument/2006/math">
                    <m:r>
                      <a:rPr lang="en-US" i="1">
                        <a:solidFill>
                          <a:srgbClr val="FF0000"/>
                        </a:solidFill>
                        <a:latin typeface="Cambria Math"/>
                        <a:cs typeface="Times New Roman" panose="02020603050405020304" pitchFamily="18" charset="0"/>
                      </a:rPr>
                      <m:t>𝑦</m:t>
                    </m:r>
                    <m:r>
                      <a:rPr lang="en-US" i="1">
                        <a:solidFill>
                          <a:srgbClr val="FF0000"/>
                        </a:solidFill>
                        <a:latin typeface="Cambria Math"/>
                        <a:cs typeface="Times New Roman" panose="02020603050405020304" pitchFamily="18" charset="0"/>
                      </a:rPr>
                      <m:t>=</m:t>
                    </m:r>
                    <m:r>
                      <a:rPr lang="en-US" b="0" i="1" smtClean="0">
                        <a:solidFill>
                          <a:srgbClr val="FF0000"/>
                        </a:solidFill>
                        <a:latin typeface="Cambria Math"/>
                        <a:cs typeface="Times New Roman" pitchFamily="18" charset="0"/>
                      </a:rPr>
                      <m:t>𝑌</m:t>
                    </m:r>
                    <m:func>
                      <m:funcPr>
                        <m:ctrlPr>
                          <a:rPr lang="en-IN" i="1">
                            <a:solidFill>
                              <a:srgbClr val="FF0000"/>
                            </a:solidFill>
                            <a:latin typeface="Cambria Math" panose="02040503050406030204" pitchFamily="18" charset="0"/>
                            <a:cs typeface="Times New Roman" panose="02020603050405020304" pitchFamily="18" charset="0"/>
                          </a:rPr>
                        </m:ctrlPr>
                      </m:funcPr>
                      <m:fName>
                        <m:r>
                          <m:rPr>
                            <m:sty m:val="p"/>
                          </m:rPr>
                          <a:rPr lang="en-US">
                            <a:solidFill>
                              <a:srgbClr val="FF0000"/>
                            </a:solidFill>
                            <a:latin typeface="Cambria Math"/>
                            <a:cs typeface="Times New Roman" panose="02020603050405020304" pitchFamily="18" charset="0"/>
                          </a:rPr>
                          <m:t>sin</m:t>
                        </m:r>
                      </m:fName>
                      <m:e>
                        <m:r>
                          <a:rPr lang="en-US" i="1" smtClean="0">
                            <a:solidFill>
                              <a:srgbClr val="FF0000"/>
                            </a:solidFill>
                            <a:latin typeface="Cambria Math"/>
                            <a:ea typeface="Cambria Math"/>
                            <a:cs typeface="Times New Roman" panose="02020603050405020304" pitchFamily="18" charset="0"/>
                          </a:rPr>
                          <m:t>𝜔</m:t>
                        </m:r>
                        <m:r>
                          <a:rPr lang="en-US" b="0" i="1" smtClean="0">
                            <a:solidFill>
                              <a:srgbClr val="FF0000"/>
                            </a:solidFill>
                            <a:latin typeface="Cambria Math"/>
                            <a:ea typeface="Cambria Math"/>
                            <a:cs typeface="Times New Roman" panose="02020603050405020304" pitchFamily="18" charset="0"/>
                          </a:rPr>
                          <m:t>𝑡</m:t>
                        </m:r>
                      </m:e>
                    </m:func>
                    <m:r>
                      <a:rPr lang="en-US" b="0" i="0" smtClean="0">
                        <a:solidFill>
                          <a:srgbClr val="FF0000"/>
                        </a:solidFill>
                        <a:latin typeface="Cambria Math"/>
                        <a:ea typeface="Cambria Math"/>
                        <a:cs typeface="Times New Roman" panose="02020603050405020304" pitchFamily="18" charset="0"/>
                      </a:rPr>
                      <m:t>.</m:t>
                    </m:r>
                  </m:oMath>
                </a14:m>
                <a:endParaRPr lang="en-US" b="0" dirty="0">
                  <a:solidFill>
                    <a:srgbClr val="FF0000"/>
                  </a:solidFill>
                  <a:latin typeface="Times New Roman" pitchFamily="18" charset="0"/>
                  <a:ea typeface="Cambria Math"/>
                  <a:cs typeface="Times New Roman" panose="02020603050405020304" pitchFamily="18" charset="0"/>
                </a:endParaRPr>
              </a:p>
              <a:p>
                <a:endParaRPr lang="en-US" dirty="0"/>
              </a:p>
              <a:p>
                <a:r>
                  <a:rPr lang="en-US" dirty="0">
                    <a:solidFill>
                      <a:srgbClr val="FF0000"/>
                    </a:solidFill>
                    <a:latin typeface="Times New Roman" pitchFamily="18" charset="0"/>
                    <a:cs typeface="Times New Roman" pitchFamily="18" charset="0"/>
                  </a:rPr>
                  <a:t>Absolute Amplitude:</a:t>
                </a:r>
              </a:p>
              <a:p>
                <a:r>
                  <a:rPr lang="en-US" dirty="0">
                    <a:latin typeface="Times New Roman" pitchFamily="18" charset="0"/>
                    <a:cs typeface="Times New Roman" pitchFamily="18" charset="0"/>
                  </a:rPr>
                  <a:t>Assuming </a:t>
                </a:r>
                <a14:m>
                  <m:oMath xmlns:m="http://schemas.openxmlformats.org/officeDocument/2006/math">
                    <m:r>
                      <a:rPr lang="en-US" b="0" i="1" smtClean="0">
                        <a:solidFill>
                          <a:srgbClr val="FF0000"/>
                        </a:solidFill>
                        <a:latin typeface="Cambria Math"/>
                        <a:cs typeface="Times New Roman" pitchFamily="18" charset="0"/>
                      </a:rPr>
                      <m:t>𝑥</m:t>
                    </m:r>
                  </m:oMath>
                </a14:m>
                <a:r>
                  <a:rPr lang="en-IN" dirty="0">
                    <a:latin typeface="Times New Roman" pitchFamily="18" charset="0"/>
                    <a:cs typeface="Times New Roman" pitchFamily="18" charset="0"/>
                  </a:rPr>
                  <a:t> is the absolute motion of mass </a:t>
                </a:r>
                <a14:m>
                  <m:oMath xmlns:m="http://schemas.openxmlformats.org/officeDocument/2006/math">
                    <m:r>
                      <a:rPr lang="en-US" b="0" i="1" smtClean="0">
                        <a:solidFill>
                          <a:srgbClr val="FF0000"/>
                        </a:solidFill>
                        <a:latin typeface="Cambria Math"/>
                        <a:cs typeface="Times New Roman" pitchFamily="18" charset="0"/>
                      </a:rPr>
                      <m:t>𝑚</m:t>
                    </m:r>
                  </m:oMath>
                </a14:m>
                <a:r>
                  <a:rPr lang="en-IN" dirty="0">
                    <a:latin typeface="Times New Roman" pitchFamily="18" charset="0"/>
                    <a:cs typeface="Times New Roman" pitchFamily="18" charset="0"/>
                  </a:rPr>
                  <a:t>, then the equation of motion can be written as </a:t>
                </a:r>
                <a14:m>
                  <m:oMath xmlns:m="http://schemas.openxmlformats.org/officeDocument/2006/math">
                    <m:r>
                      <a:rPr lang="en-US" i="1" smtClean="0">
                        <a:solidFill>
                          <a:srgbClr val="FF0000"/>
                        </a:solidFill>
                        <a:latin typeface="Cambria Math" panose="02040503050406030204" pitchFamily="18" charset="0"/>
                        <a:cs typeface="Times New Roman" panose="02020603050405020304" pitchFamily="18" charset="0"/>
                      </a:rPr>
                      <m:t>𝑚</m:t>
                    </m:r>
                    <m:acc>
                      <m:accPr>
                        <m:chr m:val="̈"/>
                        <m:ctrlPr>
                          <a:rPr lang="en-IN" i="1">
                            <a:solidFill>
                              <a:srgbClr val="FF0000"/>
                            </a:solidFill>
                            <a:latin typeface="Cambria Math" panose="02040503050406030204" pitchFamily="18" charset="0"/>
                            <a:cs typeface="Times New Roman" panose="02020603050405020304" pitchFamily="18" charset="0"/>
                          </a:rPr>
                        </m:ctrlPr>
                      </m:accPr>
                      <m:e>
                        <m:r>
                          <a:rPr lang="en-US" i="1">
                            <a:solidFill>
                              <a:srgbClr val="FF0000"/>
                            </a:solidFill>
                            <a:latin typeface="Cambria Math"/>
                            <a:cs typeface="Times New Roman" panose="02020603050405020304" pitchFamily="18" charset="0"/>
                          </a:rPr>
                          <m:t>𝑥</m:t>
                        </m:r>
                      </m:e>
                    </m:acc>
                    <m:r>
                      <a:rPr lang="en-US" i="1">
                        <a:solidFill>
                          <a:srgbClr val="FF0000"/>
                        </a:solidFill>
                        <a:latin typeface="Cambria Math"/>
                        <a:cs typeface="Times New Roman" panose="02020603050405020304" pitchFamily="18" charset="0"/>
                      </a:rPr>
                      <m:t>=−</m:t>
                    </m:r>
                    <m:r>
                      <a:rPr lang="en-IN" i="1">
                        <a:solidFill>
                          <a:srgbClr val="FF0000"/>
                        </a:solidFill>
                        <a:latin typeface="Cambria Math" panose="02040503050406030204" pitchFamily="18" charset="0"/>
                        <a:cs typeface="Times New Roman" panose="02020603050405020304" pitchFamily="18" charset="0"/>
                      </a:rPr>
                      <m:t>𝐾</m:t>
                    </m:r>
                    <m:d>
                      <m:dPr>
                        <m:ctrlPr>
                          <a:rPr lang="en-IN" i="1" smtClean="0">
                            <a:solidFill>
                              <a:srgbClr val="FF0000"/>
                            </a:solidFill>
                            <a:latin typeface="Cambria Math" panose="02040503050406030204" pitchFamily="18" charset="0"/>
                            <a:cs typeface="Times New Roman" panose="02020603050405020304" pitchFamily="18" charset="0"/>
                          </a:rPr>
                        </m:ctrlPr>
                      </m:dPr>
                      <m:e>
                        <m:r>
                          <a:rPr lang="en-US" b="0" i="1" smtClean="0">
                            <a:solidFill>
                              <a:srgbClr val="FF0000"/>
                            </a:solidFill>
                            <a:latin typeface="Cambria Math"/>
                            <a:cs typeface="Times New Roman" panose="02020603050405020304" pitchFamily="18" charset="0"/>
                          </a:rPr>
                          <m:t>𝑥</m:t>
                        </m:r>
                        <m:r>
                          <a:rPr lang="en-US" b="0" i="1" smtClean="0">
                            <a:solidFill>
                              <a:srgbClr val="FF0000"/>
                            </a:solidFill>
                            <a:latin typeface="Cambria Math"/>
                            <a:cs typeface="Times New Roman" panose="02020603050405020304" pitchFamily="18" charset="0"/>
                          </a:rPr>
                          <m:t>−</m:t>
                        </m:r>
                        <m:r>
                          <a:rPr lang="en-US" b="0" i="1" smtClean="0">
                            <a:solidFill>
                              <a:srgbClr val="FF0000"/>
                            </a:solidFill>
                            <a:latin typeface="Cambria Math"/>
                            <a:cs typeface="Times New Roman" panose="02020603050405020304" pitchFamily="18" charset="0"/>
                          </a:rPr>
                          <m:t>𝑦</m:t>
                        </m:r>
                      </m:e>
                    </m:d>
                    <m:r>
                      <a:rPr lang="en-US" i="1">
                        <a:solidFill>
                          <a:srgbClr val="FF0000"/>
                        </a:solidFill>
                        <a:latin typeface="Cambria Math"/>
                        <a:cs typeface="Times New Roman" panose="02020603050405020304" pitchFamily="18" charset="0"/>
                      </a:rPr>
                      <m:t>−</m:t>
                    </m:r>
                    <m:r>
                      <a:rPr lang="en-US" i="1">
                        <a:solidFill>
                          <a:srgbClr val="FF0000"/>
                        </a:solidFill>
                        <a:latin typeface="Cambria Math"/>
                        <a:cs typeface="Times New Roman" panose="02020603050405020304" pitchFamily="18" charset="0"/>
                      </a:rPr>
                      <m:t>𝐶</m:t>
                    </m:r>
                    <m:d>
                      <m:dPr>
                        <m:ctrlPr>
                          <a:rPr lang="en-US" i="1" smtClean="0">
                            <a:solidFill>
                              <a:srgbClr val="FF0000"/>
                            </a:solidFill>
                            <a:latin typeface="Cambria Math" panose="02040503050406030204" pitchFamily="18" charset="0"/>
                            <a:cs typeface="Times New Roman" pitchFamily="18" charset="0"/>
                          </a:rPr>
                        </m:ctrlPr>
                      </m:dPr>
                      <m:e>
                        <m:acc>
                          <m:accPr>
                            <m:chr m:val="̇"/>
                            <m:ctrlPr>
                              <a:rPr lang="en-US" i="1">
                                <a:solidFill>
                                  <a:srgbClr val="FF0000"/>
                                </a:solidFill>
                                <a:latin typeface="Cambria Math" panose="02040503050406030204" pitchFamily="18" charset="0"/>
                                <a:cs typeface="Times New Roman" pitchFamily="18" charset="0"/>
                              </a:rPr>
                            </m:ctrlPr>
                          </m:accPr>
                          <m:e>
                            <m:r>
                              <a:rPr lang="en-US" i="1">
                                <a:solidFill>
                                  <a:srgbClr val="FF0000"/>
                                </a:solidFill>
                                <a:latin typeface="Cambria Math"/>
                                <a:cs typeface="Times New Roman" pitchFamily="18" charset="0"/>
                              </a:rPr>
                              <m:t>𝑥</m:t>
                            </m:r>
                          </m:e>
                        </m:acc>
                        <m:r>
                          <a:rPr lang="en-US" b="0" i="1" smtClean="0">
                            <a:solidFill>
                              <a:srgbClr val="FF0000"/>
                            </a:solidFill>
                            <a:latin typeface="Cambria Math"/>
                            <a:cs typeface="Times New Roman" pitchFamily="18" charset="0"/>
                          </a:rPr>
                          <m:t>−</m:t>
                        </m:r>
                        <m:acc>
                          <m:accPr>
                            <m:chr m:val="̇"/>
                            <m:ctrlPr>
                              <a:rPr lang="en-US" i="1">
                                <a:solidFill>
                                  <a:srgbClr val="FF0000"/>
                                </a:solidFill>
                                <a:latin typeface="Cambria Math" panose="02040503050406030204" pitchFamily="18" charset="0"/>
                                <a:cs typeface="Times New Roman" pitchFamily="18" charset="0"/>
                              </a:rPr>
                            </m:ctrlPr>
                          </m:accPr>
                          <m:e>
                            <m:r>
                              <a:rPr lang="en-US" b="0" i="1" smtClean="0">
                                <a:solidFill>
                                  <a:srgbClr val="FF0000"/>
                                </a:solidFill>
                                <a:latin typeface="Cambria Math"/>
                                <a:cs typeface="Times New Roman" pitchFamily="18" charset="0"/>
                              </a:rPr>
                              <m:t>𝑦</m:t>
                            </m:r>
                          </m:e>
                        </m:acc>
                      </m:e>
                    </m:d>
                  </m:oMath>
                </a14:m>
                <a:r>
                  <a:rPr lang="en-IN" dirty="0"/>
                  <a:t> </a:t>
                </a:r>
                <a:r>
                  <a:rPr lang="en-US" dirty="0">
                    <a:latin typeface="Times New Roman" pitchFamily="18" charset="0"/>
                    <a:cs typeface="Times New Roman" pitchFamily="18" charset="0"/>
                  </a:rPr>
                  <a:t>or </a:t>
                </a:r>
                <a14:m>
                  <m:oMath xmlns:m="http://schemas.openxmlformats.org/officeDocument/2006/math">
                    <m:r>
                      <a:rPr lang="en-US" i="1">
                        <a:solidFill>
                          <a:srgbClr val="FF0000"/>
                        </a:solidFill>
                        <a:latin typeface="Cambria Math"/>
                        <a:cs typeface="Times New Roman" panose="02020603050405020304" pitchFamily="18" charset="0"/>
                      </a:rPr>
                      <m:t>𝑚</m:t>
                    </m:r>
                    <m:acc>
                      <m:accPr>
                        <m:chr m:val="̈"/>
                        <m:ctrlPr>
                          <a:rPr lang="en-IN" i="1">
                            <a:solidFill>
                              <a:srgbClr val="FF0000"/>
                            </a:solidFill>
                            <a:latin typeface="Cambria Math" panose="02040503050406030204" pitchFamily="18" charset="0"/>
                            <a:cs typeface="Times New Roman" panose="02020603050405020304" pitchFamily="18" charset="0"/>
                          </a:rPr>
                        </m:ctrlPr>
                      </m:accPr>
                      <m:e>
                        <m:r>
                          <a:rPr lang="en-US" i="1">
                            <a:solidFill>
                              <a:srgbClr val="FF0000"/>
                            </a:solidFill>
                            <a:latin typeface="Cambria Math"/>
                            <a:cs typeface="Times New Roman" panose="02020603050405020304" pitchFamily="18" charset="0"/>
                          </a:rPr>
                          <m:t>𝑥</m:t>
                        </m:r>
                      </m:e>
                    </m:acc>
                    <m:r>
                      <a:rPr lang="en-US" b="0" i="1" smtClean="0">
                        <a:solidFill>
                          <a:srgbClr val="FF0000"/>
                        </a:solidFill>
                        <a:latin typeface="Cambria Math"/>
                        <a:cs typeface="Times New Roman" panose="02020603050405020304" pitchFamily="18" charset="0"/>
                      </a:rPr>
                      <m:t>+</m:t>
                    </m:r>
                    <m:r>
                      <a:rPr lang="en-US" b="0" i="1" smtClean="0">
                        <a:solidFill>
                          <a:srgbClr val="FF0000"/>
                        </a:solidFill>
                        <a:latin typeface="Cambria Math"/>
                        <a:cs typeface="Times New Roman" panose="02020603050405020304" pitchFamily="18" charset="0"/>
                      </a:rPr>
                      <m:t>𝐶</m:t>
                    </m:r>
                    <m:acc>
                      <m:accPr>
                        <m:chr m:val="̇"/>
                        <m:ctrlPr>
                          <a:rPr lang="en-US" i="1">
                            <a:solidFill>
                              <a:srgbClr val="FF0000"/>
                            </a:solidFill>
                            <a:latin typeface="Cambria Math" panose="02040503050406030204" pitchFamily="18" charset="0"/>
                            <a:cs typeface="Times New Roman" pitchFamily="18" charset="0"/>
                          </a:rPr>
                        </m:ctrlPr>
                      </m:accPr>
                      <m:e>
                        <m:r>
                          <a:rPr lang="en-US" i="1">
                            <a:solidFill>
                              <a:srgbClr val="FF0000"/>
                            </a:solidFill>
                            <a:latin typeface="Cambria Math"/>
                            <a:cs typeface="Times New Roman" pitchFamily="18" charset="0"/>
                          </a:rPr>
                          <m:t>𝑥</m:t>
                        </m:r>
                      </m:e>
                    </m:acc>
                    <m:r>
                      <a:rPr lang="en-US" b="0" i="1" smtClean="0">
                        <a:solidFill>
                          <a:srgbClr val="FF0000"/>
                        </a:solidFill>
                        <a:latin typeface="Cambria Math"/>
                        <a:cs typeface="Times New Roman" panose="02020603050405020304" pitchFamily="18" charset="0"/>
                      </a:rPr>
                      <m:t>+</m:t>
                    </m:r>
                    <m:r>
                      <a:rPr lang="en-US" b="0" i="1" smtClean="0">
                        <a:solidFill>
                          <a:srgbClr val="FF0000"/>
                        </a:solidFill>
                        <a:latin typeface="Cambria Math"/>
                        <a:cs typeface="Times New Roman" panose="02020603050405020304" pitchFamily="18" charset="0"/>
                      </a:rPr>
                      <m:t>𝐾𝑥</m:t>
                    </m:r>
                    <m:r>
                      <a:rPr lang="en-US" i="1">
                        <a:solidFill>
                          <a:srgbClr val="FF0000"/>
                        </a:solidFill>
                        <a:latin typeface="Cambria Math"/>
                        <a:cs typeface="Times New Roman" panose="02020603050405020304" pitchFamily="18" charset="0"/>
                      </a:rPr>
                      <m:t>=</m:t>
                    </m:r>
                    <m:r>
                      <a:rPr lang="en-IN" i="1">
                        <a:solidFill>
                          <a:srgbClr val="FF0000"/>
                        </a:solidFill>
                        <a:latin typeface="Cambria Math" panose="02040503050406030204" pitchFamily="18" charset="0"/>
                        <a:cs typeface="Times New Roman" panose="02020603050405020304" pitchFamily="18" charset="0"/>
                      </a:rPr>
                      <m:t>𝐾</m:t>
                    </m:r>
                    <m:r>
                      <a:rPr lang="en-US" b="0" i="1" smtClean="0">
                        <a:solidFill>
                          <a:srgbClr val="FF0000"/>
                        </a:solidFill>
                        <a:latin typeface="Cambria Math"/>
                        <a:cs typeface="Times New Roman" panose="02020603050405020304" pitchFamily="18" charset="0"/>
                      </a:rPr>
                      <m:t>𝑦</m:t>
                    </m:r>
                    <m:r>
                      <a:rPr lang="en-US" b="0" i="1" smtClean="0">
                        <a:solidFill>
                          <a:srgbClr val="FF0000"/>
                        </a:solidFill>
                        <a:latin typeface="Cambria Math"/>
                        <a:cs typeface="Times New Roman" panose="02020603050405020304" pitchFamily="18" charset="0"/>
                      </a:rPr>
                      <m:t>+</m:t>
                    </m:r>
                    <m:r>
                      <a:rPr lang="en-US" i="1">
                        <a:solidFill>
                          <a:srgbClr val="FF0000"/>
                        </a:solidFill>
                        <a:latin typeface="Cambria Math"/>
                        <a:cs typeface="Times New Roman" panose="02020603050405020304" pitchFamily="18" charset="0"/>
                      </a:rPr>
                      <m:t>𝐶</m:t>
                    </m:r>
                    <m:acc>
                      <m:accPr>
                        <m:chr m:val="̇"/>
                        <m:ctrlPr>
                          <a:rPr lang="en-US" i="1">
                            <a:solidFill>
                              <a:srgbClr val="FF0000"/>
                            </a:solidFill>
                            <a:latin typeface="Cambria Math" panose="02040503050406030204" pitchFamily="18" charset="0"/>
                            <a:cs typeface="Times New Roman" panose="02020603050405020304" pitchFamily="18" charset="0"/>
                          </a:rPr>
                        </m:ctrlPr>
                      </m:accPr>
                      <m:e>
                        <m:r>
                          <a:rPr lang="en-US" i="1">
                            <a:solidFill>
                              <a:srgbClr val="FF0000"/>
                            </a:solidFill>
                            <a:latin typeface="Cambria Math"/>
                            <a:cs typeface="Times New Roman" panose="02020603050405020304" pitchFamily="18" charset="0"/>
                          </a:rPr>
                          <m:t>𝑦</m:t>
                        </m:r>
                      </m:e>
                    </m:acc>
                  </m:oMath>
                </a14:m>
                <a:endParaRPr lang="en-IN"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Substituting the value of </a:t>
                </a:r>
                <a14:m>
                  <m:oMath xmlns:m="http://schemas.openxmlformats.org/officeDocument/2006/math">
                    <m:r>
                      <m:rPr>
                        <m:sty m:val="p"/>
                      </m:rPr>
                      <a:rPr lang="en-US" smtClean="0">
                        <a:solidFill>
                          <a:srgbClr val="FF0000"/>
                        </a:solidFill>
                        <a:latin typeface="Cambria Math"/>
                        <a:cs typeface="Times New Roman" pitchFamily="18" charset="0"/>
                      </a:rPr>
                      <m:t>y</m:t>
                    </m:r>
                  </m:oMath>
                </a14:m>
                <a:r>
                  <a:rPr lang="en-IN" dirty="0">
                    <a:latin typeface="Times New Roman" pitchFamily="18" charset="0"/>
                    <a:cs typeface="Times New Roman" pitchFamily="18" charset="0"/>
                  </a:rPr>
                  <a:t> and </a:t>
                </a:r>
                <a14:m>
                  <m:oMath xmlns:m="http://schemas.openxmlformats.org/officeDocument/2006/math">
                    <m:acc>
                      <m:accPr>
                        <m:chr m:val="̇"/>
                        <m:ctrlPr>
                          <a:rPr lang="en-US" i="1">
                            <a:solidFill>
                              <a:srgbClr val="FF0000"/>
                            </a:solidFill>
                            <a:latin typeface="Cambria Math" panose="02040503050406030204" pitchFamily="18" charset="0"/>
                            <a:cs typeface="Times New Roman" pitchFamily="18" charset="0"/>
                          </a:rPr>
                        </m:ctrlPr>
                      </m:accPr>
                      <m:e>
                        <m:r>
                          <a:rPr lang="en-US" i="1">
                            <a:solidFill>
                              <a:srgbClr val="FF0000"/>
                            </a:solidFill>
                            <a:latin typeface="Cambria Math"/>
                            <a:cs typeface="Times New Roman" pitchFamily="18" charset="0"/>
                          </a:rPr>
                          <m:t>𝑦</m:t>
                        </m:r>
                      </m:e>
                    </m:acc>
                  </m:oMath>
                </a14:m>
                <a:r>
                  <a:rPr lang="en-IN" dirty="0">
                    <a:latin typeface="Times New Roman" pitchFamily="18" charset="0"/>
                    <a:cs typeface="Times New Roman" pitchFamily="18" charset="0"/>
                  </a:rPr>
                  <a:t> we have, </a:t>
                </a:r>
                <a14:m>
                  <m:oMath xmlns:m="http://schemas.openxmlformats.org/officeDocument/2006/math">
                    <m:r>
                      <a:rPr lang="en-US" i="1">
                        <a:solidFill>
                          <a:srgbClr val="FF0000"/>
                        </a:solidFill>
                        <a:latin typeface="Cambria Math"/>
                        <a:cs typeface="Times New Roman" panose="02020603050405020304" pitchFamily="18" charset="0"/>
                      </a:rPr>
                      <m:t>𝑚</m:t>
                    </m:r>
                    <m:acc>
                      <m:accPr>
                        <m:chr m:val="̈"/>
                        <m:ctrlPr>
                          <a:rPr lang="en-IN" i="1">
                            <a:solidFill>
                              <a:srgbClr val="FF0000"/>
                            </a:solidFill>
                            <a:latin typeface="Cambria Math" panose="02040503050406030204" pitchFamily="18" charset="0"/>
                            <a:cs typeface="Times New Roman" panose="02020603050405020304" pitchFamily="18" charset="0"/>
                          </a:rPr>
                        </m:ctrlPr>
                      </m:accPr>
                      <m:e>
                        <m:r>
                          <a:rPr lang="en-US" i="1">
                            <a:solidFill>
                              <a:srgbClr val="FF0000"/>
                            </a:solidFill>
                            <a:latin typeface="Cambria Math"/>
                            <a:cs typeface="Times New Roman" panose="02020603050405020304" pitchFamily="18" charset="0"/>
                          </a:rPr>
                          <m:t>𝑥</m:t>
                        </m:r>
                      </m:e>
                    </m:acc>
                    <m:r>
                      <a:rPr lang="en-US" i="1">
                        <a:solidFill>
                          <a:srgbClr val="FF0000"/>
                        </a:solidFill>
                        <a:latin typeface="Cambria Math"/>
                        <a:cs typeface="Times New Roman" panose="02020603050405020304" pitchFamily="18" charset="0"/>
                      </a:rPr>
                      <m:t>+</m:t>
                    </m:r>
                    <m:r>
                      <a:rPr lang="en-US" i="1">
                        <a:solidFill>
                          <a:srgbClr val="FF0000"/>
                        </a:solidFill>
                        <a:latin typeface="Cambria Math"/>
                        <a:cs typeface="Times New Roman" panose="02020603050405020304" pitchFamily="18" charset="0"/>
                      </a:rPr>
                      <m:t>𝐶</m:t>
                    </m:r>
                    <m:acc>
                      <m:accPr>
                        <m:chr m:val="̇"/>
                        <m:ctrlPr>
                          <a:rPr lang="en-US" i="1">
                            <a:solidFill>
                              <a:srgbClr val="FF0000"/>
                            </a:solidFill>
                            <a:latin typeface="Cambria Math" panose="02040503050406030204" pitchFamily="18" charset="0"/>
                            <a:cs typeface="Times New Roman" panose="02020603050405020304" pitchFamily="18" charset="0"/>
                          </a:rPr>
                        </m:ctrlPr>
                      </m:accPr>
                      <m:e>
                        <m:r>
                          <a:rPr lang="en-US" i="1">
                            <a:solidFill>
                              <a:srgbClr val="FF0000"/>
                            </a:solidFill>
                            <a:latin typeface="Cambria Math"/>
                            <a:cs typeface="Times New Roman" panose="02020603050405020304" pitchFamily="18" charset="0"/>
                          </a:rPr>
                          <m:t>𝑥</m:t>
                        </m:r>
                      </m:e>
                    </m:acc>
                    <m:r>
                      <a:rPr lang="en-US" i="1">
                        <a:solidFill>
                          <a:srgbClr val="FF0000"/>
                        </a:solidFill>
                        <a:latin typeface="Cambria Math"/>
                        <a:cs typeface="Times New Roman" panose="02020603050405020304" pitchFamily="18" charset="0"/>
                      </a:rPr>
                      <m:t>+</m:t>
                    </m:r>
                    <m:r>
                      <a:rPr lang="en-US" i="1">
                        <a:solidFill>
                          <a:srgbClr val="FF0000"/>
                        </a:solidFill>
                        <a:latin typeface="Cambria Math"/>
                        <a:cs typeface="Times New Roman" panose="02020603050405020304" pitchFamily="18" charset="0"/>
                      </a:rPr>
                      <m:t>𝐾𝑥</m:t>
                    </m:r>
                    <m:r>
                      <a:rPr lang="en-US" i="1">
                        <a:solidFill>
                          <a:srgbClr val="FF0000"/>
                        </a:solidFill>
                        <a:latin typeface="Cambria Math"/>
                        <a:cs typeface="Times New Roman" panose="02020603050405020304" pitchFamily="18" charset="0"/>
                      </a:rPr>
                      <m:t>=</m:t>
                    </m:r>
                    <m:r>
                      <a:rPr lang="en-US" b="0" i="1" smtClean="0">
                        <a:solidFill>
                          <a:srgbClr val="FF0000"/>
                        </a:solidFill>
                        <a:latin typeface="Cambria Math"/>
                        <a:cs typeface="Times New Roman" panose="02020603050405020304" pitchFamily="18" charset="0"/>
                      </a:rPr>
                      <m:t>𝑌</m:t>
                    </m:r>
                    <m:d>
                      <m:dPr>
                        <m:begChr m:val="["/>
                        <m:endChr m:val="]"/>
                        <m:ctrlPr>
                          <a:rPr lang="en-US" b="0" i="1" smtClean="0">
                            <a:solidFill>
                              <a:srgbClr val="FF0000"/>
                            </a:solidFill>
                            <a:latin typeface="Cambria Math" panose="02040503050406030204" pitchFamily="18" charset="0"/>
                            <a:cs typeface="Times New Roman" panose="02020603050405020304" pitchFamily="18" charset="0"/>
                          </a:rPr>
                        </m:ctrlPr>
                      </m:dPr>
                      <m:e>
                        <m:r>
                          <a:rPr lang="en-IN" i="1">
                            <a:solidFill>
                              <a:srgbClr val="FF0000"/>
                            </a:solidFill>
                            <a:latin typeface="Cambria Math" panose="02040503050406030204" pitchFamily="18" charset="0"/>
                            <a:cs typeface="Times New Roman" panose="02020603050405020304" pitchFamily="18" charset="0"/>
                          </a:rPr>
                          <m:t>𝐾</m:t>
                        </m:r>
                        <m:r>
                          <a:rPr lang="en-US" b="0" i="1" smtClean="0">
                            <a:solidFill>
                              <a:srgbClr val="FF0000"/>
                            </a:solidFill>
                            <a:latin typeface="Cambria Math"/>
                            <a:cs typeface="Times New Roman" panose="02020603050405020304" pitchFamily="18" charset="0"/>
                          </a:rPr>
                          <m:t> </m:t>
                        </m:r>
                        <m:func>
                          <m:funcPr>
                            <m:ctrlPr>
                              <a:rPr lang="en-US" b="0" i="1" smtClean="0">
                                <a:solidFill>
                                  <a:srgbClr val="FF0000"/>
                                </a:solidFill>
                                <a:latin typeface="Cambria Math" panose="02040503050406030204" pitchFamily="18" charset="0"/>
                                <a:cs typeface="Times New Roman" panose="02020603050405020304" pitchFamily="18" charset="0"/>
                              </a:rPr>
                            </m:ctrlPr>
                          </m:funcPr>
                          <m:fName>
                            <m:r>
                              <m:rPr>
                                <m:sty m:val="p"/>
                              </m:rPr>
                              <a:rPr lang="en-US" b="0" i="0" smtClean="0">
                                <a:solidFill>
                                  <a:srgbClr val="FF0000"/>
                                </a:solidFill>
                                <a:latin typeface="Cambria Math"/>
                                <a:cs typeface="Times New Roman" panose="02020603050405020304" pitchFamily="18" charset="0"/>
                              </a:rPr>
                              <m:t>sin</m:t>
                            </m:r>
                          </m:fName>
                          <m:e>
                            <m:r>
                              <a:rPr lang="en-US" b="0" i="1" smtClean="0">
                                <a:solidFill>
                                  <a:srgbClr val="FF0000"/>
                                </a:solidFill>
                                <a:latin typeface="Cambria Math"/>
                                <a:ea typeface="Cambria Math"/>
                                <a:cs typeface="Times New Roman" panose="02020603050405020304" pitchFamily="18" charset="0"/>
                              </a:rPr>
                              <m:t>𝜔</m:t>
                            </m:r>
                            <m:r>
                              <a:rPr lang="en-US" b="0" i="1" smtClean="0">
                                <a:solidFill>
                                  <a:srgbClr val="FF0000"/>
                                </a:solidFill>
                                <a:latin typeface="Cambria Math"/>
                                <a:ea typeface="Cambria Math"/>
                                <a:cs typeface="Times New Roman" panose="02020603050405020304" pitchFamily="18" charset="0"/>
                              </a:rPr>
                              <m:t>𝑡</m:t>
                            </m:r>
                          </m:e>
                        </m:func>
                        <m:r>
                          <a:rPr lang="en-US" b="0" i="1" smtClean="0">
                            <a:solidFill>
                              <a:srgbClr val="FF0000"/>
                            </a:solidFill>
                            <a:latin typeface="Cambria Math"/>
                            <a:cs typeface="Times New Roman" panose="02020603050405020304" pitchFamily="18" charset="0"/>
                          </a:rPr>
                          <m:t>+</m:t>
                        </m:r>
                        <m:r>
                          <a:rPr lang="en-US" b="0" i="1" smtClean="0">
                            <a:solidFill>
                              <a:srgbClr val="FF0000"/>
                            </a:solidFill>
                            <a:latin typeface="Cambria Math"/>
                            <a:cs typeface="Times New Roman" panose="02020603050405020304" pitchFamily="18" charset="0"/>
                          </a:rPr>
                          <m:t>𝐶</m:t>
                        </m:r>
                        <m:r>
                          <a:rPr lang="en-US" b="0" i="1" smtClean="0">
                            <a:solidFill>
                              <a:srgbClr val="FF0000"/>
                            </a:solidFill>
                            <a:latin typeface="Cambria Math"/>
                            <a:ea typeface="Cambria Math"/>
                            <a:cs typeface="Times New Roman" panose="02020603050405020304" pitchFamily="18" charset="0"/>
                          </a:rPr>
                          <m:t>𝜔</m:t>
                        </m:r>
                        <m:func>
                          <m:funcPr>
                            <m:ctrlPr>
                              <a:rPr lang="en-US" b="0" i="1" smtClean="0">
                                <a:solidFill>
                                  <a:srgbClr val="FF0000"/>
                                </a:solidFill>
                                <a:latin typeface="Cambria Math" panose="02040503050406030204" pitchFamily="18" charset="0"/>
                                <a:ea typeface="Cambria Math"/>
                                <a:cs typeface="Times New Roman" panose="02020603050405020304" pitchFamily="18" charset="0"/>
                              </a:rPr>
                            </m:ctrlPr>
                          </m:funcPr>
                          <m:fName>
                            <m:r>
                              <m:rPr>
                                <m:sty m:val="p"/>
                              </m:rPr>
                              <a:rPr lang="en-US" b="0" i="0" smtClean="0">
                                <a:solidFill>
                                  <a:srgbClr val="FF0000"/>
                                </a:solidFill>
                                <a:latin typeface="Cambria Math"/>
                                <a:ea typeface="Cambria Math"/>
                                <a:cs typeface="Times New Roman" panose="02020603050405020304" pitchFamily="18" charset="0"/>
                              </a:rPr>
                              <m:t>cos</m:t>
                            </m:r>
                          </m:fName>
                          <m:e>
                            <m:r>
                              <a:rPr lang="en-US" b="0" i="1" smtClean="0">
                                <a:solidFill>
                                  <a:srgbClr val="FF0000"/>
                                </a:solidFill>
                                <a:latin typeface="Cambria Math"/>
                                <a:ea typeface="Cambria Math"/>
                                <a:cs typeface="Times New Roman" panose="02020603050405020304" pitchFamily="18" charset="0"/>
                              </a:rPr>
                              <m:t>𝜔</m:t>
                            </m:r>
                            <m:r>
                              <a:rPr lang="en-US" b="0" i="1" smtClean="0">
                                <a:solidFill>
                                  <a:srgbClr val="FF0000"/>
                                </a:solidFill>
                                <a:latin typeface="Cambria Math"/>
                                <a:ea typeface="Cambria Math"/>
                                <a:cs typeface="Times New Roman" panose="02020603050405020304" pitchFamily="18" charset="0"/>
                              </a:rPr>
                              <m:t>𝑡</m:t>
                            </m:r>
                          </m:e>
                        </m:func>
                      </m:e>
                    </m:d>
                  </m:oMath>
                </a14:m>
                <a:endParaRPr lang="en-US" b="0" dirty="0">
                  <a:solidFill>
                    <a:srgbClr val="FF0000"/>
                  </a:solidFill>
                  <a:latin typeface="Times New Roman" pitchFamily="18" charset="0"/>
                  <a:cs typeface="Times New Roman" panose="02020603050405020304" pitchFamily="18" charset="0"/>
                </a:endParaRP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or </a:t>
                </a:r>
                <a14:m>
                  <m:oMath xmlns:m="http://schemas.openxmlformats.org/officeDocument/2006/math">
                    <m:r>
                      <a:rPr lang="en-US" i="1">
                        <a:solidFill>
                          <a:srgbClr val="FF0000"/>
                        </a:solidFill>
                        <a:latin typeface="Cambria Math"/>
                        <a:cs typeface="Times New Roman" panose="02020603050405020304" pitchFamily="18" charset="0"/>
                      </a:rPr>
                      <m:t>𝑚</m:t>
                    </m:r>
                    <m:acc>
                      <m:accPr>
                        <m:chr m:val="̈"/>
                        <m:ctrlPr>
                          <a:rPr lang="en-IN" i="1">
                            <a:solidFill>
                              <a:srgbClr val="FF0000"/>
                            </a:solidFill>
                            <a:latin typeface="Cambria Math" panose="02040503050406030204" pitchFamily="18" charset="0"/>
                            <a:cs typeface="Times New Roman" panose="02020603050405020304" pitchFamily="18" charset="0"/>
                          </a:rPr>
                        </m:ctrlPr>
                      </m:accPr>
                      <m:e>
                        <m:r>
                          <a:rPr lang="en-US" i="1">
                            <a:solidFill>
                              <a:srgbClr val="FF0000"/>
                            </a:solidFill>
                            <a:latin typeface="Cambria Math"/>
                            <a:cs typeface="Times New Roman" panose="02020603050405020304" pitchFamily="18" charset="0"/>
                          </a:rPr>
                          <m:t>𝑥</m:t>
                        </m:r>
                      </m:e>
                    </m:acc>
                    <m:r>
                      <a:rPr lang="en-US" i="1">
                        <a:solidFill>
                          <a:srgbClr val="FF0000"/>
                        </a:solidFill>
                        <a:latin typeface="Cambria Math"/>
                        <a:cs typeface="Times New Roman" panose="02020603050405020304" pitchFamily="18" charset="0"/>
                      </a:rPr>
                      <m:t>+</m:t>
                    </m:r>
                    <m:r>
                      <a:rPr lang="en-US" i="1">
                        <a:solidFill>
                          <a:srgbClr val="FF0000"/>
                        </a:solidFill>
                        <a:latin typeface="Cambria Math"/>
                        <a:cs typeface="Times New Roman" panose="02020603050405020304" pitchFamily="18" charset="0"/>
                      </a:rPr>
                      <m:t>𝐶</m:t>
                    </m:r>
                    <m:acc>
                      <m:accPr>
                        <m:chr m:val="̇"/>
                        <m:ctrlPr>
                          <a:rPr lang="en-US" i="1">
                            <a:solidFill>
                              <a:srgbClr val="FF0000"/>
                            </a:solidFill>
                            <a:latin typeface="Cambria Math" panose="02040503050406030204" pitchFamily="18" charset="0"/>
                            <a:cs typeface="Times New Roman" panose="02020603050405020304" pitchFamily="18" charset="0"/>
                          </a:rPr>
                        </m:ctrlPr>
                      </m:accPr>
                      <m:e>
                        <m:r>
                          <a:rPr lang="en-US" i="1">
                            <a:solidFill>
                              <a:srgbClr val="FF0000"/>
                            </a:solidFill>
                            <a:latin typeface="Cambria Math"/>
                            <a:cs typeface="Times New Roman" panose="02020603050405020304" pitchFamily="18" charset="0"/>
                          </a:rPr>
                          <m:t>𝑥</m:t>
                        </m:r>
                      </m:e>
                    </m:acc>
                    <m:r>
                      <a:rPr lang="en-US" i="1">
                        <a:solidFill>
                          <a:srgbClr val="FF0000"/>
                        </a:solidFill>
                        <a:latin typeface="Cambria Math"/>
                        <a:cs typeface="Times New Roman" panose="02020603050405020304" pitchFamily="18" charset="0"/>
                      </a:rPr>
                      <m:t>+</m:t>
                    </m:r>
                    <m:r>
                      <a:rPr lang="en-US" i="1">
                        <a:solidFill>
                          <a:srgbClr val="FF0000"/>
                        </a:solidFill>
                        <a:latin typeface="Cambria Math"/>
                        <a:cs typeface="Times New Roman" panose="02020603050405020304" pitchFamily="18" charset="0"/>
                      </a:rPr>
                      <m:t>𝐾𝑥</m:t>
                    </m:r>
                    <m:r>
                      <a:rPr lang="en-US" i="1">
                        <a:solidFill>
                          <a:srgbClr val="FF0000"/>
                        </a:solidFill>
                        <a:latin typeface="Cambria Math"/>
                        <a:cs typeface="Times New Roman" panose="02020603050405020304" pitchFamily="18" charset="0"/>
                      </a:rPr>
                      <m:t>=</m:t>
                    </m:r>
                    <m:r>
                      <a:rPr lang="en-US" i="1">
                        <a:solidFill>
                          <a:srgbClr val="FF0000"/>
                        </a:solidFill>
                        <a:latin typeface="Cambria Math"/>
                        <a:cs typeface="Times New Roman" panose="02020603050405020304" pitchFamily="18" charset="0"/>
                      </a:rPr>
                      <m:t>𝑌</m:t>
                    </m:r>
                    <m:rad>
                      <m:radPr>
                        <m:degHide m:val="on"/>
                        <m:ctrlPr>
                          <a:rPr lang="en-US" i="1" smtClean="0">
                            <a:solidFill>
                              <a:srgbClr val="FF0000"/>
                            </a:solidFill>
                            <a:latin typeface="Cambria Math" panose="02040503050406030204" pitchFamily="18" charset="0"/>
                            <a:cs typeface="Times New Roman" panose="02020603050405020304" pitchFamily="18" charset="0"/>
                          </a:rPr>
                        </m:ctrlPr>
                      </m:radPr>
                      <m:deg/>
                      <m:e>
                        <m:sSup>
                          <m:sSupPr>
                            <m:ctrlPr>
                              <a:rPr lang="en-US" i="1" smtClean="0">
                                <a:solidFill>
                                  <a:srgbClr val="FF0000"/>
                                </a:solidFill>
                                <a:latin typeface="Cambria Math" panose="02040503050406030204" pitchFamily="18" charset="0"/>
                                <a:cs typeface="Times New Roman" panose="02020603050405020304" pitchFamily="18" charset="0"/>
                              </a:rPr>
                            </m:ctrlPr>
                          </m:sSupPr>
                          <m:e>
                            <m:r>
                              <a:rPr lang="en-US" b="0" i="1" smtClean="0">
                                <a:solidFill>
                                  <a:srgbClr val="FF0000"/>
                                </a:solidFill>
                                <a:latin typeface="Cambria Math"/>
                                <a:cs typeface="Times New Roman" panose="02020603050405020304" pitchFamily="18" charset="0"/>
                              </a:rPr>
                              <m:t>𝐾</m:t>
                            </m:r>
                          </m:e>
                          <m:sup>
                            <m:r>
                              <a:rPr lang="en-US" b="0" i="1" smtClean="0">
                                <a:solidFill>
                                  <a:srgbClr val="FF0000"/>
                                </a:solidFill>
                                <a:latin typeface="Cambria Math"/>
                                <a:cs typeface="Times New Roman" panose="02020603050405020304" pitchFamily="18" charset="0"/>
                              </a:rPr>
                              <m:t>2</m:t>
                            </m:r>
                          </m:sup>
                        </m:sSup>
                        <m:r>
                          <a:rPr lang="en-US" b="0" i="1" smtClean="0">
                            <a:solidFill>
                              <a:srgbClr val="FF0000"/>
                            </a:solidFill>
                            <a:latin typeface="Cambria Math"/>
                            <a:cs typeface="Times New Roman" panose="02020603050405020304" pitchFamily="18" charset="0"/>
                          </a:rPr>
                          <m:t>+</m:t>
                        </m:r>
                        <m:sSup>
                          <m:sSupPr>
                            <m:ctrlPr>
                              <a:rPr lang="en-US" b="0" i="1" smtClean="0">
                                <a:solidFill>
                                  <a:srgbClr val="FF0000"/>
                                </a:solidFill>
                                <a:latin typeface="Cambria Math" panose="02040503050406030204" pitchFamily="18" charset="0"/>
                                <a:cs typeface="Times New Roman" panose="02020603050405020304" pitchFamily="18" charset="0"/>
                              </a:rPr>
                            </m:ctrlPr>
                          </m:sSupPr>
                          <m:e>
                            <m:d>
                              <m:dPr>
                                <m:ctrlPr>
                                  <a:rPr lang="en-US" b="0" i="1" smtClean="0">
                                    <a:solidFill>
                                      <a:srgbClr val="FF0000"/>
                                    </a:solidFill>
                                    <a:latin typeface="Cambria Math" panose="02040503050406030204" pitchFamily="18" charset="0"/>
                                    <a:cs typeface="Times New Roman" panose="02020603050405020304" pitchFamily="18" charset="0"/>
                                  </a:rPr>
                                </m:ctrlPr>
                              </m:dPr>
                              <m:e>
                                <m:r>
                                  <a:rPr lang="en-US" i="1">
                                    <a:solidFill>
                                      <a:srgbClr val="FF0000"/>
                                    </a:solidFill>
                                    <a:latin typeface="Cambria Math"/>
                                    <a:cs typeface="Times New Roman" panose="02020603050405020304" pitchFamily="18" charset="0"/>
                                  </a:rPr>
                                  <m:t>𝐶</m:t>
                                </m:r>
                                <m:r>
                                  <a:rPr lang="en-US" i="1">
                                    <a:solidFill>
                                      <a:srgbClr val="FF0000"/>
                                    </a:solidFill>
                                    <a:latin typeface="Cambria Math"/>
                                    <a:ea typeface="Cambria Math"/>
                                    <a:cs typeface="Times New Roman" panose="02020603050405020304" pitchFamily="18" charset="0"/>
                                  </a:rPr>
                                  <m:t>𝜔</m:t>
                                </m:r>
                              </m:e>
                            </m:d>
                          </m:e>
                          <m:sup>
                            <m:r>
                              <a:rPr lang="en-US" b="0" i="1" smtClean="0">
                                <a:solidFill>
                                  <a:srgbClr val="FF0000"/>
                                </a:solidFill>
                                <a:latin typeface="Cambria Math"/>
                                <a:cs typeface="Times New Roman" panose="02020603050405020304" pitchFamily="18" charset="0"/>
                              </a:rPr>
                              <m:t>2</m:t>
                            </m:r>
                          </m:sup>
                        </m:sSup>
                      </m:e>
                    </m:rad>
                  </m:oMath>
                </a14:m>
                <a:r>
                  <a:rPr lang="en-IN" dirty="0">
                    <a:latin typeface="Times New Roman" pitchFamily="18" charset="0"/>
                    <a:cs typeface="Times New Roman" pitchFamily="18" charset="0"/>
                  </a:rPr>
                  <a:t> </a:t>
                </a:r>
                <a14:m>
                  <m:oMath xmlns:m="http://schemas.openxmlformats.org/officeDocument/2006/math">
                    <m:func>
                      <m:funcPr>
                        <m:ctrlPr>
                          <a:rPr lang="en-US" i="1">
                            <a:solidFill>
                              <a:srgbClr val="FF0000"/>
                            </a:solidFill>
                            <a:latin typeface="Cambria Math" panose="02040503050406030204" pitchFamily="18" charset="0"/>
                            <a:cs typeface="Times New Roman" panose="02020603050405020304" pitchFamily="18" charset="0"/>
                          </a:rPr>
                        </m:ctrlPr>
                      </m:funcPr>
                      <m:fName>
                        <m:r>
                          <m:rPr>
                            <m:sty m:val="p"/>
                          </m:rPr>
                          <a:rPr lang="en-US">
                            <a:solidFill>
                              <a:srgbClr val="FF0000"/>
                            </a:solidFill>
                            <a:latin typeface="Cambria Math"/>
                            <a:cs typeface="Times New Roman" panose="02020603050405020304" pitchFamily="18" charset="0"/>
                          </a:rPr>
                          <m:t>sin</m:t>
                        </m:r>
                      </m:fName>
                      <m:e>
                        <m:d>
                          <m:dPr>
                            <m:ctrlPr>
                              <a:rPr lang="en-US" i="1" smtClean="0">
                                <a:solidFill>
                                  <a:srgbClr val="FF0000"/>
                                </a:solidFill>
                                <a:latin typeface="Cambria Math" panose="02040503050406030204" pitchFamily="18" charset="0"/>
                                <a:cs typeface="Times New Roman" panose="02020603050405020304" pitchFamily="18" charset="0"/>
                              </a:rPr>
                            </m:ctrlPr>
                          </m:dPr>
                          <m:e>
                            <m:r>
                              <a:rPr lang="en-US" i="1">
                                <a:solidFill>
                                  <a:srgbClr val="FF0000"/>
                                </a:solidFill>
                                <a:latin typeface="Cambria Math"/>
                                <a:ea typeface="Cambria Math"/>
                                <a:cs typeface="Times New Roman" panose="02020603050405020304" pitchFamily="18" charset="0"/>
                              </a:rPr>
                              <m:t>𝜔</m:t>
                            </m:r>
                            <m:r>
                              <a:rPr lang="en-US" i="1">
                                <a:solidFill>
                                  <a:srgbClr val="FF0000"/>
                                </a:solidFill>
                                <a:latin typeface="Cambria Math"/>
                                <a:ea typeface="Cambria Math"/>
                                <a:cs typeface="Times New Roman" panose="02020603050405020304" pitchFamily="18" charset="0"/>
                              </a:rPr>
                              <m:t>𝑡</m:t>
                            </m:r>
                            <m:r>
                              <a:rPr lang="en-US" b="0" i="1" smtClean="0">
                                <a:solidFill>
                                  <a:srgbClr val="FF0000"/>
                                </a:solidFill>
                                <a:latin typeface="Cambria Math"/>
                                <a:ea typeface="Cambria Math"/>
                                <a:cs typeface="Times New Roman" panose="02020603050405020304" pitchFamily="18" charset="0"/>
                              </a:rPr>
                              <m:t>+</m:t>
                            </m:r>
                            <m:r>
                              <a:rPr lang="en-US" b="0" i="1" smtClean="0">
                                <a:solidFill>
                                  <a:srgbClr val="FF0000"/>
                                </a:solidFill>
                                <a:latin typeface="Cambria Math"/>
                                <a:ea typeface="Cambria Math"/>
                                <a:cs typeface="Times New Roman" panose="02020603050405020304" pitchFamily="18" charset="0"/>
                              </a:rPr>
                              <m:t>𝛼</m:t>
                            </m:r>
                          </m:e>
                        </m:d>
                      </m:e>
                    </m:func>
                  </m:oMath>
                </a14:m>
                <a:r>
                  <a:rPr lang="en-IN" dirty="0">
                    <a:latin typeface="Times New Roman" pitchFamily="18" charset="0"/>
                    <a:cs typeface="Times New Roman" pitchFamily="18" charset="0"/>
                  </a:rPr>
                  <a:t> where, </a:t>
                </a:r>
                <a14:m>
                  <m:oMath xmlns:m="http://schemas.openxmlformats.org/officeDocument/2006/math">
                    <m:r>
                      <a:rPr lang="en-US" i="1">
                        <a:solidFill>
                          <a:srgbClr val="FF0000"/>
                        </a:solidFill>
                        <a:latin typeface="Cambria Math"/>
                        <a:ea typeface="Cambria Math"/>
                        <a:cs typeface="Times New Roman" panose="02020603050405020304" pitchFamily="18" charset="0"/>
                      </a:rPr>
                      <m:t>𝛼</m:t>
                    </m:r>
                    <m:r>
                      <a:rPr lang="en-US" b="0" i="1" smtClean="0">
                        <a:solidFill>
                          <a:srgbClr val="FF0000"/>
                        </a:solidFill>
                        <a:latin typeface="Cambria Math"/>
                        <a:ea typeface="Cambria Math"/>
                        <a:cs typeface="Times New Roman" panose="02020603050405020304" pitchFamily="18" charset="0"/>
                      </a:rPr>
                      <m:t>=</m:t>
                    </m:r>
                    <m:func>
                      <m:funcPr>
                        <m:ctrlPr>
                          <a:rPr lang="en-US" b="0" i="1" smtClean="0">
                            <a:solidFill>
                              <a:srgbClr val="FF0000"/>
                            </a:solidFill>
                            <a:latin typeface="Cambria Math" panose="02040503050406030204" pitchFamily="18" charset="0"/>
                            <a:ea typeface="Cambria Math"/>
                            <a:cs typeface="Times New Roman" panose="02020603050405020304" pitchFamily="18" charset="0"/>
                          </a:rPr>
                        </m:ctrlPr>
                      </m:funcPr>
                      <m:fName>
                        <m:sSup>
                          <m:sSupPr>
                            <m:ctrlPr>
                              <a:rPr lang="en-US" b="0" i="1" smtClean="0">
                                <a:solidFill>
                                  <a:srgbClr val="FF0000"/>
                                </a:solidFill>
                                <a:latin typeface="Cambria Math" panose="02040503050406030204" pitchFamily="18" charset="0"/>
                                <a:ea typeface="Cambria Math"/>
                                <a:cs typeface="Times New Roman" panose="02020603050405020304" pitchFamily="18" charset="0"/>
                              </a:rPr>
                            </m:ctrlPr>
                          </m:sSupPr>
                          <m:e>
                            <m:r>
                              <m:rPr>
                                <m:sty m:val="p"/>
                              </m:rPr>
                              <a:rPr lang="en-US" b="0" i="0" smtClean="0">
                                <a:solidFill>
                                  <a:srgbClr val="FF0000"/>
                                </a:solidFill>
                                <a:latin typeface="Cambria Math"/>
                                <a:ea typeface="Cambria Math"/>
                                <a:cs typeface="Times New Roman" panose="02020603050405020304" pitchFamily="18" charset="0"/>
                              </a:rPr>
                              <m:t>tan</m:t>
                            </m:r>
                          </m:e>
                          <m:sup>
                            <m:r>
                              <a:rPr lang="en-US" b="0" i="1" smtClean="0">
                                <a:solidFill>
                                  <a:srgbClr val="FF0000"/>
                                </a:solidFill>
                                <a:latin typeface="Cambria Math"/>
                                <a:ea typeface="Cambria Math"/>
                                <a:cs typeface="Times New Roman" panose="02020603050405020304" pitchFamily="18" charset="0"/>
                              </a:rPr>
                              <m:t>−1</m:t>
                            </m:r>
                          </m:sup>
                        </m:sSup>
                      </m:fName>
                      <m:e>
                        <m:f>
                          <m:fPr>
                            <m:ctrlPr>
                              <a:rPr lang="en-US" b="0" i="1" smtClean="0">
                                <a:solidFill>
                                  <a:srgbClr val="FF0000"/>
                                </a:solidFill>
                                <a:latin typeface="Cambria Math" panose="02040503050406030204" pitchFamily="18" charset="0"/>
                                <a:ea typeface="Cambria Math"/>
                                <a:cs typeface="Times New Roman" panose="02020603050405020304" pitchFamily="18" charset="0"/>
                              </a:rPr>
                            </m:ctrlPr>
                          </m:fPr>
                          <m:num>
                            <m:r>
                              <a:rPr lang="en-US" i="1">
                                <a:solidFill>
                                  <a:srgbClr val="FF0000"/>
                                </a:solidFill>
                                <a:latin typeface="Cambria Math"/>
                                <a:cs typeface="Times New Roman" panose="02020603050405020304" pitchFamily="18" charset="0"/>
                              </a:rPr>
                              <m:t>𝐶</m:t>
                            </m:r>
                            <m:r>
                              <a:rPr lang="en-US" i="1">
                                <a:solidFill>
                                  <a:srgbClr val="FF0000"/>
                                </a:solidFill>
                                <a:latin typeface="Cambria Math"/>
                                <a:ea typeface="Cambria Math"/>
                                <a:cs typeface="Times New Roman" panose="02020603050405020304" pitchFamily="18" charset="0"/>
                              </a:rPr>
                              <m:t>𝜔</m:t>
                            </m:r>
                          </m:num>
                          <m:den>
                            <m:r>
                              <a:rPr lang="en-US" b="0" i="1" smtClean="0">
                                <a:solidFill>
                                  <a:srgbClr val="FF0000"/>
                                </a:solidFill>
                                <a:latin typeface="Cambria Math"/>
                                <a:ea typeface="Cambria Math"/>
                                <a:cs typeface="Times New Roman" panose="02020603050405020304" pitchFamily="18" charset="0"/>
                              </a:rPr>
                              <m:t>𝐾</m:t>
                            </m:r>
                          </m:den>
                        </m:f>
                      </m:e>
                    </m:func>
                    <m:r>
                      <a:rPr lang="en-US" b="0" i="1" smtClean="0">
                        <a:solidFill>
                          <a:srgbClr val="FF0000"/>
                        </a:solidFill>
                        <a:latin typeface="Cambria Math"/>
                        <a:ea typeface="Cambria Math"/>
                        <a:cs typeface="Times New Roman" panose="02020603050405020304" pitchFamily="18" charset="0"/>
                      </a:rPr>
                      <m:t>=</m:t>
                    </m:r>
                    <m:func>
                      <m:funcPr>
                        <m:ctrlPr>
                          <a:rPr lang="en-US" b="0" i="1" smtClean="0">
                            <a:solidFill>
                              <a:srgbClr val="FF0000"/>
                            </a:solidFill>
                            <a:latin typeface="Cambria Math" panose="02040503050406030204" pitchFamily="18" charset="0"/>
                            <a:ea typeface="Cambria Math"/>
                            <a:cs typeface="Times New Roman" panose="02020603050405020304" pitchFamily="18" charset="0"/>
                          </a:rPr>
                        </m:ctrlPr>
                      </m:funcPr>
                      <m:fName>
                        <m:sSup>
                          <m:sSupPr>
                            <m:ctrlPr>
                              <a:rPr lang="en-US" b="0" i="1" smtClean="0">
                                <a:solidFill>
                                  <a:srgbClr val="FF0000"/>
                                </a:solidFill>
                                <a:latin typeface="Cambria Math" panose="02040503050406030204" pitchFamily="18" charset="0"/>
                                <a:ea typeface="Cambria Math"/>
                                <a:cs typeface="Times New Roman" panose="02020603050405020304" pitchFamily="18" charset="0"/>
                              </a:rPr>
                            </m:ctrlPr>
                          </m:sSupPr>
                          <m:e>
                            <m:r>
                              <m:rPr>
                                <m:sty m:val="p"/>
                              </m:rPr>
                              <a:rPr lang="en-US" b="0" i="0" smtClean="0">
                                <a:solidFill>
                                  <a:srgbClr val="FF0000"/>
                                </a:solidFill>
                                <a:latin typeface="Cambria Math"/>
                                <a:ea typeface="Cambria Math"/>
                                <a:cs typeface="Times New Roman" panose="02020603050405020304" pitchFamily="18" charset="0"/>
                              </a:rPr>
                              <m:t>tan</m:t>
                            </m:r>
                          </m:e>
                          <m:sup>
                            <m:r>
                              <a:rPr lang="en-US" b="0" i="1" smtClean="0">
                                <a:solidFill>
                                  <a:srgbClr val="FF0000"/>
                                </a:solidFill>
                                <a:latin typeface="Cambria Math"/>
                                <a:ea typeface="Cambria Math"/>
                                <a:cs typeface="Times New Roman" panose="02020603050405020304" pitchFamily="18" charset="0"/>
                              </a:rPr>
                              <m:t>−1</m:t>
                            </m:r>
                          </m:sup>
                        </m:sSup>
                      </m:fName>
                      <m:e>
                        <m:d>
                          <m:dPr>
                            <m:ctrlPr>
                              <a:rPr lang="en-US" b="0" i="1" smtClean="0">
                                <a:solidFill>
                                  <a:srgbClr val="FF0000"/>
                                </a:solidFill>
                                <a:latin typeface="Cambria Math" panose="02040503050406030204" pitchFamily="18" charset="0"/>
                                <a:ea typeface="Cambria Math"/>
                                <a:cs typeface="Times New Roman" panose="02020603050405020304" pitchFamily="18" charset="0"/>
                              </a:rPr>
                            </m:ctrlPr>
                          </m:dPr>
                          <m:e>
                            <m:r>
                              <a:rPr lang="en-US" b="0" i="1" smtClean="0">
                                <a:solidFill>
                                  <a:srgbClr val="FF0000"/>
                                </a:solidFill>
                                <a:latin typeface="Cambria Math"/>
                                <a:ea typeface="Cambria Math"/>
                                <a:cs typeface="Times New Roman" panose="02020603050405020304" pitchFamily="18" charset="0"/>
                              </a:rPr>
                              <m:t>2</m:t>
                            </m:r>
                            <m:r>
                              <a:rPr lang="en-US" b="0" i="1" smtClean="0">
                                <a:solidFill>
                                  <a:srgbClr val="FF0000"/>
                                </a:solidFill>
                                <a:latin typeface="Cambria Math"/>
                                <a:ea typeface="Cambria Math"/>
                                <a:cs typeface="Times New Roman" panose="02020603050405020304" pitchFamily="18" charset="0"/>
                              </a:rPr>
                              <m:t>𝜁</m:t>
                            </m:r>
                            <m:f>
                              <m:fPr>
                                <m:ctrlPr>
                                  <a:rPr lang="en-US" b="0" i="1" smtClean="0">
                                    <a:solidFill>
                                      <a:srgbClr val="FF0000"/>
                                    </a:solidFill>
                                    <a:latin typeface="Cambria Math" panose="02040503050406030204" pitchFamily="18" charset="0"/>
                                    <a:ea typeface="Cambria Math"/>
                                    <a:cs typeface="Times New Roman" panose="02020603050405020304" pitchFamily="18" charset="0"/>
                                  </a:rPr>
                                </m:ctrlPr>
                              </m:fPr>
                              <m:num>
                                <m:r>
                                  <a:rPr lang="en-US" b="0" i="1" smtClean="0">
                                    <a:solidFill>
                                      <a:srgbClr val="FF0000"/>
                                    </a:solidFill>
                                    <a:latin typeface="Cambria Math"/>
                                    <a:ea typeface="Cambria Math"/>
                                    <a:cs typeface="Times New Roman" panose="02020603050405020304" pitchFamily="18" charset="0"/>
                                  </a:rPr>
                                  <m:t>𝜔</m:t>
                                </m:r>
                              </m:num>
                              <m:den>
                                <m:sSub>
                                  <m:sSubPr>
                                    <m:ctrlPr>
                                      <a:rPr lang="en-US" b="0" i="1" smtClean="0">
                                        <a:solidFill>
                                          <a:srgbClr val="FF0000"/>
                                        </a:solidFill>
                                        <a:latin typeface="Cambria Math" panose="02040503050406030204" pitchFamily="18" charset="0"/>
                                        <a:ea typeface="Cambria Math"/>
                                        <a:cs typeface="Times New Roman" panose="02020603050405020304" pitchFamily="18" charset="0"/>
                                      </a:rPr>
                                    </m:ctrlPr>
                                  </m:sSubPr>
                                  <m:e>
                                    <m:r>
                                      <a:rPr lang="en-US" b="0" i="1" smtClean="0">
                                        <a:solidFill>
                                          <a:srgbClr val="FF0000"/>
                                        </a:solidFill>
                                        <a:latin typeface="Cambria Math"/>
                                        <a:ea typeface="Cambria Math"/>
                                        <a:cs typeface="Times New Roman" panose="02020603050405020304" pitchFamily="18" charset="0"/>
                                      </a:rPr>
                                      <m:t>𝜔</m:t>
                                    </m:r>
                                  </m:e>
                                  <m:sub>
                                    <m:r>
                                      <a:rPr lang="en-US" b="0" i="1" smtClean="0">
                                        <a:solidFill>
                                          <a:srgbClr val="FF0000"/>
                                        </a:solidFill>
                                        <a:latin typeface="Cambria Math"/>
                                        <a:ea typeface="Cambria Math"/>
                                        <a:cs typeface="Times New Roman" panose="02020603050405020304" pitchFamily="18" charset="0"/>
                                      </a:rPr>
                                      <m:t>𝑛</m:t>
                                    </m:r>
                                  </m:sub>
                                </m:sSub>
                              </m:den>
                            </m:f>
                          </m:e>
                        </m:d>
                      </m:e>
                    </m:func>
                  </m:oMath>
                </a14:m>
                <a:endParaRPr lang="en-IN" dirty="0">
                  <a:latin typeface="Times New Roman" pitchFamily="18" charset="0"/>
                  <a:cs typeface="Times New Roman"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3002587" y="1073390"/>
                <a:ext cx="8990711" cy="3027239"/>
              </a:xfrm>
              <a:prstGeom prst="rect">
                <a:avLst/>
              </a:prstGeom>
              <a:blipFill rotWithShape="1">
                <a:blip r:embed="rId6"/>
                <a:stretch>
                  <a:fillRect l="-611" t="-1006" r="-10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Rectangle 54"/>
              <p:cNvSpPr/>
              <p:nvPr/>
            </p:nvSpPr>
            <p:spPr>
              <a:xfrm>
                <a:off x="223328" y="4304972"/>
                <a:ext cx="11687592" cy="2153346"/>
              </a:xfrm>
              <a:prstGeom prst="rect">
                <a:avLst/>
              </a:prstGeom>
            </p:spPr>
            <p:txBody>
              <a:bodyPr wrap="square">
                <a:spAutoFit/>
              </a:bodyPr>
              <a:lstStyle/>
              <a:p>
                <a:r>
                  <a:rPr lang="en-US" dirty="0">
                    <a:solidFill>
                      <a:schemeClr val="tx1"/>
                    </a:solidFill>
                    <a:latin typeface="Times New Roman" pitchFamily="18" charset="0"/>
                    <a:cs typeface="Times New Roman" pitchFamily="18" charset="0"/>
                  </a:rPr>
                  <a:t>The steady state solution is given by </a:t>
                </a:r>
                <a14:m>
                  <m:oMath xmlns:m="http://schemas.openxmlformats.org/officeDocument/2006/math">
                    <m:r>
                      <a:rPr lang="en-US" i="1">
                        <a:solidFill>
                          <a:srgbClr val="FF0000"/>
                        </a:solidFill>
                        <a:latin typeface="Cambria Math"/>
                        <a:cs typeface="Times New Roman" panose="02020603050405020304" pitchFamily="18" charset="0"/>
                      </a:rPr>
                      <m:t>𝑥</m:t>
                    </m:r>
                    <m:r>
                      <a:rPr lang="en-US" b="0" i="1" smtClean="0">
                        <a:solidFill>
                          <a:srgbClr val="FF0000"/>
                        </a:solidFill>
                        <a:latin typeface="Cambria Math"/>
                        <a:cs typeface="Times New Roman" panose="02020603050405020304" pitchFamily="18" charset="0"/>
                      </a:rPr>
                      <m:t>=</m:t>
                    </m:r>
                    <m:r>
                      <a:rPr lang="en-US" b="0" i="1" smtClean="0">
                        <a:solidFill>
                          <a:srgbClr val="FF0000"/>
                        </a:solidFill>
                        <a:latin typeface="Cambria Math"/>
                        <a:cs typeface="Times New Roman" panose="02020603050405020304" pitchFamily="18" charset="0"/>
                      </a:rPr>
                      <m:t>𝑋</m:t>
                    </m:r>
                    <m:func>
                      <m:funcPr>
                        <m:ctrlPr>
                          <a:rPr lang="en-US" b="0" i="1" smtClean="0">
                            <a:solidFill>
                              <a:srgbClr val="FF0000"/>
                            </a:solidFill>
                            <a:latin typeface="Cambria Math" panose="02040503050406030204" pitchFamily="18" charset="0"/>
                            <a:cs typeface="Times New Roman" panose="02020603050405020304" pitchFamily="18" charset="0"/>
                          </a:rPr>
                        </m:ctrlPr>
                      </m:funcPr>
                      <m:fName>
                        <m:r>
                          <m:rPr>
                            <m:sty m:val="p"/>
                          </m:rPr>
                          <a:rPr lang="en-US" b="0" i="0" smtClean="0">
                            <a:solidFill>
                              <a:srgbClr val="FF0000"/>
                            </a:solidFill>
                            <a:latin typeface="Cambria Math"/>
                            <a:cs typeface="Times New Roman" panose="02020603050405020304" pitchFamily="18" charset="0"/>
                          </a:rPr>
                          <m:t>sin</m:t>
                        </m:r>
                      </m:fName>
                      <m:e>
                        <m:d>
                          <m:dPr>
                            <m:ctrlPr>
                              <a:rPr lang="en-US" b="0" i="1" smtClean="0">
                                <a:solidFill>
                                  <a:srgbClr val="FF0000"/>
                                </a:solidFill>
                                <a:latin typeface="Cambria Math" panose="02040503050406030204" pitchFamily="18" charset="0"/>
                                <a:cs typeface="Times New Roman" panose="02020603050405020304" pitchFamily="18" charset="0"/>
                              </a:rPr>
                            </m:ctrlPr>
                          </m:dPr>
                          <m:e>
                            <m:r>
                              <a:rPr lang="en-US" i="1">
                                <a:solidFill>
                                  <a:srgbClr val="FF0000"/>
                                </a:solidFill>
                                <a:latin typeface="Cambria Math"/>
                                <a:ea typeface="Cambria Math"/>
                                <a:cs typeface="Times New Roman" panose="02020603050405020304" pitchFamily="18" charset="0"/>
                              </a:rPr>
                              <m:t>𝜔</m:t>
                            </m:r>
                            <m:r>
                              <a:rPr lang="en-US" i="1">
                                <a:solidFill>
                                  <a:srgbClr val="FF0000"/>
                                </a:solidFill>
                                <a:latin typeface="Cambria Math"/>
                                <a:ea typeface="Cambria Math"/>
                                <a:cs typeface="Times New Roman" panose="02020603050405020304" pitchFamily="18" charset="0"/>
                              </a:rPr>
                              <m:t>𝑡</m:t>
                            </m:r>
                            <m:r>
                              <a:rPr lang="en-US" b="0" i="1" smtClean="0">
                                <a:solidFill>
                                  <a:srgbClr val="FF0000"/>
                                </a:solidFill>
                                <a:latin typeface="Cambria Math"/>
                                <a:ea typeface="Cambria Math"/>
                                <a:cs typeface="Times New Roman" panose="02020603050405020304" pitchFamily="18" charset="0"/>
                              </a:rPr>
                              <m:t>+</m:t>
                            </m:r>
                            <m:r>
                              <a:rPr lang="en-US" b="0" i="1" smtClean="0">
                                <a:solidFill>
                                  <a:srgbClr val="FF0000"/>
                                </a:solidFill>
                                <a:latin typeface="Cambria Math"/>
                                <a:ea typeface="Cambria Math"/>
                                <a:cs typeface="Times New Roman" panose="02020603050405020304" pitchFamily="18" charset="0"/>
                              </a:rPr>
                              <m:t>𝛼</m:t>
                            </m:r>
                            <m:r>
                              <a:rPr lang="en-US" b="0" i="1" smtClean="0">
                                <a:solidFill>
                                  <a:srgbClr val="FF0000"/>
                                </a:solidFill>
                                <a:latin typeface="Cambria Math"/>
                                <a:ea typeface="Cambria Math"/>
                                <a:cs typeface="Times New Roman" panose="02020603050405020304" pitchFamily="18" charset="0"/>
                              </a:rPr>
                              <m:t>−</m:t>
                            </m:r>
                            <m:r>
                              <a:rPr lang="en-US" b="0" i="1" smtClean="0">
                                <a:solidFill>
                                  <a:srgbClr val="FF0000"/>
                                </a:solidFill>
                                <a:latin typeface="Cambria Math"/>
                                <a:ea typeface="Cambria Math"/>
                                <a:cs typeface="Times New Roman" panose="02020603050405020304" pitchFamily="18" charset="0"/>
                              </a:rPr>
                              <m:t>𝜙</m:t>
                            </m:r>
                          </m:e>
                        </m:d>
                      </m:e>
                    </m:func>
                  </m:oMath>
                </a14:m>
                <a:r>
                  <a:rPr lang="en-US" dirty="0">
                    <a:solidFill>
                      <a:schemeClr val="tx1"/>
                    </a:solidFill>
                    <a:latin typeface="Times New Roman" pitchFamily="18" charset="0"/>
                    <a:cs typeface="Times New Roman" pitchFamily="18" charset="0"/>
                  </a:rPr>
                  <a:t> </a:t>
                </a:r>
              </a:p>
              <a:p>
                <a:r>
                  <a:rPr lang="en-US" dirty="0">
                    <a:solidFill>
                      <a:schemeClr val="tx1"/>
                    </a:solidFill>
                    <a:latin typeface="Times New Roman" pitchFamily="18" charset="0"/>
                    <a:cs typeface="Times New Roman" pitchFamily="18" charset="0"/>
                  </a:rPr>
                  <a:t>where </a:t>
                </a:r>
                <a14:m>
                  <m:oMath xmlns:m="http://schemas.openxmlformats.org/officeDocument/2006/math">
                    <m:r>
                      <a:rPr lang="en-US" i="1">
                        <a:solidFill>
                          <a:srgbClr val="FF0000"/>
                        </a:solidFill>
                        <a:latin typeface="Cambria Math"/>
                        <a:cs typeface="Times New Roman" panose="02020603050405020304" pitchFamily="18" charset="0"/>
                      </a:rPr>
                      <m:t>𝑋</m:t>
                    </m:r>
                    <m:r>
                      <a:rPr lang="en-US" i="1">
                        <a:solidFill>
                          <a:srgbClr val="FF0000"/>
                        </a:solidFill>
                        <a:latin typeface="Cambria Math"/>
                        <a:cs typeface="Times New Roman" panose="02020603050405020304" pitchFamily="18" charset="0"/>
                      </a:rPr>
                      <m:t> </m:t>
                    </m:r>
                  </m:oMath>
                </a14:m>
                <a:r>
                  <a:rPr lang="en-US" dirty="0">
                    <a:solidFill>
                      <a:schemeClr val="tx1"/>
                    </a:solidFill>
                    <a:latin typeface="Times New Roman" pitchFamily="18" charset="0"/>
                    <a:cs typeface="Times New Roman" pitchFamily="18" charset="0"/>
                  </a:rPr>
                  <a:t>is the steady state amplitude given by </a:t>
                </a:r>
                <a14:m>
                  <m:oMath xmlns:m="http://schemas.openxmlformats.org/officeDocument/2006/math">
                    <m:r>
                      <a:rPr lang="en-US" i="1">
                        <a:solidFill>
                          <a:srgbClr val="FF0000"/>
                        </a:solidFill>
                        <a:latin typeface="Cambria Math" panose="02040503050406030204" pitchFamily="18" charset="0"/>
                        <a:cs typeface="Times New Roman" pitchFamily="18" charset="0"/>
                      </a:rPr>
                      <m:t>𝑋</m:t>
                    </m:r>
                    <m:r>
                      <a:rPr lang="en-US" i="1">
                        <a:solidFill>
                          <a:srgbClr val="FF0000"/>
                        </a:solidFill>
                        <a:latin typeface="Cambria Math"/>
                        <a:cs typeface="Times New Roman" pitchFamily="18" charset="0"/>
                      </a:rPr>
                      <m:t>=</m:t>
                    </m:r>
                    <m:f>
                      <m:fPr>
                        <m:ctrlPr>
                          <a:rPr lang="en-US" i="1" smtClean="0">
                            <a:solidFill>
                              <a:srgbClr val="FF0000"/>
                            </a:solidFill>
                            <a:latin typeface="Cambria Math" panose="02040503050406030204" pitchFamily="18" charset="0"/>
                            <a:cs typeface="Times New Roman" pitchFamily="18" charset="0"/>
                          </a:rPr>
                        </m:ctrlPr>
                      </m:fPr>
                      <m:num>
                        <m:r>
                          <a:rPr lang="en-US" i="1">
                            <a:solidFill>
                              <a:srgbClr val="FF0000"/>
                            </a:solidFill>
                            <a:latin typeface="Cambria Math"/>
                            <a:cs typeface="Times New Roman" panose="02020603050405020304" pitchFamily="18" charset="0"/>
                          </a:rPr>
                          <m:t>𝑌</m:t>
                        </m:r>
                        <m:rad>
                          <m:radPr>
                            <m:degHide m:val="on"/>
                            <m:ctrlPr>
                              <a:rPr lang="en-US" i="1">
                                <a:solidFill>
                                  <a:srgbClr val="FF0000"/>
                                </a:solidFill>
                                <a:latin typeface="Cambria Math" panose="02040503050406030204" pitchFamily="18" charset="0"/>
                                <a:cs typeface="Times New Roman" panose="02020603050405020304" pitchFamily="18" charset="0"/>
                              </a:rPr>
                            </m:ctrlPr>
                          </m:radPr>
                          <m:deg/>
                          <m:e>
                            <m:sSup>
                              <m:sSupPr>
                                <m:ctrlPr>
                                  <a:rPr lang="en-US" i="1">
                                    <a:solidFill>
                                      <a:srgbClr val="FF0000"/>
                                    </a:solidFill>
                                    <a:latin typeface="Cambria Math" panose="02040503050406030204" pitchFamily="18" charset="0"/>
                                    <a:cs typeface="Times New Roman" panose="02020603050405020304" pitchFamily="18" charset="0"/>
                                  </a:rPr>
                                </m:ctrlPr>
                              </m:sSupPr>
                              <m:e>
                                <m:r>
                                  <a:rPr lang="en-US" i="1">
                                    <a:solidFill>
                                      <a:srgbClr val="FF0000"/>
                                    </a:solidFill>
                                    <a:latin typeface="Cambria Math"/>
                                    <a:cs typeface="Times New Roman" panose="02020603050405020304" pitchFamily="18" charset="0"/>
                                  </a:rPr>
                                  <m:t>𝐾</m:t>
                                </m:r>
                              </m:e>
                              <m:sup>
                                <m:r>
                                  <a:rPr lang="en-US" i="1">
                                    <a:solidFill>
                                      <a:srgbClr val="FF0000"/>
                                    </a:solidFill>
                                    <a:latin typeface="Cambria Math"/>
                                    <a:cs typeface="Times New Roman" panose="02020603050405020304" pitchFamily="18" charset="0"/>
                                  </a:rPr>
                                  <m:t>2</m:t>
                                </m:r>
                              </m:sup>
                            </m:sSup>
                            <m:r>
                              <a:rPr lang="en-US" i="1">
                                <a:solidFill>
                                  <a:srgbClr val="FF0000"/>
                                </a:solidFill>
                                <a:latin typeface="Cambria Math"/>
                                <a:cs typeface="Times New Roman" panose="02020603050405020304" pitchFamily="18" charset="0"/>
                              </a:rPr>
                              <m:t>+</m:t>
                            </m:r>
                            <m:sSup>
                              <m:sSupPr>
                                <m:ctrlPr>
                                  <a:rPr lang="en-US" i="1">
                                    <a:solidFill>
                                      <a:srgbClr val="FF0000"/>
                                    </a:solidFill>
                                    <a:latin typeface="Cambria Math" panose="02040503050406030204" pitchFamily="18" charset="0"/>
                                    <a:cs typeface="Times New Roman" panose="02020603050405020304" pitchFamily="18" charset="0"/>
                                  </a:rPr>
                                </m:ctrlPr>
                              </m:sSupPr>
                              <m:e>
                                <m:d>
                                  <m:dPr>
                                    <m:ctrlPr>
                                      <a:rPr lang="en-US" i="1">
                                        <a:solidFill>
                                          <a:srgbClr val="FF0000"/>
                                        </a:solidFill>
                                        <a:latin typeface="Cambria Math" panose="02040503050406030204" pitchFamily="18" charset="0"/>
                                        <a:cs typeface="Times New Roman" panose="02020603050405020304" pitchFamily="18" charset="0"/>
                                      </a:rPr>
                                    </m:ctrlPr>
                                  </m:dPr>
                                  <m:e>
                                    <m:r>
                                      <a:rPr lang="en-US" i="1">
                                        <a:solidFill>
                                          <a:srgbClr val="FF0000"/>
                                        </a:solidFill>
                                        <a:latin typeface="Cambria Math"/>
                                        <a:cs typeface="Times New Roman" panose="02020603050405020304" pitchFamily="18" charset="0"/>
                                      </a:rPr>
                                      <m:t>𝐶</m:t>
                                    </m:r>
                                    <m:r>
                                      <a:rPr lang="en-US" i="1">
                                        <a:solidFill>
                                          <a:srgbClr val="FF0000"/>
                                        </a:solidFill>
                                        <a:latin typeface="Cambria Math"/>
                                        <a:ea typeface="Cambria Math"/>
                                        <a:cs typeface="Times New Roman" panose="02020603050405020304" pitchFamily="18" charset="0"/>
                                      </a:rPr>
                                      <m:t>𝜔</m:t>
                                    </m:r>
                                  </m:e>
                                </m:d>
                              </m:e>
                              <m:sup>
                                <m:r>
                                  <a:rPr lang="en-US" i="1">
                                    <a:solidFill>
                                      <a:srgbClr val="FF0000"/>
                                    </a:solidFill>
                                    <a:latin typeface="Cambria Math"/>
                                    <a:cs typeface="Times New Roman" panose="02020603050405020304" pitchFamily="18" charset="0"/>
                                  </a:rPr>
                                  <m:t>2</m:t>
                                </m:r>
                              </m:sup>
                            </m:sSup>
                          </m:e>
                        </m:rad>
                      </m:num>
                      <m:den>
                        <m:rad>
                          <m:radPr>
                            <m:degHide m:val="on"/>
                            <m:ctrlPr>
                              <a:rPr lang="en-US" i="1">
                                <a:solidFill>
                                  <a:srgbClr val="FF0000"/>
                                </a:solidFill>
                                <a:latin typeface="Cambria Math" panose="02040503050406030204" pitchFamily="18" charset="0"/>
                                <a:cs typeface="Times New Roman" pitchFamily="18" charset="0"/>
                              </a:rPr>
                            </m:ctrlPr>
                          </m:radPr>
                          <m:deg/>
                          <m:e>
                            <m:sSup>
                              <m:sSupPr>
                                <m:ctrlPr>
                                  <a:rPr lang="en-US" i="1">
                                    <a:solidFill>
                                      <a:srgbClr val="FF0000"/>
                                    </a:solidFill>
                                    <a:latin typeface="Cambria Math" panose="02040503050406030204" pitchFamily="18" charset="0"/>
                                    <a:cs typeface="Times New Roman" pitchFamily="18" charset="0"/>
                                  </a:rPr>
                                </m:ctrlPr>
                              </m:sSupPr>
                              <m:e>
                                <m:d>
                                  <m:dPr>
                                    <m:ctrlPr>
                                      <a:rPr lang="en-US" i="1">
                                        <a:solidFill>
                                          <a:srgbClr val="FF0000"/>
                                        </a:solidFill>
                                        <a:latin typeface="Cambria Math" panose="02040503050406030204" pitchFamily="18" charset="0"/>
                                        <a:cs typeface="Times New Roman" pitchFamily="18" charset="0"/>
                                      </a:rPr>
                                    </m:ctrlPr>
                                  </m:dPr>
                                  <m:e>
                                    <m:r>
                                      <a:rPr lang="en-US" i="1">
                                        <a:latin typeface="Cambria Math"/>
                                        <a:cs typeface="Times New Roman" panose="02020603050405020304" pitchFamily="18" charset="0"/>
                                      </a:rPr>
                                      <m:t>𝐾</m:t>
                                    </m:r>
                                    <m:r>
                                      <a:rPr lang="en-US" i="1">
                                        <a:latin typeface="Cambria Math"/>
                                        <a:cs typeface="Times New Roman" panose="02020603050405020304" pitchFamily="18" charset="0"/>
                                      </a:rPr>
                                      <m:t>−</m:t>
                                    </m:r>
                                    <m:r>
                                      <a:rPr lang="en-US" i="1">
                                        <a:latin typeface="Cambria Math"/>
                                        <a:cs typeface="Times New Roman" panose="02020603050405020304" pitchFamily="18" charset="0"/>
                                      </a:rPr>
                                      <m:t>𝑚</m:t>
                                    </m:r>
                                    <m:sSup>
                                      <m:sSupPr>
                                        <m:ctrlPr>
                                          <a:rPr lang="en-US" i="1">
                                            <a:solidFill>
                                              <a:srgbClr val="FF0000"/>
                                            </a:solidFill>
                                            <a:latin typeface="Cambria Math" panose="02040503050406030204" pitchFamily="18" charset="0"/>
                                            <a:cs typeface="Times New Roman" pitchFamily="18" charset="0"/>
                                          </a:rPr>
                                        </m:ctrlPr>
                                      </m:sSupPr>
                                      <m:e>
                                        <m:r>
                                          <a:rPr lang="en-US" i="1">
                                            <a:solidFill>
                                              <a:srgbClr val="FF0000"/>
                                            </a:solidFill>
                                            <a:latin typeface="Cambria Math"/>
                                            <a:ea typeface="Cambria Math"/>
                                            <a:cs typeface="Times New Roman" pitchFamily="18" charset="0"/>
                                          </a:rPr>
                                          <m:t>𝜔</m:t>
                                        </m:r>
                                      </m:e>
                                      <m:sup>
                                        <m:r>
                                          <a:rPr lang="en-US" i="1">
                                            <a:solidFill>
                                              <a:srgbClr val="FF0000"/>
                                            </a:solidFill>
                                            <a:latin typeface="Cambria Math"/>
                                            <a:cs typeface="Times New Roman" pitchFamily="18" charset="0"/>
                                          </a:rPr>
                                          <m:t>2</m:t>
                                        </m:r>
                                      </m:sup>
                                    </m:sSup>
                                  </m:e>
                                </m:d>
                              </m:e>
                              <m:sup>
                                <m:r>
                                  <a:rPr lang="en-US" i="1">
                                    <a:solidFill>
                                      <a:srgbClr val="FF0000"/>
                                    </a:solidFill>
                                    <a:latin typeface="Cambria Math"/>
                                    <a:cs typeface="Times New Roman" pitchFamily="18" charset="0"/>
                                  </a:rPr>
                                  <m:t>2</m:t>
                                </m:r>
                              </m:sup>
                            </m:sSup>
                            <m:r>
                              <a:rPr lang="en-US" i="1">
                                <a:solidFill>
                                  <a:srgbClr val="FF0000"/>
                                </a:solidFill>
                                <a:latin typeface="Cambria Math"/>
                                <a:cs typeface="Times New Roman" pitchFamily="18" charset="0"/>
                              </a:rPr>
                              <m:t>+</m:t>
                            </m:r>
                            <m:sSup>
                              <m:sSupPr>
                                <m:ctrlPr>
                                  <a:rPr lang="en-US" i="1">
                                    <a:solidFill>
                                      <a:srgbClr val="FF0000"/>
                                    </a:solidFill>
                                    <a:latin typeface="Cambria Math" panose="02040503050406030204" pitchFamily="18" charset="0"/>
                                    <a:cs typeface="Times New Roman" pitchFamily="18" charset="0"/>
                                  </a:rPr>
                                </m:ctrlPr>
                              </m:sSupPr>
                              <m:e>
                                <m:d>
                                  <m:dPr>
                                    <m:ctrlPr>
                                      <a:rPr lang="en-US" i="1">
                                        <a:solidFill>
                                          <a:srgbClr val="FF0000"/>
                                        </a:solidFill>
                                        <a:latin typeface="Cambria Math" panose="02040503050406030204" pitchFamily="18" charset="0"/>
                                        <a:cs typeface="Times New Roman" pitchFamily="18" charset="0"/>
                                      </a:rPr>
                                    </m:ctrlPr>
                                  </m:dPr>
                                  <m:e>
                                    <m:r>
                                      <a:rPr lang="en-US" i="1">
                                        <a:latin typeface="Cambria Math"/>
                                        <a:cs typeface="Times New Roman" panose="02020603050405020304" pitchFamily="18" charset="0"/>
                                      </a:rPr>
                                      <m:t>𝐶</m:t>
                                    </m:r>
                                    <m:r>
                                      <a:rPr lang="en-US" i="1">
                                        <a:solidFill>
                                          <a:srgbClr val="FF0000"/>
                                        </a:solidFill>
                                        <a:latin typeface="Cambria Math"/>
                                        <a:ea typeface="Cambria Math"/>
                                        <a:cs typeface="Times New Roman" pitchFamily="18" charset="0"/>
                                      </a:rPr>
                                      <m:t>𝜔</m:t>
                                    </m:r>
                                  </m:e>
                                </m:d>
                              </m:e>
                              <m:sup>
                                <m:r>
                                  <a:rPr lang="en-US" i="1">
                                    <a:solidFill>
                                      <a:srgbClr val="FF0000"/>
                                    </a:solidFill>
                                    <a:latin typeface="Cambria Math"/>
                                    <a:cs typeface="Times New Roman" pitchFamily="18" charset="0"/>
                                  </a:rPr>
                                  <m:t>2</m:t>
                                </m:r>
                              </m:sup>
                            </m:sSup>
                          </m:e>
                        </m:rad>
                      </m:den>
                    </m:f>
                  </m:oMath>
                </a14:m>
                <a:r>
                  <a:rPr lang="en-US" dirty="0">
                    <a:solidFill>
                      <a:schemeClr val="tx1"/>
                    </a:solidFill>
                    <a:latin typeface="Times New Roman" pitchFamily="18" charset="0"/>
                    <a:cs typeface="Times New Roman" pitchFamily="18" charset="0"/>
                  </a:rPr>
                  <a:t> and </a:t>
                </a:r>
                <a14:m>
                  <m:oMath xmlns:m="http://schemas.openxmlformats.org/officeDocument/2006/math">
                    <m:f>
                      <m:fPr>
                        <m:ctrlPr>
                          <a:rPr lang="en-US" i="1" smtClean="0">
                            <a:solidFill>
                              <a:schemeClr val="tx1"/>
                            </a:solidFill>
                            <a:latin typeface="Cambria Math" panose="02040503050406030204" pitchFamily="18" charset="0"/>
                            <a:cs typeface="Times New Roman" pitchFamily="18" charset="0"/>
                          </a:rPr>
                        </m:ctrlPr>
                      </m:fPr>
                      <m:num>
                        <m:r>
                          <a:rPr lang="en-US" i="1">
                            <a:solidFill>
                              <a:srgbClr val="FF0000"/>
                            </a:solidFill>
                            <a:latin typeface="Cambria Math"/>
                            <a:cs typeface="Times New Roman" pitchFamily="18" charset="0"/>
                          </a:rPr>
                          <m:t>𝑋</m:t>
                        </m:r>
                      </m:num>
                      <m:den>
                        <m:r>
                          <a:rPr lang="en-US" i="1">
                            <a:solidFill>
                              <a:srgbClr val="FF0000"/>
                            </a:solidFill>
                            <a:latin typeface="Cambria Math"/>
                            <a:cs typeface="Times New Roman" pitchFamily="18" charset="0"/>
                          </a:rPr>
                          <m:t>𝑌</m:t>
                        </m:r>
                      </m:den>
                    </m:f>
                    <m:r>
                      <a:rPr lang="en-US" b="0" i="1" smtClean="0">
                        <a:solidFill>
                          <a:schemeClr val="tx1"/>
                        </a:solidFill>
                        <a:latin typeface="Cambria Math"/>
                        <a:cs typeface="Times New Roman" pitchFamily="18" charset="0"/>
                      </a:rPr>
                      <m:t>=</m:t>
                    </m:r>
                    <m:f>
                      <m:fPr>
                        <m:ctrlPr>
                          <a:rPr lang="en-US" b="0" i="1" smtClean="0">
                            <a:solidFill>
                              <a:schemeClr val="tx1"/>
                            </a:solidFill>
                            <a:latin typeface="Cambria Math" panose="02040503050406030204" pitchFamily="18" charset="0"/>
                            <a:cs typeface="Times New Roman" pitchFamily="18" charset="0"/>
                          </a:rPr>
                        </m:ctrlPr>
                      </m:fPr>
                      <m:num>
                        <m:rad>
                          <m:radPr>
                            <m:degHide m:val="on"/>
                            <m:ctrlPr>
                              <a:rPr lang="en-US" i="1">
                                <a:latin typeface="Cambria Math" panose="02040503050406030204" pitchFamily="18" charset="0"/>
                                <a:cs typeface="Times New Roman" pitchFamily="18" charset="0"/>
                              </a:rPr>
                            </m:ctrlPr>
                          </m:radPr>
                          <m:deg/>
                          <m:e>
                            <m:r>
                              <a:rPr lang="en-US" b="0" i="1" smtClean="0">
                                <a:latin typeface="Cambria Math"/>
                                <a:cs typeface="Times New Roman" pitchFamily="18" charset="0"/>
                              </a:rPr>
                              <m:t>1+</m:t>
                            </m:r>
                            <m:sSup>
                              <m:sSupPr>
                                <m:ctrlPr>
                                  <a:rPr lang="en-US" b="0" i="1" smtClean="0">
                                    <a:latin typeface="Cambria Math" panose="02040503050406030204" pitchFamily="18" charset="0"/>
                                    <a:cs typeface="Times New Roman" pitchFamily="18" charset="0"/>
                                  </a:rPr>
                                </m:ctrlPr>
                              </m:sSupPr>
                              <m:e>
                                <m:d>
                                  <m:dPr>
                                    <m:ctrlPr>
                                      <a:rPr lang="en-US" i="1">
                                        <a:solidFill>
                                          <a:srgbClr val="FF0000"/>
                                        </a:solidFill>
                                        <a:latin typeface="Cambria Math" panose="02040503050406030204" pitchFamily="18" charset="0"/>
                                        <a:ea typeface="Cambria Math"/>
                                        <a:cs typeface="Times New Roman" panose="02020603050405020304" pitchFamily="18" charset="0"/>
                                      </a:rPr>
                                    </m:ctrlPr>
                                  </m:dPr>
                                  <m:e>
                                    <m:r>
                                      <a:rPr lang="en-US" i="1">
                                        <a:solidFill>
                                          <a:srgbClr val="FF0000"/>
                                        </a:solidFill>
                                        <a:latin typeface="Cambria Math"/>
                                        <a:ea typeface="Cambria Math"/>
                                        <a:cs typeface="Times New Roman" panose="02020603050405020304" pitchFamily="18" charset="0"/>
                                      </a:rPr>
                                      <m:t>2</m:t>
                                    </m:r>
                                    <m:r>
                                      <a:rPr lang="en-US" i="1">
                                        <a:solidFill>
                                          <a:srgbClr val="FF0000"/>
                                        </a:solidFill>
                                        <a:latin typeface="Cambria Math"/>
                                        <a:ea typeface="Cambria Math"/>
                                        <a:cs typeface="Times New Roman" panose="02020603050405020304" pitchFamily="18" charset="0"/>
                                      </a:rPr>
                                      <m:t>𝜁</m:t>
                                    </m:r>
                                    <m:f>
                                      <m:fPr>
                                        <m:ctrlPr>
                                          <a:rPr lang="en-US" i="1">
                                            <a:solidFill>
                                              <a:srgbClr val="FF0000"/>
                                            </a:solidFill>
                                            <a:latin typeface="Cambria Math" panose="02040503050406030204" pitchFamily="18" charset="0"/>
                                            <a:ea typeface="Cambria Math"/>
                                            <a:cs typeface="Times New Roman" panose="02020603050405020304" pitchFamily="18" charset="0"/>
                                          </a:rPr>
                                        </m:ctrlPr>
                                      </m:fPr>
                                      <m:num>
                                        <m:r>
                                          <a:rPr lang="en-US" i="1">
                                            <a:solidFill>
                                              <a:srgbClr val="FF0000"/>
                                            </a:solidFill>
                                            <a:latin typeface="Cambria Math"/>
                                            <a:ea typeface="Cambria Math"/>
                                            <a:cs typeface="Times New Roman" panose="02020603050405020304" pitchFamily="18" charset="0"/>
                                          </a:rPr>
                                          <m:t>𝜔</m:t>
                                        </m:r>
                                      </m:num>
                                      <m:den>
                                        <m:sSub>
                                          <m:sSubPr>
                                            <m:ctrlPr>
                                              <a:rPr lang="en-US" i="1">
                                                <a:solidFill>
                                                  <a:srgbClr val="FF0000"/>
                                                </a:solidFill>
                                                <a:latin typeface="Cambria Math" panose="02040503050406030204" pitchFamily="18" charset="0"/>
                                                <a:ea typeface="Cambria Math"/>
                                                <a:cs typeface="Times New Roman" panose="02020603050405020304" pitchFamily="18" charset="0"/>
                                              </a:rPr>
                                            </m:ctrlPr>
                                          </m:sSubPr>
                                          <m:e>
                                            <m:r>
                                              <a:rPr lang="en-US" i="1">
                                                <a:solidFill>
                                                  <a:srgbClr val="FF0000"/>
                                                </a:solidFill>
                                                <a:latin typeface="Cambria Math"/>
                                                <a:ea typeface="Cambria Math"/>
                                                <a:cs typeface="Times New Roman" panose="02020603050405020304" pitchFamily="18" charset="0"/>
                                              </a:rPr>
                                              <m:t>𝜔</m:t>
                                            </m:r>
                                          </m:e>
                                          <m:sub>
                                            <m:r>
                                              <a:rPr lang="en-US" i="1">
                                                <a:solidFill>
                                                  <a:srgbClr val="FF0000"/>
                                                </a:solidFill>
                                                <a:latin typeface="Cambria Math"/>
                                                <a:ea typeface="Cambria Math"/>
                                                <a:cs typeface="Times New Roman" panose="02020603050405020304" pitchFamily="18" charset="0"/>
                                              </a:rPr>
                                              <m:t>𝑛</m:t>
                                            </m:r>
                                          </m:sub>
                                        </m:sSub>
                                      </m:den>
                                    </m:f>
                                  </m:e>
                                </m:d>
                              </m:e>
                              <m:sup>
                                <m:r>
                                  <a:rPr lang="en-US" b="0" i="1" smtClean="0">
                                    <a:latin typeface="Cambria Math"/>
                                    <a:cs typeface="Times New Roman" pitchFamily="18" charset="0"/>
                                  </a:rPr>
                                  <m:t>2</m:t>
                                </m:r>
                              </m:sup>
                            </m:sSup>
                          </m:e>
                        </m:rad>
                      </m:num>
                      <m:den>
                        <m:rad>
                          <m:radPr>
                            <m:degHide m:val="on"/>
                            <m:ctrlPr>
                              <a:rPr lang="en-US" b="0" i="1" smtClean="0">
                                <a:solidFill>
                                  <a:schemeClr val="tx1"/>
                                </a:solidFill>
                                <a:latin typeface="Cambria Math" panose="02040503050406030204" pitchFamily="18" charset="0"/>
                                <a:cs typeface="Times New Roman" pitchFamily="18" charset="0"/>
                              </a:rPr>
                            </m:ctrlPr>
                          </m:radPr>
                          <m:deg/>
                          <m:e>
                            <m:sSup>
                              <m:sSupPr>
                                <m:ctrlPr>
                                  <a:rPr lang="en-US" b="0" i="1" smtClean="0">
                                    <a:solidFill>
                                      <a:schemeClr val="tx1"/>
                                    </a:solidFill>
                                    <a:latin typeface="Cambria Math" panose="02040503050406030204" pitchFamily="18" charset="0"/>
                                    <a:cs typeface="Times New Roman" pitchFamily="18" charset="0"/>
                                  </a:rPr>
                                </m:ctrlPr>
                              </m:sSupPr>
                              <m:e>
                                <m:d>
                                  <m:dPr>
                                    <m:begChr m:val="["/>
                                    <m:endChr m:val="]"/>
                                    <m:ctrlPr>
                                      <a:rPr lang="en-US" b="0" i="1" smtClean="0">
                                        <a:solidFill>
                                          <a:schemeClr val="tx1"/>
                                        </a:solidFill>
                                        <a:latin typeface="Cambria Math" panose="02040503050406030204" pitchFamily="18" charset="0"/>
                                        <a:cs typeface="Times New Roman" pitchFamily="18" charset="0"/>
                                      </a:rPr>
                                    </m:ctrlPr>
                                  </m:dPr>
                                  <m:e>
                                    <m:r>
                                      <a:rPr lang="en-US" b="0" i="1" smtClean="0">
                                        <a:solidFill>
                                          <a:schemeClr val="tx1"/>
                                        </a:solidFill>
                                        <a:latin typeface="Cambria Math"/>
                                        <a:cs typeface="Times New Roman" pitchFamily="18" charset="0"/>
                                      </a:rPr>
                                      <m:t>1−</m:t>
                                    </m:r>
                                    <m:sSup>
                                      <m:sSupPr>
                                        <m:ctrlPr>
                                          <a:rPr lang="en-US" i="1" smtClean="0">
                                            <a:solidFill>
                                              <a:srgbClr val="FF0000"/>
                                            </a:solidFill>
                                            <a:latin typeface="Cambria Math" panose="02040503050406030204" pitchFamily="18" charset="0"/>
                                            <a:ea typeface="Cambria Math"/>
                                            <a:cs typeface="Times New Roman" panose="02020603050405020304" pitchFamily="18" charset="0"/>
                                          </a:rPr>
                                        </m:ctrlPr>
                                      </m:sSupPr>
                                      <m:e>
                                        <m:d>
                                          <m:dPr>
                                            <m:ctrlPr>
                                              <a:rPr lang="en-US" i="1">
                                                <a:solidFill>
                                                  <a:srgbClr val="FF0000"/>
                                                </a:solidFill>
                                                <a:latin typeface="Cambria Math" panose="02040503050406030204" pitchFamily="18" charset="0"/>
                                                <a:ea typeface="Cambria Math"/>
                                                <a:cs typeface="Times New Roman" panose="02020603050405020304" pitchFamily="18" charset="0"/>
                                              </a:rPr>
                                            </m:ctrlPr>
                                          </m:dPr>
                                          <m:e>
                                            <m:f>
                                              <m:fPr>
                                                <m:ctrlPr>
                                                  <a:rPr lang="en-US" i="1">
                                                    <a:solidFill>
                                                      <a:srgbClr val="FF0000"/>
                                                    </a:solidFill>
                                                    <a:latin typeface="Cambria Math" panose="02040503050406030204" pitchFamily="18" charset="0"/>
                                                    <a:ea typeface="Cambria Math"/>
                                                    <a:cs typeface="Times New Roman" panose="02020603050405020304" pitchFamily="18" charset="0"/>
                                                  </a:rPr>
                                                </m:ctrlPr>
                                              </m:fPr>
                                              <m:num>
                                                <m:r>
                                                  <a:rPr lang="en-US" i="1">
                                                    <a:solidFill>
                                                      <a:srgbClr val="FF0000"/>
                                                    </a:solidFill>
                                                    <a:latin typeface="Cambria Math"/>
                                                    <a:ea typeface="Cambria Math"/>
                                                    <a:cs typeface="Times New Roman" panose="02020603050405020304" pitchFamily="18" charset="0"/>
                                                  </a:rPr>
                                                  <m:t>𝜔</m:t>
                                                </m:r>
                                              </m:num>
                                              <m:den>
                                                <m:sSub>
                                                  <m:sSubPr>
                                                    <m:ctrlPr>
                                                      <a:rPr lang="en-US" i="1">
                                                        <a:solidFill>
                                                          <a:srgbClr val="FF0000"/>
                                                        </a:solidFill>
                                                        <a:latin typeface="Cambria Math" panose="02040503050406030204" pitchFamily="18" charset="0"/>
                                                        <a:ea typeface="Cambria Math"/>
                                                        <a:cs typeface="Times New Roman" panose="02020603050405020304" pitchFamily="18" charset="0"/>
                                                      </a:rPr>
                                                    </m:ctrlPr>
                                                  </m:sSubPr>
                                                  <m:e>
                                                    <m:r>
                                                      <a:rPr lang="en-US" i="1">
                                                        <a:solidFill>
                                                          <a:srgbClr val="FF0000"/>
                                                        </a:solidFill>
                                                        <a:latin typeface="Cambria Math"/>
                                                        <a:ea typeface="Cambria Math"/>
                                                        <a:cs typeface="Times New Roman" panose="02020603050405020304" pitchFamily="18" charset="0"/>
                                                      </a:rPr>
                                                      <m:t>𝜔</m:t>
                                                    </m:r>
                                                  </m:e>
                                                  <m:sub>
                                                    <m:r>
                                                      <a:rPr lang="en-US" i="1">
                                                        <a:solidFill>
                                                          <a:srgbClr val="FF0000"/>
                                                        </a:solidFill>
                                                        <a:latin typeface="Cambria Math"/>
                                                        <a:ea typeface="Cambria Math"/>
                                                        <a:cs typeface="Times New Roman" panose="02020603050405020304" pitchFamily="18" charset="0"/>
                                                      </a:rPr>
                                                      <m:t>𝑛</m:t>
                                                    </m:r>
                                                  </m:sub>
                                                </m:sSub>
                                              </m:den>
                                            </m:f>
                                          </m:e>
                                        </m:d>
                                      </m:e>
                                      <m:sup>
                                        <m:r>
                                          <a:rPr lang="en-US" b="0" i="1" smtClean="0">
                                            <a:solidFill>
                                              <a:srgbClr val="FF0000"/>
                                            </a:solidFill>
                                            <a:latin typeface="Cambria Math"/>
                                            <a:ea typeface="Cambria Math"/>
                                            <a:cs typeface="Times New Roman" panose="02020603050405020304" pitchFamily="18" charset="0"/>
                                          </a:rPr>
                                          <m:t>2</m:t>
                                        </m:r>
                                      </m:sup>
                                    </m:sSup>
                                  </m:e>
                                </m:d>
                              </m:e>
                              <m:sup>
                                <m:r>
                                  <a:rPr lang="en-US" b="0" i="1" smtClean="0">
                                    <a:solidFill>
                                      <a:schemeClr val="tx1"/>
                                    </a:solidFill>
                                    <a:latin typeface="Cambria Math"/>
                                    <a:cs typeface="Times New Roman" pitchFamily="18" charset="0"/>
                                  </a:rPr>
                                  <m:t>2</m:t>
                                </m:r>
                              </m:sup>
                            </m:sSup>
                            <m:r>
                              <a:rPr lang="en-US" b="0" i="1" smtClean="0">
                                <a:solidFill>
                                  <a:schemeClr val="tx1"/>
                                </a:solidFill>
                                <a:latin typeface="Cambria Math"/>
                                <a:cs typeface="Times New Roman" pitchFamily="18" charset="0"/>
                              </a:rPr>
                              <m:t>+</m:t>
                            </m:r>
                            <m:sSup>
                              <m:sSupPr>
                                <m:ctrlPr>
                                  <a:rPr lang="en-US" b="0" i="1" smtClean="0">
                                    <a:solidFill>
                                      <a:schemeClr val="tx1"/>
                                    </a:solidFill>
                                    <a:latin typeface="Cambria Math" panose="02040503050406030204" pitchFamily="18" charset="0"/>
                                    <a:cs typeface="Times New Roman" pitchFamily="18" charset="0"/>
                                  </a:rPr>
                                </m:ctrlPr>
                              </m:sSupPr>
                              <m:e>
                                <m:d>
                                  <m:dPr>
                                    <m:begChr m:val="["/>
                                    <m:endChr m:val="]"/>
                                    <m:ctrlPr>
                                      <a:rPr lang="en-US" b="0" i="1" smtClean="0">
                                        <a:solidFill>
                                          <a:schemeClr val="tx1"/>
                                        </a:solidFill>
                                        <a:latin typeface="Cambria Math" panose="02040503050406030204" pitchFamily="18" charset="0"/>
                                        <a:cs typeface="Times New Roman" pitchFamily="18" charset="0"/>
                                      </a:rPr>
                                    </m:ctrlPr>
                                  </m:dPr>
                                  <m:e>
                                    <m:d>
                                      <m:dPr>
                                        <m:ctrlPr>
                                          <a:rPr lang="en-US" i="1">
                                            <a:solidFill>
                                              <a:srgbClr val="FF0000"/>
                                            </a:solidFill>
                                            <a:latin typeface="Cambria Math" panose="02040503050406030204" pitchFamily="18" charset="0"/>
                                            <a:ea typeface="Cambria Math"/>
                                            <a:cs typeface="Times New Roman" panose="02020603050405020304" pitchFamily="18" charset="0"/>
                                          </a:rPr>
                                        </m:ctrlPr>
                                      </m:dPr>
                                      <m:e>
                                        <m:r>
                                          <a:rPr lang="en-US" i="1">
                                            <a:solidFill>
                                              <a:srgbClr val="FF0000"/>
                                            </a:solidFill>
                                            <a:latin typeface="Cambria Math"/>
                                            <a:ea typeface="Cambria Math"/>
                                            <a:cs typeface="Times New Roman" panose="02020603050405020304" pitchFamily="18" charset="0"/>
                                          </a:rPr>
                                          <m:t>2</m:t>
                                        </m:r>
                                        <m:r>
                                          <a:rPr lang="en-US" i="1">
                                            <a:solidFill>
                                              <a:srgbClr val="FF0000"/>
                                            </a:solidFill>
                                            <a:latin typeface="Cambria Math"/>
                                            <a:ea typeface="Cambria Math"/>
                                            <a:cs typeface="Times New Roman" panose="02020603050405020304" pitchFamily="18" charset="0"/>
                                          </a:rPr>
                                          <m:t>𝜁</m:t>
                                        </m:r>
                                        <m:f>
                                          <m:fPr>
                                            <m:ctrlPr>
                                              <a:rPr lang="en-US" i="1">
                                                <a:solidFill>
                                                  <a:srgbClr val="FF0000"/>
                                                </a:solidFill>
                                                <a:latin typeface="Cambria Math" panose="02040503050406030204" pitchFamily="18" charset="0"/>
                                                <a:ea typeface="Cambria Math"/>
                                                <a:cs typeface="Times New Roman" panose="02020603050405020304" pitchFamily="18" charset="0"/>
                                              </a:rPr>
                                            </m:ctrlPr>
                                          </m:fPr>
                                          <m:num>
                                            <m:r>
                                              <a:rPr lang="en-US" i="1">
                                                <a:solidFill>
                                                  <a:srgbClr val="FF0000"/>
                                                </a:solidFill>
                                                <a:latin typeface="Cambria Math"/>
                                                <a:ea typeface="Cambria Math"/>
                                                <a:cs typeface="Times New Roman" panose="02020603050405020304" pitchFamily="18" charset="0"/>
                                              </a:rPr>
                                              <m:t>𝜔</m:t>
                                            </m:r>
                                          </m:num>
                                          <m:den>
                                            <m:sSub>
                                              <m:sSubPr>
                                                <m:ctrlPr>
                                                  <a:rPr lang="en-US" i="1">
                                                    <a:solidFill>
                                                      <a:srgbClr val="FF0000"/>
                                                    </a:solidFill>
                                                    <a:latin typeface="Cambria Math" panose="02040503050406030204" pitchFamily="18" charset="0"/>
                                                    <a:ea typeface="Cambria Math"/>
                                                    <a:cs typeface="Times New Roman" panose="02020603050405020304" pitchFamily="18" charset="0"/>
                                                  </a:rPr>
                                                </m:ctrlPr>
                                              </m:sSubPr>
                                              <m:e>
                                                <m:r>
                                                  <a:rPr lang="en-US" i="1">
                                                    <a:solidFill>
                                                      <a:srgbClr val="FF0000"/>
                                                    </a:solidFill>
                                                    <a:latin typeface="Cambria Math"/>
                                                    <a:ea typeface="Cambria Math"/>
                                                    <a:cs typeface="Times New Roman" panose="02020603050405020304" pitchFamily="18" charset="0"/>
                                                  </a:rPr>
                                                  <m:t>𝜔</m:t>
                                                </m:r>
                                              </m:e>
                                              <m:sub>
                                                <m:r>
                                                  <a:rPr lang="en-US" i="1">
                                                    <a:solidFill>
                                                      <a:srgbClr val="FF0000"/>
                                                    </a:solidFill>
                                                    <a:latin typeface="Cambria Math"/>
                                                    <a:ea typeface="Cambria Math"/>
                                                    <a:cs typeface="Times New Roman" panose="02020603050405020304" pitchFamily="18" charset="0"/>
                                                  </a:rPr>
                                                  <m:t>𝑛</m:t>
                                                </m:r>
                                              </m:sub>
                                            </m:sSub>
                                          </m:den>
                                        </m:f>
                                      </m:e>
                                    </m:d>
                                  </m:e>
                                </m:d>
                              </m:e>
                              <m:sup>
                                <m:r>
                                  <a:rPr lang="en-US" b="0" i="1" smtClean="0">
                                    <a:solidFill>
                                      <a:schemeClr val="tx1"/>
                                    </a:solidFill>
                                    <a:latin typeface="Cambria Math"/>
                                    <a:cs typeface="Times New Roman" pitchFamily="18" charset="0"/>
                                  </a:rPr>
                                  <m:t>2</m:t>
                                </m:r>
                              </m:sup>
                            </m:sSup>
                          </m:e>
                        </m:rad>
                      </m:den>
                    </m:f>
                  </m:oMath>
                </a14:m>
                <a:endParaRPr lang="en-US" dirty="0">
                  <a:solidFill>
                    <a:schemeClr val="tx1"/>
                  </a:solidFill>
                  <a:latin typeface="Times New Roman" pitchFamily="18" charset="0"/>
                  <a:cs typeface="Times New Roman" pitchFamily="18" charset="0"/>
                </a:endParaRPr>
              </a:p>
              <a:p>
                <a:r>
                  <a:rPr lang="en-US" dirty="0">
                    <a:latin typeface="Times New Roman" pitchFamily="18" charset="0"/>
                    <a:cs typeface="Times New Roman" pitchFamily="18" charset="0"/>
                  </a:rPr>
                  <a:t>and </a:t>
                </a:r>
                <a14:m>
                  <m:oMath xmlns:m="http://schemas.openxmlformats.org/officeDocument/2006/math">
                    <m:r>
                      <a:rPr lang="en-US" i="1" smtClean="0">
                        <a:latin typeface="Cambria Math"/>
                        <a:ea typeface="Cambria Math"/>
                        <a:cs typeface="Times New Roman" pitchFamily="18" charset="0"/>
                      </a:rPr>
                      <m:t>𝜙</m:t>
                    </m:r>
                    <m:r>
                      <a:rPr lang="en-US" b="0" i="1" smtClean="0">
                        <a:latin typeface="Cambria Math"/>
                        <a:ea typeface="Cambria Math"/>
                        <a:cs typeface="Times New Roman" pitchFamily="18" charset="0"/>
                      </a:rPr>
                      <m:t>=</m:t>
                    </m:r>
                    <m:func>
                      <m:funcPr>
                        <m:ctrlPr>
                          <a:rPr lang="en-US" b="0" i="1" smtClean="0">
                            <a:latin typeface="Cambria Math" panose="02040503050406030204" pitchFamily="18" charset="0"/>
                            <a:ea typeface="Cambria Math"/>
                            <a:cs typeface="Times New Roman" pitchFamily="18" charset="0"/>
                          </a:rPr>
                        </m:ctrlPr>
                      </m:funcPr>
                      <m:fName>
                        <m:sSup>
                          <m:sSupPr>
                            <m:ctrlPr>
                              <a:rPr lang="en-US" b="0" i="1" smtClean="0">
                                <a:latin typeface="Cambria Math" panose="02040503050406030204" pitchFamily="18" charset="0"/>
                                <a:ea typeface="Cambria Math"/>
                                <a:cs typeface="Times New Roman" pitchFamily="18" charset="0"/>
                              </a:rPr>
                            </m:ctrlPr>
                          </m:sSupPr>
                          <m:e>
                            <m:r>
                              <m:rPr>
                                <m:sty m:val="p"/>
                              </m:rPr>
                              <a:rPr lang="en-US" b="0" i="0" smtClean="0">
                                <a:latin typeface="Cambria Math"/>
                                <a:ea typeface="Cambria Math"/>
                                <a:cs typeface="Times New Roman" pitchFamily="18" charset="0"/>
                              </a:rPr>
                              <m:t>tan</m:t>
                            </m:r>
                          </m:e>
                          <m:sup>
                            <m:r>
                              <a:rPr lang="en-US" b="0" i="1" smtClean="0">
                                <a:latin typeface="Cambria Math"/>
                                <a:ea typeface="Cambria Math"/>
                                <a:cs typeface="Times New Roman" pitchFamily="18" charset="0"/>
                              </a:rPr>
                              <m:t>−1</m:t>
                            </m:r>
                          </m:sup>
                        </m:sSup>
                      </m:fName>
                      <m:e>
                        <m:d>
                          <m:dPr>
                            <m:begChr m:val="["/>
                            <m:endChr m:val="]"/>
                            <m:ctrlPr>
                              <a:rPr lang="en-US" b="0" i="1" smtClean="0">
                                <a:latin typeface="Cambria Math" panose="02040503050406030204" pitchFamily="18" charset="0"/>
                                <a:ea typeface="Cambria Math"/>
                                <a:cs typeface="Times New Roman" pitchFamily="18" charset="0"/>
                              </a:rPr>
                            </m:ctrlPr>
                          </m:dPr>
                          <m:e>
                            <m:f>
                              <m:fPr>
                                <m:ctrlPr>
                                  <a:rPr lang="en-US" b="0" i="1" smtClean="0">
                                    <a:latin typeface="Cambria Math" panose="02040503050406030204" pitchFamily="18" charset="0"/>
                                    <a:ea typeface="Cambria Math"/>
                                    <a:cs typeface="Times New Roman" pitchFamily="18" charset="0"/>
                                  </a:rPr>
                                </m:ctrlPr>
                              </m:fPr>
                              <m:num>
                                <m:r>
                                  <a:rPr lang="en-US" i="1">
                                    <a:solidFill>
                                      <a:srgbClr val="FF0000"/>
                                    </a:solidFill>
                                    <a:latin typeface="Cambria Math"/>
                                    <a:ea typeface="Cambria Math"/>
                                    <a:cs typeface="Times New Roman" panose="02020603050405020304" pitchFamily="18" charset="0"/>
                                  </a:rPr>
                                  <m:t>2</m:t>
                                </m:r>
                                <m:r>
                                  <a:rPr lang="en-US" i="1">
                                    <a:solidFill>
                                      <a:srgbClr val="FF0000"/>
                                    </a:solidFill>
                                    <a:latin typeface="Cambria Math"/>
                                    <a:ea typeface="Cambria Math"/>
                                    <a:cs typeface="Times New Roman" panose="02020603050405020304" pitchFamily="18" charset="0"/>
                                  </a:rPr>
                                  <m:t>𝜁</m:t>
                                </m:r>
                                <m:f>
                                  <m:fPr>
                                    <m:ctrlPr>
                                      <a:rPr lang="en-US" i="1">
                                        <a:solidFill>
                                          <a:srgbClr val="FF0000"/>
                                        </a:solidFill>
                                        <a:latin typeface="Cambria Math" panose="02040503050406030204" pitchFamily="18" charset="0"/>
                                        <a:ea typeface="Cambria Math"/>
                                        <a:cs typeface="Times New Roman" panose="02020603050405020304" pitchFamily="18" charset="0"/>
                                      </a:rPr>
                                    </m:ctrlPr>
                                  </m:fPr>
                                  <m:num>
                                    <m:r>
                                      <a:rPr lang="en-US" i="1">
                                        <a:solidFill>
                                          <a:srgbClr val="FF0000"/>
                                        </a:solidFill>
                                        <a:latin typeface="Cambria Math"/>
                                        <a:ea typeface="Cambria Math"/>
                                        <a:cs typeface="Times New Roman" panose="02020603050405020304" pitchFamily="18" charset="0"/>
                                      </a:rPr>
                                      <m:t>𝜔</m:t>
                                    </m:r>
                                  </m:num>
                                  <m:den>
                                    <m:sSub>
                                      <m:sSubPr>
                                        <m:ctrlPr>
                                          <a:rPr lang="en-US" i="1">
                                            <a:solidFill>
                                              <a:srgbClr val="FF0000"/>
                                            </a:solidFill>
                                            <a:latin typeface="Cambria Math" panose="02040503050406030204" pitchFamily="18" charset="0"/>
                                            <a:ea typeface="Cambria Math"/>
                                            <a:cs typeface="Times New Roman" panose="02020603050405020304" pitchFamily="18" charset="0"/>
                                          </a:rPr>
                                        </m:ctrlPr>
                                      </m:sSubPr>
                                      <m:e>
                                        <m:r>
                                          <a:rPr lang="en-US" i="1">
                                            <a:solidFill>
                                              <a:srgbClr val="FF0000"/>
                                            </a:solidFill>
                                            <a:latin typeface="Cambria Math"/>
                                            <a:ea typeface="Cambria Math"/>
                                            <a:cs typeface="Times New Roman" panose="02020603050405020304" pitchFamily="18" charset="0"/>
                                          </a:rPr>
                                          <m:t>𝜔</m:t>
                                        </m:r>
                                      </m:e>
                                      <m:sub>
                                        <m:r>
                                          <a:rPr lang="en-US" i="1">
                                            <a:solidFill>
                                              <a:srgbClr val="FF0000"/>
                                            </a:solidFill>
                                            <a:latin typeface="Cambria Math"/>
                                            <a:ea typeface="Cambria Math"/>
                                            <a:cs typeface="Times New Roman" panose="02020603050405020304" pitchFamily="18" charset="0"/>
                                          </a:rPr>
                                          <m:t>𝑛</m:t>
                                        </m:r>
                                      </m:sub>
                                    </m:sSub>
                                  </m:den>
                                </m:f>
                              </m:num>
                              <m:den>
                                <m:r>
                                  <a:rPr lang="en-US" b="0" i="1" smtClean="0">
                                    <a:latin typeface="Cambria Math"/>
                                    <a:ea typeface="Cambria Math"/>
                                    <a:cs typeface="Times New Roman" pitchFamily="18" charset="0"/>
                                  </a:rPr>
                                  <m:t>1−</m:t>
                                </m:r>
                                <m:sSup>
                                  <m:sSupPr>
                                    <m:ctrlPr>
                                      <a:rPr lang="en-US" i="1">
                                        <a:solidFill>
                                          <a:srgbClr val="FF0000"/>
                                        </a:solidFill>
                                        <a:latin typeface="Cambria Math" panose="02040503050406030204" pitchFamily="18" charset="0"/>
                                        <a:ea typeface="Cambria Math"/>
                                        <a:cs typeface="Times New Roman" panose="02020603050405020304" pitchFamily="18" charset="0"/>
                                      </a:rPr>
                                    </m:ctrlPr>
                                  </m:sSupPr>
                                  <m:e>
                                    <m:d>
                                      <m:dPr>
                                        <m:ctrlPr>
                                          <a:rPr lang="en-US" i="1">
                                            <a:solidFill>
                                              <a:srgbClr val="FF0000"/>
                                            </a:solidFill>
                                            <a:latin typeface="Cambria Math" panose="02040503050406030204" pitchFamily="18" charset="0"/>
                                            <a:ea typeface="Cambria Math"/>
                                            <a:cs typeface="Times New Roman" panose="02020603050405020304" pitchFamily="18" charset="0"/>
                                          </a:rPr>
                                        </m:ctrlPr>
                                      </m:dPr>
                                      <m:e>
                                        <m:f>
                                          <m:fPr>
                                            <m:ctrlPr>
                                              <a:rPr lang="en-US" i="1">
                                                <a:solidFill>
                                                  <a:srgbClr val="FF0000"/>
                                                </a:solidFill>
                                                <a:latin typeface="Cambria Math" panose="02040503050406030204" pitchFamily="18" charset="0"/>
                                                <a:ea typeface="Cambria Math"/>
                                                <a:cs typeface="Times New Roman" panose="02020603050405020304" pitchFamily="18" charset="0"/>
                                              </a:rPr>
                                            </m:ctrlPr>
                                          </m:fPr>
                                          <m:num>
                                            <m:r>
                                              <a:rPr lang="en-US" i="1">
                                                <a:solidFill>
                                                  <a:srgbClr val="FF0000"/>
                                                </a:solidFill>
                                                <a:latin typeface="Cambria Math"/>
                                                <a:ea typeface="Cambria Math"/>
                                                <a:cs typeface="Times New Roman" panose="02020603050405020304" pitchFamily="18" charset="0"/>
                                              </a:rPr>
                                              <m:t>𝜔</m:t>
                                            </m:r>
                                          </m:num>
                                          <m:den>
                                            <m:sSub>
                                              <m:sSubPr>
                                                <m:ctrlPr>
                                                  <a:rPr lang="en-US" i="1">
                                                    <a:solidFill>
                                                      <a:srgbClr val="FF0000"/>
                                                    </a:solidFill>
                                                    <a:latin typeface="Cambria Math" panose="02040503050406030204" pitchFamily="18" charset="0"/>
                                                    <a:ea typeface="Cambria Math"/>
                                                    <a:cs typeface="Times New Roman" panose="02020603050405020304" pitchFamily="18" charset="0"/>
                                                  </a:rPr>
                                                </m:ctrlPr>
                                              </m:sSubPr>
                                              <m:e>
                                                <m:r>
                                                  <a:rPr lang="en-US" i="1">
                                                    <a:solidFill>
                                                      <a:srgbClr val="FF0000"/>
                                                    </a:solidFill>
                                                    <a:latin typeface="Cambria Math"/>
                                                    <a:ea typeface="Cambria Math"/>
                                                    <a:cs typeface="Times New Roman" panose="02020603050405020304" pitchFamily="18" charset="0"/>
                                                  </a:rPr>
                                                  <m:t>𝜔</m:t>
                                                </m:r>
                                              </m:e>
                                              <m:sub>
                                                <m:r>
                                                  <a:rPr lang="en-US" i="1">
                                                    <a:solidFill>
                                                      <a:srgbClr val="FF0000"/>
                                                    </a:solidFill>
                                                    <a:latin typeface="Cambria Math"/>
                                                    <a:ea typeface="Cambria Math"/>
                                                    <a:cs typeface="Times New Roman" panose="02020603050405020304" pitchFamily="18" charset="0"/>
                                                  </a:rPr>
                                                  <m:t>𝑛</m:t>
                                                </m:r>
                                              </m:sub>
                                            </m:sSub>
                                          </m:den>
                                        </m:f>
                                      </m:e>
                                    </m:d>
                                  </m:e>
                                  <m:sup>
                                    <m:r>
                                      <a:rPr lang="en-US" i="1">
                                        <a:solidFill>
                                          <a:srgbClr val="FF0000"/>
                                        </a:solidFill>
                                        <a:latin typeface="Cambria Math"/>
                                        <a:ea typeface="Cambria Math"/>
                                        <a:cs typeface="Times New Roman" panose="02020603050405020304" pitchFamily="18" charset="0"/>
                                      </a:rPr>
                                      <m:t>2</m:t>
                                    </m:r>
                                  </m:sup>
                                </m:sSup>
                              </m:den>
                            </m:f>
                          </m:e>
                        </m:d>
                      </m:e>
                    </m:func>
                  </m:oMath>
                </a14:m>
                <a:r>
                  <a:rPr lang="en-US" dirty="0">
                    <a:solidFill>
                      <a:schemeClr val="tx1"/>
                    </a:solidFill>
                    <a:latin typeface="Times New Roman" pitchFamily="18" charset="0"/>
                    <a:cs typeface="Times New Roman" pitchFamily="18" charset="0"/>
                  </a:rPr>
                  <a:t>   angle of lag </a:t>
                </a:r>
                <a14:m>
                  <m:oMath xmlns:m="http://schemas.openxmlformats.org/officeDocument/2006/math">
                    <m:r>
                      <a:rPr lang="en-US" i="1">
                        <a:latin typeface="Cambria Math"/>
                        <a:ea typeface="Cambria Math"/>
                        <a:cs typeface="Times New Roman" pitchFamily="18" charset="0"/>
                      </a:rPr>
                      <m:t>𝜙</m:t>
                    </m:r>
                    <m:r>
                      <a:rPr lang="en-US" b="0" i="1" smtClean="0">
                        <a:latin typeface="Cambria Math"/>
                        <a:ea typeface="Cambria Math"/>
                        <a:cs typeface="Times New Roman" pitchFamily="18" charset="0"/>
                      </a:rPr>
                      <m:t>−</m:t>
                    </m:r>
                    <m:r>
                      <a:rPr lang="en-US" b="0" i="1" smtClean="0">
                        <a:latin typeface="Cambria Math"/>
                        <a:ea typeface="Cambria Math"/>
                        <a:cs typeface="Times New Roman" pitchFamily="18" charset="0"/>
                      </a:rPr>
                      <m:t>𝛼</m:t>
                    </m:r>
                    <m:r>
                      <a:rPr lang="en-US" b="0" i="1" smtClean="0">
                        <a:latin typeface="Cambria Math"/>
                        <a:ea typeface="Cambria Math"/>
                        <a:cs typeface="Times New Roman" pitchFamily="18" charset="0"/>
                      </a:rPr>
                      <m:t>=</m:t>
                    </m:r>
                    <m:func>
                      <m:funcPr>
                        <m:ctrlPr>
                          <a:rPr lang="en-US" i="1">
                            <a:latin typeface="Cambria Math" panose="02040503050406030204" pitchFamily="18" charset="0"/>
                            <a:ea typeface="Cambria Math"/>
                            <a:cs typeface="Times New Roman" pitchFamily="18" charset="0"/>
                          </a:rPr>
                        </m:ctrlPr>
                      </m:funcPr>
                      <m:fName>
                        <m:sSup>
                          <m:sSupPr>
                            <m:ctrlPr>
                              <a:rPr lang="en-US" i="1">
                                <a:latin typeface="Cambria Math" panose="02040503050406030204" pitchFamily="18" charset="0"/>
                                <a:ea typeface="Cambria Math"/>
                                <a:cs typeface="Times New Roman" pitchFamily="18" charset="0"/>
                              </a:rPr>
                            </m:ctrlPr>
                          </m:sSupPr>
                          <m:e>
                            <m:r>
                              <m:rPr>
                                <m:sty m:val="p"/>
                              </m:rPr>
                              <a:rPr lang="en-US">
                                <a:latin typeface="Cambria Math"/>
                                <a:ea typeface="Cambria Math"/>
                                <a:cs typeface="Times New Roman" pitchFamily="18" charset="0"/>
                              </a:rPr>
                              <m:t>tan</m:t>
                            </m:r>
                          </m:e>
                          <m:sup>
                            <m:r>
                              <a:rPr lang="en-US" i="1">
                                <a:latin typeface="Cambria Math"/>
                                <a:ea typeface="Cambria Math"/>
                                <a:cs typeface="Times New Roman" pitchFamily="18" charset="0"/>
                              </a:rPr>
                              <m:t>−1</m:t>
                            </m:r>
                          </m:sup>
                        </m:sSup>
                      </m:fName>
                      <m:e>
                        <m:d>
                          <m:dPr>
                            <m:begChr m:val="["/>
                            <m:endChr m:val="]"/>
                            <m:ctrlPr>
                              <a:rPr lang="en-US" i="1">
                                <a:latin typeface="Cambria Math" panose="02040503050406030204" pitchFamily="18" charset="0"/>
                                <a:ea typeface="Cambria Math"/>
                                <a:cs typeface="Times New Roman" pitchFamily="18" charset="0"/>
                              </a:rPr>
                            </m:ctrlPr>
                          </m:dPr>
                          <m:e>
                            <m:f>
                              <m:fPr>
                                <m:ctrlPr>
                                  <a:rPr lang="en-US" i="1">
                                    <a:latin typeface="Cambria Math" panose="02040503050406030204" pitchFamily="18" charset="0"/>
                                    <a:ea typeface="Cambria Math"/>
                                    <a:cs typeface="Times New Roman" pitchFamily="18" charset="0"/>
                                  </a:rPr>
                                </m:ctrlPr>
                              </m:fPr>
                              <m:num>
                                <m:r>
                                  <a:rPr lang="en-US" i="1">
                                    <a:solidFill>
                                      <a:srgbClr val="FF0000"/>
                                    </a:solidFill>
                                    <a:latin typeface="Cambria Math"/>
                                    <a:ea typeface="Cambria Math"/>
                                    <a:cs typeface="Times New Roman" panose="02020603050405020304" pitchFamily="18" charset="0"/>
                                  </a:rPr>
                                  <m:t>2</m:t>
                                </m:r>
                                <m:r>
                                  <a:rPr lang="en-US" i="1">
                                    <a:solidFill>
                                      <a:srgbClr val="FF0000"/>
                                    </a:solidFill>
                                    <a:latin typeface="Cambria Math"/>
                                    <a:ea typeface="Cambria Math"/>
                                    <a:cs typeface="Times New Roman" panose="02020603050405020304" pitchFamily="18" charset="0"/>
                                  </a:rPr>
                                  <m:t>𝜁</m:t>
                                </m:r>
                                <m:f>
                                  <m:fPr>
                                    <m:ctrlPr>
                                      <a:rPr lang="en-US" i="1">
                                        <a:solidFill>
                                          <a:srgbClr val="FF0000"/>
                                        </a:solidFill>
                                        <a:latin typeface="Cambria Math" panose="02040503050406030204" pitchFamily="18" charset="0"/>
                                        <a:ea typeface="Cambria Math"/>
                                        <a:cs typeface="Times New Roman" panose="02020603050405020304" pitchFamily="18" charset="0"/>
                                      </a:rPr>
                                    </m:ctrlPr>
                                  </m:fPr>
                                  <m:num>
                                    <m:r>
                                      <a:rPr lang="en-US" i="1">
                                        <a:solidFill>
                                          <a:srgbClr val="FF0000"/>
                                        </a:solidFill>
                                        <a:latin typeface="Cambria Math"/>
                                        <a:ea typeface="Cambria Math"/>
                                        <a:cs typeface="Times New Roman" panose="02020603050405020304" pitchFamily="18" charset="0"/>
                                      </a:rPr>
                                      <m:t>𝜔</m:t>
                                    </m:r>
                                  </m:num>
                                  <m:den>
                                    <m:sSub>
                                      <m:sSubPr>
                                        <m:ctrlPr>
                                          <a:rPr lang="en-US" i="1">
                                            <a:solidFill>
                                              <a:srgbClr val="FF0000"/>
                                            </a:solidFill>
                                            <a:latin typeface="Cambria Math" panose="02040503050406030204" pitchFamily="18" charset="0"/>
                                            <a:ea typeface="Cambria Math"/>
                                            <a:cs typeface="Times New Roman" panose="02020603050405020304" pitchFamily="18" charset="0"/>
                                          </a:rPr>
                                        </m:ctrlPr>
                                      </m:sSubPr>
                                      <m:e>
                                        <m:r>
                                          <a:rPr lang="en-US" i="1">
                                            <a:solidFill>
                                              <a:srgbClr val="FF0000"/>
                                            </a:solidFill>
                                            <a:latin typeface="Cambria Math"/>
                                            <a:ea typeface="Cambria Math"/>
                                            <a:cs typeface="Times New Roman" panose="02020603050405020304" pitchFamily="18" charset="0"/>
                                          </a:rPr>
                                          <m:t>𝜔</m:t>
                                        </m:r>
                                      </m:e>
                                      <m:sub>
                                        <m:r>
                                          <a:rPr lang="en-US" i="1">
                                            <a:solidFill>
                                              <a:srgbClr val="FF0000"/>
                                            </a:solidFill>
                                            <a:latin typeface="Cambria Math"/>
                                            <a:ea typeface="Cambria Math"/>
                                            <a:cs typeface="Times New Roman" panose="02020603050405020304" pitchFamily="18" charset="0"/>
                                          </a:rPr>
                                          <m:t>𝑛</m:t>
                                        </m:r>
                                      </m:sub>
                                    </m:sSub>
                                  </m:den>
                                </m:f>
                              </m:num>
                              <m:den>
                                <m:r>
                                  <a:rPr lang="en-US" i="1">
                                    <a:latin typeface="Cambria Math"/>
                                    <a:ea typeface="Cambria Math"/>
                                    <a:cs typeface="Times New Roman" pitchFamily="18" charset="0"/>
                                  </a:rPr>
                                  <m:t>1−</m:t>
                                </m:r>
                                <m:sSup>
                                  <m:sSupPr>
                                    <m:ctrlPr>
                                      <a:rPr lang="en-US" i="1">
                                        <a:solidFill>
                                          <a:srgbClr val="FF0000"/>
                                        </a:solidFill>
                                        <a:latin typeface="Cambria Math" panose="02040503050406030204" pitchFamily="18" charset="0"/>
                                        <a:ea typeface="Cambria Math"/>
                                        <a:cs typeface="Times New Roman" panose="02020603050405020304" pitchFamily="18" charset="0"/>
                                      </a:rPr>
                                    </m:ctrlPr>
                                  </m:sSupPr>
                                  <m:e>
                                    <m:d>
                                      <m:dPr>
                                        <m:ctrlPr>
                                          <a:rPr lang="en-US" i="1">
                                            <a:solidFill>
                                              <a:srgbClr val="FF0000"/>
                                            </a:solidFill>
                                            <a:latin typeface="Cambria Math" panose="02040503050406030204" pitchFamily="18" charset="0"/>
                                            <a:ea typeface="Cambria Math"/>
                                            <a:cs typeface="Times New Roman" panose="02020603050405020304" pitchFamily="18" charset="0"/>
                                          </a:rPr>
                                        </m:ctrlPr>
                                      </m:dPr>
                                      <m:e>
                                        <m:f>
                                          <m:fPr>
                                            <m:ctrlPr>
                                              <a:rPr lang="en-US" i="1">
                                                <a:solidFill>
                                                  <a:srgbClr val="FF0000"/>
                                                </a:solidFill>
                                                <a:latin typeface="Cambria Math" panose="02040503050406030204" pitchFamily="18" charset="0"/>
                                                <a:ea typeface="Cambria Math"/>
                                                <a:cs typeface="Times New Roman" panose="02020603050405020304" pitchFamily="18" charset="0"/>
                                              </a:rPr>
                                            </m:ctrlPr>
                                          </m:fPr>
                                          <m:num>
                                            <m:r>
                                              <a:rPr lang="en-US" i="1">
                                                <a:solidFill>
                                                  <a:srgbClr val="FF0000"/>
                                                </a:solidFill>
                                                <a:latin typeface="Cambria Math"/>
                                                <a:ea typeface="Cambria Math"/>
                                                <a:cs typeface="Times New Roman" panose="02020603050405020304" pitchFamily="18" charset="0"/>
                                              </a:rPr>
                                              <m:t>𝜔</m:t>
                                            </m:r>
                                          </m:num>
                                          <m:den>
                                            <m:sSub>
                                              <m:sSubPr>
                                                <m:ctrlPr>
                                                  <a:rPr lang="en-US" i="1">
                                                    <a:solidFill>
                                                      <a:srgbClr val="FF0000"/>
                                                    </a:solidFill>
                                                    <a:latin typeface="Cambria Math" panose="02040503050406030204" pitchFamily="18" charset="0"/>
                                                    <a:ea typeface="Cambria Math"/>
                                                    <a:cs typeface="Times New Roman" panose="02020603050405020304" pitchFamily="18" charset="0"/>
                                                  </a:rPr>
                                                </m:ctrlPr>
                                              </m:sSubPr>
                                              <m:e>
                                                <m:r>
                                                  <a:rPr lang="en-US" i="1">
                                                    <a:solidFill>
                                                      <a:srgbClr val="FF0000"/>
                                                    </a:solidFill>
                                                    <a:latin typeface="Cambria Math"/>
                                                    <a:ea typeface="Cambria Math"/>
                                                    <a:cs typeface="Times New Roman" panose="02020603050405020304" pitchFamily="18" charset="0"/>
                                                  </a:rPr>
                                                  <m:t>𝜔</m:t>
                                                </m:r>
                                              </m:e>
                                              <m:sub>
                                                <m:r>
                                                  <a:rPr lang="en-US" i="1">
                                                    <a:solidFill>
                                                      <a:srgbClr val="FF0000"/>
                                                    </a:solidFill>
                                                    <a:latin typeface="Cambria Math"/>
                                                    <a:ea typeface="Cambria Math"/>
                                                    <a:cs typeface="Times New Roman" panose="02020603050405020304" pitchFamily="18" charset="0"/>
                                                  </a:rPr>
                                                  <m:t>𝑛</m:t>
                                                </m:r>
                                              </m:sub>
                                            </m:sSub>
                                          </m:den>
                                        </m:f>
                                      </m:e>
                                    </m:d>
                                  </m:e>
                                  <m:sup>
                                    <m:r>
                                      <a:rPr lang="en-US" i="1">
                                        <a:solidFill>
                                          <a:srgbClr val="FF0000"/>
                                        </a:solidFill>
                                        <a:latin typeface="Cambria Math"/>
                                        <a:ea typeface="Cambria Math"/>
                                        <a:cs typeface="Times New Roman" panose="02020603050405020304" pitchFamily="18" charset="0"/>
                                      </a:rPr>
                                      <m:t>2</m:t>
                                    </m:r>
                                  </m:sup>
                                </m:sSup>
                              </m:den>
                            </m:f>
                          </m:e>
                        </m:d>
                      </m:e>
                    </m:func>
                    <m:r>
                      <a:rPr lang="en-US" b="0" i="1" smtClean="0">
                        <a:solidFill>
                          <a:srgbClr val="FF0000"/>
                        </a:solidFill>
                        <a:latin typeface="Cambria Math"/>
                        <a:ea typeface="Cambria Math"/>
                        <a:cs typeface="Times New Roman" panose="02020603050405020304" pitchFamily="18" charset="0"/>
                      </a:rPr>
                      <m:t>−</m:t>
                    </m:r>
                    <m:func>
                      <m:funcPr>
                        <m:ctrlPr>
                          <a:rPr lang="en-US" i="1">
                            <a:solidFill>
                              <a:srgbClr val="FF0000"/>
                            </a:solidFill>
                            <a:latin typeface="Cambria Math" panose="02040503050406030204" pitchFamily="18" charset="0"/>
                            <a:ea typeface="Cambria Math"/>
                            <a:cs typeface="Times New Roman" panose="02020603050405020304" pitchFamily="18" charset="0"/>
                          </a:rPr>
                        </m:ctrlPr>
                      </m:funcPr>
                      <m:fName>
                        <m:sSup>
                          <m:sSupPr>
                            <m:ctrlPr>
                              <a:rPr lang="en-US" i="1">
                                <a:solidFill>
                                  <a:srgbClr val="FF0000"/>
                                </a:solidFill>
                                <a:latin typeface="Cambria Math" panose="02040503050406030204" pitchFamily="18" charset="0"/>
                                <a:ea typeface="Cambria Math"/>
                                <a:cs typeface="Times New Roman" panose="02020603050405020304" pitchFamily="18" charset="0"/>
                              </a:rPr>
                            </m:ctrlPr>
                          </m:sSupPr>
                          <m:e>
                            <m:r>
                              <m:rPr>
                                <m:sty m:val="p"/>
                              </m:rPr>
                              <a:rPr lang="en-US">
                                <a:solidFill>
                                  <a:srgbClr val="FF0000"/>
                                </a:solidFill>
                                <a:latin typeface="Cambria Math"/>
                                <a:ea typeface="Cambria Math"/>
                                <a:cs typeface="Times New Roman" panose="02020603050405020304" pitchFamily="18" charset="0"/>
                              </a:rPr>
                              <m:t>tan</m:t>
                            </m:r>
                          </m:e>
                          <m:sup>
                            <m:r>
                              <a:rPr lang="en-US" i="1">
                                <a:solidFill>
                                  <a:srgbClr val="FF0000"/>
                                </a:solidFill>
                                <a:latin typeface="Cambria Math"/>
                                <a:ea typeface="Cambria Math"/>
                                <a:cs typeface="Times New Roman" panose="02020603050405020304" pitchFamily="18" charset="0"/>
                              </a:rPr>
                              <m:t>−1</m:t>
                            </m:r>
                          </m:sup>
                        </m:sSup>
                      </m:fName>
                      <m:e>
                        <m:d>
                          <m:dPr>
                            <m:ctrlPr>
                              <a:rPr lang="en-US" i="1">
                                <a:solidFill>
                                  <a:srgbClr val="FF0000"/>
                                </a:solidFill>
                                <a:latin typeface="Cambria Math" panose="02040503050406030204" pitchFamily="18" charset="0"/>
                                <a:ea typeface="Cambria Math"/>
                                <a:cs typeface="Times New Roman" panose="02020603050405020304" pitchFamily="18" charset="0"/>
                              </a:rPr>
                            </m:ctrlPr>
                          </m:dPr>
                          <m:e>
                            <m:r>
                              <a:rPr lang="en-US" i="1">
                                <a:solidFill>
                                  <a:srgbClr val="FF0000"/>
                                </a:solidFill>
                                <a:latin typeface="Cambria Math"/>
                                <a:ea typeface="Cambria Math"/>
                                <a:cs typeface="Times New Roman" panose="02020603050405020304" pitchFamily="18" charset="0"/>
                              </a:rPr>
                              <m:t>2</m:t>
                            </m:r>
                            <m:r>
                              <a:rPr lang="en-US" i="1">
                                <a:solidFill>
                                  <a:srgbClr val="FF0000"/>
                                </a:solidFill>
                                <a:latin typeface="Cambria Math"/>
                                <a:ea typeface="Cambria Math"/>
                                <a:cs typeface="Times New Roman" panose="02020603050405020304" pitchFamily="18" charset="0"/>
                              </a:rPr>
                              <m:t>𝜁</m:t>
                            </m:r>
                            <m:f>
                              <m:fPr>
                                <m:ctrlPr>
                                  <a:rPr lang="en-US" i="1">
                                    <a:solidFill>
                                      <a:srgbClr val="FF0000"/>
                                    </a:solidFill>
                                    <a:latin typeface="Cambria Math" panose="02040503050406030204" pitchFamily="18" charset="0"/>
                                    <a:ea typeface="Cambria Math"/>
                                    <a:cs typeface="Times New Roman" panose="02020603050405020304" pitchFamily="18" charset="0"/>
                                  </a:rPr>
                                </m:ctrlPr>
                              </m:fPr>
                              <m:num>
                                <m:r>
                                  <a:rPr lang="en-US" i="1">
                                    <a:solidFill>
                                      <a:srgbClr val="FF0000"/>
                                    </a:solidFill>
                                    <a:latin typeface="Cambria Math"/>
                                    <a:ea typeface="Cambria Math"/>
                                    <a:cs typeface="Times New Roman" panose="02020603050405020304" pitchFamily="18" charset="0"/>
                                  </a:rPr>
                                  <m:t>𝜔</m:t>
                                </m:r>
                              </m:num>
                              <m:den>
                                <m:sSub>
                                  <m:sSubPr>
                                    <m:ctrlPr>
                                      <a:rPr lang="en-US" i="1">
                                        <a:solidFill>
                                          <a:srgbClr val="FF0000"/>
                                        </a:solidFill>
                                        <a:latin typeface="Cambria Math" panose="02040503050406030204" pitchFamily="18" charset="0"/>
                                        <a:ea typeface="Cambria Math"/>
                                        <a:cs typeface="Times New Roman" panose="02020603050405020304" pitchFamily="18" charset="0"/>
                                      </a:rPr>
                                    </m:ctrlPr>
                                  </m:sSubPr>
                                  <m:e>
                                    <m:r>
                                      <a:rPr lang="en-US" i="1">
                                        <a:solidFill>
                                          <a:srgbClr val="FF0000"/>
                                        </a:solidFill>
                                        <a:latin typeface="Cambria Math"/>
                                        <a:ea typeface="Cambria Math"/>
                                        <a:cs typeface="Times New Roman" panose="02020603050405020304" pitchFamily="18" charset="0"/>
                                      </a:rPr>
                                      <m:t>𝜔</m:t>
                                    </m:r>
                                  </m:e>
                                  <m:sub>
                                    <m:r>
                                      <a:rPr lang="en-US" i="1">
                                        <a:solidFill>
                                          <a:srgbClr val="FF0000"/>
                                        </a:solidFill>
                                        <a:latin typeface="Cambria Math"/>
                                        <a:ea typeface="Cambria Math"/>
                                        <a:cs typeface="Times New Roman" panose="02020603050405020304" pitchFamily="18" charset="0"/>
                                      </a:rPr>
                                      <m:t>𝑛</m:t>
                                    </m:r>
                                  </m:sub>
                                </m:sSub>
                              </m:den>
                            </m:f>
                          </m:e>
                        </m:d>
                      </m:e>
                    </m:func>
                  </m:oMath>
                </a14:m>
                <a:endParaRPr lang="en-US" dirty="0">
                  <a:solidFill>
                    <a:schemeClr val="tx1"/>
                  </a:solidFill>
                  <a:latin typeface="Times New Roman" pitchFamily="18" charset="0"/>
                  <a:cs typeface="Times New Roman" pitchFamily="18" charset="0"/>
                </a:endParaRPr>
              </a:p>
            </p:txBody>
          </p:sp>
        </mc:Choice>
        <mc:Fallback xmlns="">
          <p:sp>
            <p:nvSpPr>
              <p:cNvPr id="55" name="Rectangle 54"/>
              <p:cNvSpPr>
                <a:spLocks noRot="1" noChangeAspect="1" noMove="1" noResize="1" noEditPoints="1" noAdjustHandles="1" noChangeArrowheads="1" noChangeShapeType="1" noTextEdit="1"/>
              </p:cNvSpPr>
              <p:nvPr/>
            </p:nvSpPr>
            <p:spPr>
              <a:xfrm>
                <a:off x="223328" y="4304972"/>
                <a:ext cx="11687592" cy="2153346"/>
              </a:xfrm>
              <a:prstGeom prst="rect">
                <a:avLst/>
              </a:prstGeom>
              <a:blipFill rotWithShape="1">
                <a:blip r:embed="rId7"/>
                <a:stretch>
                  <a:fillRect l="-469" t="-1416"/>
                </a:stretch>
              </a:blipFill>
            </p:spPr>
            <p:txBody>
              <a:bodyPr/>
              <a:lstStyle/>
              <a:p>
                <a:r>
                  <a:rPr lang="en-IN">
                    <a:noFill/>
                  </a:rPr>
                  <a:t> </a:t>
                </a:r>
              </a:p>
            </p:txBody>
          </p:sp>
        </mc:Fallback>
      </mc:AlternateContent>
    </p:spTree>
    <p:extLst>
      <p:ext uri="{BB962C8B-B14F-4D97-AF65-F5344CB8AC3E}">
        <p14:creationId xmlns:p14="http://schemas.microsoft.com/office/powerpoint/2010/main" val="878291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Forced vibrations due to excitation of support</a:t>
            </a:r>
            <a:endParaRPr lang="en-IN" sz="3600" dirty="0">
              <a:solidFill>
                <a:srgbClr val="7030A0"/>
              </a:solidFill>
              <a:latin typeface="Times New Roman" pitchFamily="18" charset="0"/>
              <a:cs typeface="Times New Roman" pitchFamily="18" charset="0"/>
            </a:endParaRPr>
          </a:p>
        </p:txBody>
      </p:sp>
      <p:grpSp>
        <p:nvGrpSpPr>
          <p:cNvPr id="4" name="Group 3"/>
          <p:cNvGrpSpPr/>
          <p:nvPr/>
        </p:nvGrpSpPr>
        <p:grpSpPr>
          <a:xfrm>
            <a:off x="356722" y="1354012"/>
            <a:ext cx="2223837" cy="2843673"/>
            <a:chOff x="778750" y="1354012"/>
            <a:chExt cx="2676682" cy="3422736"/>
          </a:xfrm>
        </p:grpSpPr>
        <mc:AlternateContent xmlns:mc="http://schemas.openxmlformats.org/markup-compatibility/2006" xmlns:a14="http://schemas.microsoft.com/office/drawing/2010/main">
          <mc:Choice Requires="a14">
            <p:sp>
              <p:nvSpPr>
                <p:cNvPr id="5" name="TextBox 4"/>
                <p:cNvSpPr txBox="1"/>
                <p:nvPr/>
              </p:nvSpPr>
              <p:spPr>
                <a:xfrm>
                  <a:off x="778750" y="2670241"/>
                  <a:ext cx="412163" cy="83099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sz="2400" b="0" i="1" smtClean="0">
                          <a:latin typeface="Cambria Math"/>
                          <a:cs typeface="Times New Roman" panose="02020603050405020304" pitchFamily="18" charset="0"/>
                        </a:rPr>
                        <m:t>𝐾</m:t>
                      </m:r>
                    </m:oMath>
                  </a14:m>
                  <a:endParaRPr lang="en-IN" sz="2400" dirty="0">
                    <a:latin typeface="Times New Roman" panose="02020603050405020304" pitchFamily="18" charset="0"/>
                    <a:cs typeface="Times New Roman" panose="02020603050405020304" pitchFamily="18"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778750" y="2670241"/>
                  <a:ext cx="412163" cy="830997"/>
                </a:xfrm>
                <a:prstGeom prst="rect">
                  <a:avLst/>
                </a:prstGeom>
                <a:blipFill rotWithShape="1">
                  <a:blip r:embed="rId3"/>
                  <a:stretch>
                    <a:fillRect l="-4478"/>
                  </a:stretch>
                </a:blipFill>
              </p:spPr>
              <p:txBody>
                <a:bodyPr/>
                <a:lstStyle/>
                <a:p>
                  <a:r>
                    <a:rPr lang="en-IN">
                      <a:noFill/>
                    </a:rPr>
                    <a:t> </a:t>
                  </a:r>
                </a:p>
              </p:txBody>
            </p:sp>
          </mc:Fallback>
        </mc:AlternateContent>
        <p:cxnSp>
          <p:nvCxnSpPr>
            <p:cNvPr id="6" name="Straight Connector 5"/>
            <p:cNvCxnSpPr/>
            <p:nvPr/>
          </p:nvCxnSpPr>
          <p:spPr>
            <a:xfrm>
              <a:off x="1401032" y="1627422"/>
              <a:ext cx="0" cy="400754"/>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380439" y="3367444"/>
              <a:ext cx="0" cy="380692"/>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1150565" y="2014865"/>
              <a:ext cx="418004" cy="1370185"/>
              <a:chOff x="1895549" y="1876841"/>
              <a:chExt cx="418004" cy="1370185"/>
            </a:xfrm>
          </p:grpSpPr>
          <p:cxnSp>
            <p:nvCxnSpPr>
              <p:cNvPr id="10" name="Straight Connector 9"/>
              <p:cNvCxnSpPr/>
              <p:nvPr/>
            </p:nvCxnSpPr>
            <p:spPr>
              <a:xfrm flipH="1">
                <a:off x="1977649" y="1876841"/>
                <a:ext cx="168367"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920577" y="2671231"/>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1920577" y="2786390"/>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900098" y="2901549"/>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1895549" y="3016708"/>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922850" y="3131867"/>
                <a:ext cx="202041"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947878" y="2214200"/>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947878" y="2329359"/>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927399" y="2444519"/>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1922850" y="2559678"/>
                <a:ext cx="336734"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976818" y="1985577"/>
                <a:ext cx="336735"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1972269" y="2100736"/>
                <a:ext cx="336735" cy="115159"/>
              </a:xfrm>
              <a:prstGeom prst="line">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969434" y="1354013"/>
              <a:ext cx="706915" cy="256346"/>
              <a:chOff x="1837988" y="1215989"/>
              <a:chExt cx="706915" cy="256346"/>
            </a:xfrm>
          </p:grpSpPr>
          <p:cxnSp>
            <p:nvCxnSpPr>
              <p:cNvPr id="23" name="Straight Connector 22"/>
              <p:cNvCxnSpPr/>
              <p:nvPr/>
            </p:nvCxnSpPr>
            <p:spPr>
              <a:xfrm>
                <a:off x="1837988" y="1463218"/>
                <a:ext cx="6006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1893189"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2034382" y="1225106"/>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2178358" y="1225105"/>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2332396"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 name="Rectangle 27"/>
            <p:cNvSpPr/>
            <p:nvPr/>
          </p:nvSpPr>
          <p:spPr>
            <a:xfrm>
              <a:off x="795534" y="3748136"/>
              <a:ext cx="1800000" cy="4320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grpSp>
          <p:nvGrpSpPr>
            <p:cNvPr id="29" name="Group 28"/>
            <p:cNvGrpSpPr/>
            <p:nvPr/>
          </p:nvGrpSpPr>
          <p:grpSpPr>
            <a:xfrm>
              <a:off x="1538775" y="1354012"/>
              <a:ext cx="706915" cy="256346"/>
              <a:chOff x="1837988" y="1215989"/>
              <a:chExt cx="706915" cy="256346"/>
            </a:xfrm>
          </p:grpSpPr>
          <p:cxnSp>
            <p:nvCxnSpPr>
              <p:cNvPr id="30" name="Straight Connector 29"/>
              <p:cNvCxnSpPr/>
              <p:nvPr/>
            </p:nvCxnSpPr>
            <p:spPr>
              <a:xfrm>
                <a:off x="1837988" y="1463218"/>
                <a:ext cx="6006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a:off x="1893189"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2034382" y="1225106"/>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2178358" y="1225105"/>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2332396"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Group 34"/>
            <p:cNvGrpSpPr/>
            <p:nvPr/>
          </p:nvGrpSpPr>
          <p:grpSpPr>
            <a:xfrm>
              <a:off x="2107250" y="1354446"/>
              <a:ext cx="706915" cy="256346"/>
              <a:chOff x="1837988" y="1215989"/>
              <a:chExt cx="706915" cy="256346"/>
            </a:xfrm>
          </p:grpSpPr>
          <p:cxnSp>
            <p:nvCxnSpPr>
              <p:cNvPr id="36" name="Straight Connector 35"/>
              <p:cNvCxnSpPr/>
              <p:nvPr/>
            </p:nvCxnSpPr>
            <p:spPr>
              <a:xfrm>
                <a:off x="1837988" y="1463218"/>
                <a:ext cx="60066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H="1">
                <a:off x="1893189"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H="1">
                <a:off x="2034382" y="1225106"/>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2178358" y="1225105"/>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a:off x="2332396" y="1215989"/>
                <a:ext cx="212507" cy="2472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Straight Connector 40"/>
            <p:cNvCxnSpPr/>
            <p:nvPr/>
          </p:nvCxnSpPr>
          <p:spPr>
            <a:xfrm>
              <a:off x="2105860" y="1618447"/>
              <a:ext cx="0" cy="72118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093609" y="2753238"/>
              <a:ext cx="0" cy="1008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1909499" y="2337450"/>
              <a:ext cx="36059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1791291" y="2178584"/>
              <a:ext cx="0" cy="57669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2383639" y="2191104"/>
              <a:ext cx="0" cy="57669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1791291" y="2755281"/>
              <a:ext cx="60098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2419537" y="2281579"/>
              <a:ext cx="389850" cy="461665"/>
            </a:xfrm>
            <a:prstGeom prst="rect">
              <a:avLst/>
            </a:prstGeom>
            <a:noFill/>
            <a:ln w="38100">
              <a:noFill/>
            </a:ln>
          </p:spPr>
          <p:txBody>
            <a:bodyPr wrap="none" rtlCol="0">
              <a:spAutoFit/>
            </a:bodyPr>
            <a:lstStyle/>
            <a:p>
              <a:r>
                <a:rPr lang="en-US" sz="2400" i="1" dirty="0">
                  <a:latin typeface="Times New Roman" pitchFamily="18" charset="0"/>
                  <a:cs typeface="Times New Roman" pitchFamily="18" charset="0"/>
                </a:rPr>
                <a:t>C</a:t>
              </a:r>
              <a:endParaRPr lang="en-IN" sz="2400" i="1" dirty="0">
                <a:latin typeface="Times New Roman" pitchFamily="18" charset="0"/>
                <a:cs typeface="Times New Roman" pitchFamily="18" charset="0"/>
              </a:endParaRPr>
            </a:p>
          </p:txBody>
        </p:sp>
        <p:sp>
          <p:nvSpPr>
            <p:cNvPr id="48" name="TextBox 47"/>
            <p:cNvSpPr txBox="1"/>
            <p:nvPr/>
          </p:nvSpPr>
          <p:spPr>
            <a:xfrm>
              <a:off x="1462184" y="3736020"/>
              <a:ext cx="407484" cy="461665"/>
            </a:xfrm>
            <a:prstGeom prst="rect">
              <a:avLst/>
            </a:prstGeom>
            <a:noFill/>
            <a:ln w="38100">
              <a:noFill/>
            </a:ln>
          </p:spPr>
          <p:txBody>
            <a:bodyPr wrap="none" rtlCol="0">
              <a:spAutoFit/>
            </a:bodyPr>
            <a:lstStyle/>
            <a:p>
              <a:r>
                <a:rPr lang="en-US" sz="2400" i="1" dirty="0">
                  <a:latin typeface="Times New Roman" pitchFamily="18" charset="0"/>
                  <a:cs typeface="Times New Roman" pitchFamily="18" charset="0"/>
                </a:rPr>
                <a:t>m</a:t>
              </a:r>
              <a:endParaRPr lang="en-IN" sz="2400" i="1" dirty="0">
                <a:latin typeface="Times New Roman" pitchFamily="18" charset="0"/>
                <a:cs typeface="Times New Roman" pitchFamily="18" charset="0"/>
              </a:endParaRPr>
            </a:p>
          </p:txBody>
        </p:sp>
        <p:cxnSp>
          <p:nvCxnSpPr>
            <p:cNvPr id="49" name="Straight Connector 48"/>
            <p:cNvCxnSpPr/>
            <p:nvPr/>
          </p:nvCxnSpPr>
          <p:spPr>
            <a:xfrm>
              <a:off x="3026229" y="3961925"/>
              <a:ext cx="0" cy="730108"/>
            </a:xfrm>
            <a:prstGeom prst="line">
              <a:avLst/>
            </a:prstGeom>
            <a:ln w="28575">
              <a:solidFill>
                <a:schemeClr val="tx1"/>
              </a:solidFill>
              <a:prstDash val="solid"/>
              <a:headEnd type="none"/>
              <a:tailEnd type="stealth" w="lg" len="lg"/>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endCxn id="28" idx="3"/>
            </p:cNvCxnSpPr>
            <p:nvPr/>
          </p:nvCxnSpPr>
          <p:spPr>
            <a:xfrm flipH="1" flipV="1">
              <a:off x="2595534" y="3964136"/>
              <a:ext cx="430695" cy="120"/>
            </a:xfrm>
            <a:prstGeom prst="line">
              <a:avLst/>
            </a:prstGeom>
            <a:ln w="28575">
              <a:solidFill>
                <a:schemeClr val="tx1"/>
              </a:solidFill>
              <a:prstDash val="solid"/>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3019468" y="1599596"/>
              <a:ext cx="0" cy="730108"/>
            </a:xfrm>
            <a:prstGeom prst="line">
              <a:avLst/>
            </a:prstGeom>
            <a:ln w="28575">
              <a:solidFill>
                <a:schemeClr val="tx1"/>
              </a:solidFill>
              <a:prstDash val="solid"/>
              <a:headEnd type="none"/>
              <a:tailEnd type="stealth" w="lg" len="lg"/>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H="1">
              <a:off x="2701412" y="1601927"/>
              <a:ext cx="318056" cy="0"/>
            </a:xfrm>
            <a:prstGeom prst="line">
              <a:avLst/>
            </a:prstGeom>
            <a:ln w="28575">
              <a:solidFill>
                <a:schemeClr val="tx1"/>
              </a:solidFill>
              <a:prstDash val="solid"/>
              <a:headEnd type="none"/>
              <a:tailEnd type="non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Rectangle 52"/>
                <p:cNvSpPr/>
                <p:nvPr/>
              </p:nvSpPr>
              <p:spPr>
                <a:xfrm>
                  <a:off x="3019468" y="4407416"/>
                  <a:ext cx="36798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cs typeface="Times New Roman" panose="02020603050405020304" pitchFamily="18" charset="0"/>
                          </a:rPr>
                          <m:t>𝑥</m:t>
                        </m:r>
                      </m:oMath>
                    </m:oMathPara>
                  </a14:m>
                  <a:endParaRPr lang="en-IN" dirty="0"/>
                </a:p>
              </p:txBody>
            </p:sp>
          </mc:Choice>
          <mc:Fallback xmlns="">
            <p:sp>
              <p:nvSpPr>
                <p:cNvPr id="53" name="Rectangle 52"/>
                <p:cNvSpPr>
                  <a:spLocks noRot="1" noChangeAspect="1" noMove="1" noResize="1" noEditPoints="1" noAdjustHandles="1" noChangeArrowheads="1" noChangeShapeType="1" noTextEdit="1"/>
                </p:cNvSpPr>
                <p:nvPr/>
              </p:nvSpPr>
              <p:spPr>
                <a:xfrm>
                  <a:off x="3019468" y="4407416"/>
                  <a:ext cx="367985" cy="369332"/>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Rectangle 53"/>
                <p:cNvSpPr/>
                <p:nvPr/>
              </p:nvSpPr>
              <p:spPr>
                <a:xfrm>
                  <a:off x="3087447" y="1905759"/>
                  <a:ext cx="36798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cs typeface="Times New Roman" panose="02020603050405020304" pitchFamily="18" charset="0"/>
                          </a:rPr>
                          <m:t>𝑦</m:t>
                        </m:r>
                      </m:oMath>
                    </m:oMathPara>
                  </a14:m>
                  <a:endParaRPr lang="en-IN" dirty="0"/>
                </a:p>
              </p:txBody>
            </p:sp>
          </mc:Choice>
          <mc:Fallback xmlns="">
            <p:sp>
              <p:nvSpPr>
                <p:cNvPr id="54" name="Rectangle 53"/>
                <p:cNvSpPr>
                  <a:spLocks noRot="1" noChangeAspect="1" noMove="1" noResize="1" noEditPoints="1" noAdjustHandles="1" noChangeArrowheads="1" noChangeShapeType="1" noTextEdit="1"/>
                </p:cNvSpPr>
                <p:nvPr/>
              </p:nvSpPr>
              <p:spPr>
                <a:xfrm>
                  <a:off x="3087447" y="1905759"/>
                  <a:ext cx="367985" cy="369332"/>
                </a:xfrm>
                <a:prstGeom prst="rect">
                  <a:avLst/>
                </a:prstGeom>
                <a:blipFill rotWithShape="0">
                  <a:blip r:embed="rId5"/>
                  <a:stretch>
                    <a:fillRect b="-6667"/>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3" name="Rectangle 2"/>
              <p:cNvSpPr/>
              <p:nvPr/>
            </p:nvSpPr>
            <p:spPr>
              <a:xfrm>
                <a:off x="2488447" y="1073390"/>
                <a:ext cx="9504852" cy="3477875"/>
              </a:xfrm>
              <a:prstGeom prst="rect">
                <a:avLst/>
              </a:prstGeom>
            </p:spPr>
            <p:txBody>
              <a:bodyPr wrap="square">
                <a:spAutoFit/>
              </a:bodyPr>
              <a:lstStyle/>
              <a:p>
                <a:r>
                  <a:rPr lang="en-US" sz="2000" dirty="0">
                    <a:latin typeface="Times New Roman" pitchFamily="18" charset="0"/>
                    <a:cs typeface="Times New Roman" pitchFamily="18" charset="0"/>
                  </a:rPr>
                  <a:t>When </a:t>
                </a:r>
                <a14:m>
                  <m:oMath xmlns:m="http://schemas.openxmlformats.org/officeDocument/2006/math">
                    <m:r>
                      <a:rPr lang="en-US" sz="2000" i="1" smtClean="0">
                        <a:solidFill>
                          <a:srgbClr val="FF0000"/>
                        </a:solidFill>
                        <a:latin typeface="Cambria Math"/>
                        <a:ea typeface="Cambria Math"/>
                        <a:cs typeface="Times New Roman" pitchFamily="18" charset="0"/>
                      </a:rPr>
                      <m:t>𝜔</m:t>
                    </m:r>
                    <m:r>
                      <a:rPr lang="en-US" sz="2000" i="1" smtClean="0">
                        <a:solidFill>
                          <a:srgbClr val="FF0000"/>
                        </a:solidFill>
                        <a:latin typeface="Cambria Math"/>
                        <a:ea typeface="Cambria Math"/>
                        <a:cs typeface="Times New Roman" pitchFamily="18" charset="0"/>
                      </a:rPr>
                      <m:t>≪</m:t>
                    </m:r>
                    <m:sSub>
                      <m:sSubPr>
                        <m:ctrlPr>
                          <a:rPr lang="en-US" sz="2000" i="1" smtClean="0">
                            <a:solidFill>
                              <a:srgbClr val="FF0000"/>
                            </a:solidFill>
                            <a:latin typeface="Cambria Math" panose="02040503050406030204" pitchFamily="18" charset="0"/>
                            <a:ea typeface="Cambria Math"/>
                            <a:cs typeface="Times New Roman" pitchFamily="18" charset="0"/>
                          </a:rPr>
                        </m:ctrlPr>
                      </m:sSubPr>
                      <m:e>
                        <m:r>
                          <a:rPr lang="en-US" sz="2000" i="1">
                            <a:solidFill>
                              <a:srgbClr val="FF0000"/>
                            </a:solidFill>
                            <a:latin typeface="Cambria Math"/>
                            <a:ea typeface="Cambria Math"/>
                            <a:cs typeface="Times New Roman" pitchFamily="18" charset="0"/>
                          </a:rPr>
                          <m:t>𝜔</m:t>
                        </m:r>
                      </m:e>
                      <m:sub>
                        <m:r>
                          <a:rPr lang="en-US" sz="2000" b="0" i="1" smtClean="0">
                            <a:solidFill>
                              <a:srgbClr val="FF0000"/>
                            </a:solidFill>
                            <a:latin typeface="Cambria Math"/>
                            <a:ea typeface="Cambria Math"/>
                            <a:cs typeface="Times New Roman" pitchFamily="18" charset="0"/>
                          </a:rPr>
                          <m:t>𝑛</m:t>
                        </m:r>
                      </m:sub>
                    </m:sSub>
                  </m:oMath>
                </a14:m>
                <a:r>
                  <a:rPr lang="en-US" sz="2000" dirty="0">
                    <a:latin typeface="Times New Roman" pitchFamily="18" charset="0"/>
                    <a:cs typeface="Times New Roman" pitchFamily="18" charset="0"/>
                  </a:rPr>
                  <a:t> ,  </a:t>
                </a:r>
                <a14:m>
                  <m:oMath xmlns:m="http://schemas.openxmlformats.org/officeDocument/2006/math">
                    <m:f>
                      <m:fPr>
                        <m:type m:val="lin"/>
                        <m:ctrlPr>
                          <a:rPr lang="en-US" sz="2000" i="1" smtClean="0">
                            <a:solidFill>
                              <a:srgbClr val="FF0000"/>
                            </a:solidFill>
                            <a:latin typeface="Cambria Math" panose="02040503050406030204" pitchFamily="18" charset="0"/>
                            <a:cs typeface="Times New Roman" pitchFamily="18" charset="0"/>
                          </a:rPr>
                        </m:ctrlPr>
                      </m:fPr>
                      <m:num>
                        <m:r>
                          <a:rPr lang="en-US" sz="2000" b="0" i="1" smtClean="0">
                            <a:solidFill>
                              <a:srgbClr val="FF0000"/>
                            </a:solidFill>
                            <a:latin typeface="Cambria Math"/>
                            <a:cs typeface="Times New Roman" pitchFamily="18" charset="0"/>
                          </a:rPr>
                          <m:t>𝑋</m:t>
                        </m:r>
                      </m:num>
                      <m:den>
                        <m:r>
                          <a:rPr lang="en-US" sz="2000" b="0" i="1" smtClean="0">
                            <a:solidFill>
                              <a:srgbClr val="FF0000"/>
                            </a:solidFill>
                            <a:latin typeface="Cambria Math"/>
                            <a:cs typeface="Times New Roman" pitchFamily="18" charset="0"/>
                          </a:rPr>
                          <m:t>𝑌</m:t>
                        </m:r>
                      </m:den>
                    </m:f>
                    <m:r>
                      <a:rPr lang="en-US" sz="2000" i="1" smtClean="0">
                        <a:solidFill>
                          <a:srgbClr val="FF0000"/>
                        </a:solidFill>
                        <a:latin typeface="Cambria Math"/>
                        <a:ea typeface="Cambria Math"/>
                        <a:cs typeface="Times New Roman" pitchFamily="18" charset="0"/>
                      </a:rPr>
                      <m:t>≅</m:t>
                    </m:r>
                    <m:r>
                      <a:rPr lang="en-US" sz="2000" b="0" i="1" smtClean="0">
                        <a:solidFill>
                          <a:srgbClr val="FF0000"/>
                        </a:solidFill>
                        <a:latin typeface="Cambria Math"/>
                        <a:ea typeface="Cambria Math"/>
                        <a:cs typeface="Times New Roman" pitchFamily="18" charset="0"/>
                      </a:rPr>
                      <m:t>1</m:t>
                    </m:r>
                    <m:r>
                      <a:rPr lang="en-US" sz="2000" b="0" i="1" smtClean="0">
                        <a:latin typeface="Cambria Math"/>
                        <a:ea typeface="Cambria Math"/>
                        <a:cs typeface="Times New Roman" pitchFamily="18" charset="0"/>
                      </a:rPr>
                      <m:t>,</m:t>
                    </m:r>
                  </m:oMath>
                </a14:m>
                <a:r>
                  <a:rPr lang="en-US" sz="2000" dirty="0">
                    <a:latin typeface="Times New Roman" pitchFamily="18" charset="0"/>
                    <a:cs typeface="Times New Roman" pitchFamily="18" charset="0"/>
                  </a:rPr>
                  <a:t> or the complete system moves as rigid body at low frequencies. </a:t>
                </a:r>
              </a:p>
              <a:p>
                <a:r>
                  <a:rPr lang="en-US" sz="2000" dirty="0">
                    <a:latin typeface="Times New Roman" pitchFamily="18" charset="0"/>
                    <a:cs typeface="Times New Roman" pitchFamily="18" charset="0"/>
                  </a:rPr>
                  <a:t>When </a:t>
                </a:r>
                <a14:m>
                  <m:oMath xmlns:m="http://schemas.openxmlformats.org/officeDocument/2006/math">
                    <m:r>
                      <a:rPr lang="en-US" sz="2000" i="1">
                        <a:solidFill>
                          <a:srgbClr val="FF0000"/>
                        </a:solidFill>
                        <a:latin typeface="Cambria Math"/>
                        <a:ea typeface="Cambria Math"/>
                        <a:cs typeface="Times New Roman" pitchFamily="18" charset="0"/>
                      </a:rPr>
                      <m:t>𝜔</m:t>
                    </m:r>
                    <m:r>
                      <a:rPr lang="en-US" sz="2000" i="1" smtClean="0">
                        <a:solidFill>
                          <a:srgbClr val="FF0000"/>
                        </a:solidFill>
                        <a:latin typeface="Cambria Math"/>
                        <a:ea typeface="Cambria Math"/>
                        <a:cs typeface="Times New Roman" pitchFamily="18" charset="0"/>
                      </a:rPr>
                      <m:t>≫</m:t>
                    </m:r>
                    <m:sSub>
                      <m:sSubPr>
                        <m:ctrlPr>
                          <a:rPr lang="en-US" sz="2000" i="1">
                            <a:solidFill>
                              <a:srgbClr val="FF0000"/>
                            </a:solidFill>
                            <a:latin typeface="Cambria Math" panose="02040503050406030204" pitchFamily="18" charset="0"/>
                            <a:ea typeface="Cambria Math"/>
                            <a:cs typeface="Times New Roman" pitchFamily="18" charset="0"/>
                          </a:rPr>
                        </m:ctrlPr>
                      </m:sSubPr>
                      <m:e>
                        <m:r>
                          <a:rPr lang="en-US" sz="2000" i="1">
                            <a:solidFill>
                              <a:srgbClr val="FF0000"/>
                            </a:solidFill>
                            <a:latin typeface="Cambria Math"/>
                            <a:ea typeface="Cambria Math"/>
                            <a:cs typeface="Times New Roman" pitchFamily="18" charset="0"/>
                          </a:rPr>
                          <m:t>𝜔</m:t>
                        </m:r>
                      </m:e>
                      <m:sub>
                        <m:r>
                          <a:rPr lang="en-US" sz="2000" i="1">
                            <a:solidFill>
                              <a:srgbClr val="FF0000"/>
                            </a:solidFill>
                            <a:latin typeface="Cambria Math"/>
                            <a:ea typeface="Cambria Math"/>
                            <a:cs typeface="Times New Roman" pitchFamily="18" charset="0"/>
                          </a:rPr>
                          <m:t>𝑛</m:t>
                        </m:r>
                      </m:sub>
                    </m:sSub>
                  </m:oMath>
                </a14:m>
                <a:r>
                  <a:rPr lang="en-US" sz="2000" dirty="0">
                    <a:latin typeface="Times New Roman" pitchFamily="18" charset="0"/>
                    <a:cs typeface="Times New Roman" pitchFamily="18" charset="0"/>
                  </a:rPr>
                  <a:t> ,  </a:t>
                </a:r>
                <a14:m>
                  <m:oMath xmlns:m="http://schemas.openxmlformats.org/officeDocument/2006/math">
                    <m:f>
                      <m:fPr>
                        <m:type m:val="lin"/>
                        <m:ctrlPr>
                          <a:rPr lang="en-US" sz="2000" i="1">
                            <a:solidFill>
                              <a:srgbClr val="FF0000"/>
                            </a:solidFill>
                            <a:latin typeface="Cambria Math" panose="02040503050406030204" pitchFamily="18" charset="0"/>
                            <a:cs typeface="Times New Roman" pitchFamily="18" charset="0"/>
                          </a:rPr>
                        </m:ctrlPr>
                      </m:fPr>
                      <m:num>
                        <m:r>
                          <a:rPr lang="en-US" sz="2000" i="1">
                            <a:solidFill>
                              <a:srgbClr val="FF0000"/>
                            </a:solidFill>
                            <a:latin typeface="Cambria Math"/>
                            <a:cs typeface="Times New Roman" pitchFamily="18" charset="0"/>
                          </a:rPr>
                          <m:t>𝑋</m:t>
                        </m:r>
                      </m:num>
                      <m:den>
                        <m:r>
                          <a:rPr lang="en-US" sz="2000" i="1">
                            <a:solidFill>
                              <a:srgbClr val="FF0000"/>
                            </a:solidFill>
                            <a:latin typeface="Cambria Math"/>
                            <a:cs typeface="Times New Roman" pitchFamily="18" charset="0"/>
                          </a:rPr>
                          <m:t>𝑌</m:t>
                        </m:r>
                      </m:den>
                    </m:f>
                    <m:r>
                      <a:rPr lang="en-US" sz="2000" i="1">
                        <a:solidFill>
                          <a:srgbClr val="FF0000"/>
                        </a:solidFill>
                        <a:latin typeface="Cambria Math"/>
                        <a:ea typeface="Cambria Math"/>
                        <a:cs typeface="Times New Roman" pitchFamily="18" charset="0"/>
                      </a:rPr>
                      <m:t>≅</m:t>
                    </m:r>
                    <m:r>
                      <a:rPr lang="en-US" sz="2000" b="0" i="1" smtClean="0">
                        <a:solidFill>
                          <a:srgbClr val="FF0000"/>
                        </a:solidFill>
                        <a:latin typeface="Cambria Math"/>
                        <a:ea typeface="Cambria Math"/>
                        <a:cs typeface="Times New Roman" pitchFamily="18" charset="0"/>
                      </a:rPr>
                      <m:t>0</m:t>
                    </m:r>
                  </m:oMath>
                </a14:m>
                <a:r>
                  <a:rPr lang="en-US" sz="2000" dirty="0">
                    <a:latin typeface="Times New Roman" pitchFamily="18" charset="0"/>
                    <a:cs typeface="Times New Roman" pitchFamily="18" charset="0"/>
                  </a:rPr>
                  <a:t> or the body is stationary at high frequencies. The ratio </a:t>
                </a:r>
                <a14:m>
                  <m:oMath xmlns:m="http://schemas.openxmlformats.org/officeDocument/2006/math">
                    <m:f>
                      <m:fPr>
                        <m:type m:val="lin"/>
                        <m:ctrlPr>
                          <a:rPr lang="en-US" sz="2000" i="1">
                            <a:solidFill>
                              <a:srgbClr val="FF0000"/>
                            </a:solidFill>
                            <a:latin typeface="Cambria Math" panose="02040503050406030204" pitchFamily="18" charset="0"/>
                            <a:cs typeface="Times New Roman" pitchFamily="18" charset="0"/>
                          </a:rPr>
                        </m:ctrlPr>
                      </m:fPr>
                      <m:num>
                        <m:r>
                          <a:rPr lang="en-US" sz="2000" i="1">
                            <a:solidFill>
                              <a:srgbClr val="FF0000"/>
                            </a:solidFill>
                            <a:latin typeface="Cambria Math"/>
                            <a:cs typeface="Times New Roman" pitchFamily="18" charset="0"/>
                          </a:rPr>
                          <m:t>𝑋</m:t>
                        </m:r>
                      </m:num>
                      <m:den>
                        <m:r>
                          <a:rPr lang="en-US" sz="2000" i="1">
                            <a:solidFill>
                              <a:srgbClr val="FF0000"/>
                            </a:solidFill>
                            <a:latin typeface="Cambria Math"/>
                            <a:cs typeface="Times New Roman" pitchFamily="18" charset="0"/>
                          </a:rPr>
                          <m:t>𝑌</m:t>
                        </m:r>
                      </m:den>
                    </m:f>
                  </m:oMath>
                </a14:m>
                <a:r>
                  <a:rPr lang="en-US" sz="2000" dirty="0">
                    <a:latin typeface="Times New Roman" pitchFamily="18" charset="0"/>
                    <a:cs typeface="Times New Roman" pitchFamily="18" charset="0"/>
                  </a:rPr>
                  <a:t> is called displacement transmissibility. </a:t>
                </a:r>
                <a:endParaRPr lang="en-US" sz="2000" b="0" dirty="0">
                  <a:solidFill>
                    <a:srgbClr val="FF0000"/>
                  </a:solidFill>
                  <a:latin typeface="Times New Roman" pitchFamily="18" charset="0"/>
                  <a:ea typeface="Cambria Math"/>
                  <a:cs typeface="Times New Roman" panose="02020603050405020304" pitchFamily="18" charset="0"/>
                </a:endParaRPr>
              </a:p>
              <a:p>
                <a:endParaRPr lang="en-US" sz="2000" dirty="0"/>
              </a:p>
              <a:p>
                <a:r>
                  <a:rPr lang="en-US" sz="2000" dirty="0">
                    <a:solidFill>
                      <a:srgbClr val="FF0000"/>
                    </a:solidFill>
                    <a:latin typeface="Times New Roman" pitchFamily="18" charset="0"/>
                    <a:cs typeface="Times New Roman" pitchFamily="18" charset="0"/>
                  </a:rPr>
                  <a:t>Relative Amplitude:</a:t>
                </a:r>
              </a:p>
              <a:p>
                <a:endParaRPr lang="en-US" sz="2000" dirty="0">
                  <a:solidFill>
                    <a:srgbClr val="FF0000"/>
                  </a:solidFill>
                  <a:latin typeface="Times New Roman" pitchFamily="18" charset="0"/>
                  <a:cs typeface="Times New Roman" pitchFamily="18" charset="0"/>
                </a:endParaRPr>
              </a:p>
              <a:p>
                <a:r>
                  <a:rPr lang="en-US" sz="2000" dirty="0">
                    <a:latin typeface="Times New Roman" pitchFamily="18" charset="0"/>
                    <a:cs typeface="Times New Roman" pitchFamily="18" charset="0"/>
                  </a:rPr>
                  <a:t>If </a:t>
                </a:r>
                <a14:m>
                  <m:oMath xmlns:m="http://schemas.openxmlformats.org/officeDocument/2006/math">
                    <m:r>
                      <a:rPr lang="en-US" sz="2000" b="0" i="0" smtClean="0">
                        <a:solidFill>
                          <a:srgbClr val="FF0000"/>
                        </a:solidFill>
                        <a:latin typeface="Cambria Math"/>
                        <a:cs typeface="Times New Roman" panose="02020603050405020304" pitchFamily="18" charset="0"/>
                      </a:rPr>
                      <m:t> </m:t>
                    </m:r>
                    <m:r>
                      <a:rPr lang="en-US" sz="2000" i="1">
                        <a:solidFill>
                          <a:srgbClr val="FF0000"/>
                        </a:solidFill>
                        <a:latin typeface="Cambria Math"/>
                        <a:cs typeface="Times New Roman" panose="02020603050405020304" pitchFamily="18" charset="0"/>
                      </a:rPr>
                      <m:t>𝑧</m:t>
                    </m:r>
                  </m:oMath>
                </a14:m>
                <a:r>
                  <a:rPr lang="en-IN" sz="2000" dirty="0">
                    <a:latin typeface="Times New Roman" pitchFamily="18" charset="0"/>
                    <a:cs typeface="Times New Roman" pitchFamily="18" charset="0"/>
                  </a:rPr>
                  <a:t> represents the relative motion of mass with respect to support, Thus, </a:t>
                </a:r>
                <a14:m>
                  <m:oMath xmlns:m="http://schemas.openxmlformats.org/officeDocument/2006/math">
                    <m:r>
                      <a:rPr lang="en-US" sz="2000" i="1">
                        <a:solidFill>
                          <a:srgbClr val="FF0000"/>
                        </a:solidFill>
                        <a:latin typeface="Cambria Math"/>
                        <a:cs typeface="Times New Roman" panose="02020603050405020304" pitchFamily="18" charset="0"/>
                      </a:rPr>
                      <m:t>𝑧</m:t>
                    </m:r>
                    <m:r>
                      <a:rPr lang="en-US" sz="2000" b="0" i="0" smtClean="0">
                        <a:solidFill>
                          <a:srgbClr val="FF0000"/>
                        </a:solidFill>
                        <a:latin typeface="Cambria Math"/>
                        <a:cs typeface="Times New Roman" pitchFamily="18" charset="0"/>
                      </a:rPr>
                      <m:t>=</m:t>
                    </m:r>
                    <m:r>
                      <a:rPr lang="en-US" sz="2000" i="1">
                        <a:solidFill>
                          <a:srgbClr val="FF0000"/>
                        </a:solidFill>
                        <a:latin typeface="Cambria Math"/>
                        <a:cs typeface="Times New Roman" panose="02020603050405020304" pitchFamily="18" charset="0"/>
                      </a:rPr>
                      <m:t>𝑥</m:t>
                    </m:r>
                    <m:r>
                      <a:rPr lang="en-US" sz="2000" b="0" i="0" smtClean="0">
                        <a:solidFill>
                          <a:srgbClr val="FF0000"/>
                        </a:solidFill>
                        <a:latin typeface="Cambria Math"/>
                        <a:cs typeface="Times New Roman" pitchFamily="18" charset="0"/>
                      </a:rPr>
                      <m:t>−</m:t>
                    </m:r>
                    <m:r>
                      <a:rPr lang="en-US" sz="2000" i="1">
                        <a:solidFill>
                          <a:srgbClr val="FF0000"/>
                        </a:solidFill>
                        <a:latin typeface="Cambria Math"/>
                        <a:cs typeface="Times New Roman" panose="02020603050405020304" pitchFamily="18" charset="0"/>
                      </a:rPr>
                      <m:t>𝑦</m:t>
                    </m:r>
                  </m:oMath>
                </a14:m>
                <a:r>
                  <a:rPr lang="en-IN" sz="2000" dirty="0">
                    <a:latin typeface="Times New Roman" pitchFamily="18" charset="0"/>
                    <a:cs typeface="Times New Roman" pitchFamily="18" charset="0"/>
                  </a:rPr>
                  <a:t>, or </a:t>
                </a:r>
                <a14:m>
                  <m:oMath xmlns:m="http://schemas.openxmlformats.org/officeDocument/2006/math">
                    <m:r>
                      <a:rPr lang="en-US" sz="2000" b="0" i="1" smtClean="0">
                        <a:solidFill>
                          <a:srgbClr val="FF0000"/>
                        </a:solidFill>
                        <a:latin typeface="Cambria Math"/>
                        <a:cs typeface="Times New Roman" panose="02020603050405020304" pitchFamily="18" charset="0"/>
                      </a:rPr>
                      <m:t>𝑥</m:t>
                    </m:r>
                    <m:r>
                      <a:rPr lang="en-US" sz="2000" i="1">
                        <a:solidFill>
                          <a:srgbClr val="FF0000"/>
                        </a:solidFill>
                        <a:latin typeface="Cambria Math"/>
                        <a:cs typeface="Times New Roman" panose="02020603050405020304" pitchFamily="18" charset="0"/>
                      </a:rPr>
                      <m:t>=</m:t>
                    </m:r>
                    <m:r>
                      <a:rPr lang="en-US" sz="2000" b="0" i="1" smtClean="0">
                        <a:solidFill>
                          <a:srgbClr val="FF0000"/>
                        </a:solidFill>
                        <a:latin typeface="Cambria Math"/>
                        <a:cs typeface="Times New Roman" panose="02020603050405020304" pitchFamily="18" charset="0"/>
                      </a:rPr>
                      <m:t>𝑧</m:t>
                    </m:r>
                    <m:r>
                      <a:rPr lang="en-US" sz="2000" b="0" i="1" smtClean="0">
                        <a:solidFill>
                          <a:srgbClr val="FF0000"/>
                        </a:solidFill>
                        <a:latin typeface="Cambria Math"/>
                        <a:cs typeface="Times New Roman" panose="02020603050405020304" pitchFamily="18" charset="0"/>
                      </a:rPr>
                      <m:t>+</m:t>
                    </m:r>
                    <m:r>
                      <a:rPr lang="en-US" sz="2000" b="0" i="1" smtClean="0">
                        <a:solidFill>
                          <a:srgbClr val="FF0000"/>
                        </a:solidFill>
                        <a:latin typeface="Cambria Math" panose="02040503050406030204" pitchFamily="18" charset="0"/>
                        <a:cs typeface="Times New Roman" panose="02020603050405020304" pitchFamily="18" charset="0"/>
                      </a:rPr>
                      <m:t>𝑦</m:t>
                    </m:r>
                  </m:oMath>
                </a14:m>
                <a:r>
                  <a:rPr lang="en-IN" sz="2000" dirty="0"/>
                  <a:t> </a:t>
                </a:r>
              </a:p>
              <a:p>
                <a:endParaRPr lang="en-IN" sz="2000" dirty="0"/>
              </a:p>
              <a:p>
                <a:r>
                  <a:rPr lang="en-US" sz="2000" dirty="0">
                    <a:latin typeface="Times New Roman" pitchFamily="18" charset="0"/>
                    <a:cs typeface="Times New Roman" pitchFamily="18" charset="0"/>
                  </a:rPr>
                  <a:t>Substituting in equation  </a:t>
                </a:r>
                <a14:m>
                  <m:oMath xmlns:m="http://schemas.openxmlformats.org/officeDocument/2006/math">
                    <m:r>
                      <a:rPr lang="en-US" sz="2000" i="1">
                        <a:solidFill>
                          <a:srgbClr val="FF0000"/>
                        </a:solidFill>
                        <a:latin typeface="Cambria Math"/>
                        <a:cs typeface="Times New Roman" panose="02020603050405020304" pitchFamily="18" charset="0"/>
                      </a:rPr>
                      <m:t>𝑚</m:t>
                    </m:r>
                    <m:acc>
                      <m:accPr>
                        <m:chr m:val="̈"/>
                        <m:ctrlPr>
                          <a:rPr lang="en-IN" sz="2000" i="1">
                            <a:solidFill>
                              <a:srgbClr val="FF0000"/>
                            </a:solidFill>
                            <a:latin typeface="Cambria Math" panose="02040503050406030204" pitchFamily="18" charset="0"/>
                            <a:cs typeface="Times New Roman" panose="02020603050405020304" pitchFamily="18" charset="0"/>
                          </a:rPr>
                        </m:ctrlPr>
                      </m:accPr>
                      <m:e>
                        <m:r>
                          <a:rPr lang="en-US" sz="2000" i="1">
                            <a:solidFill>
                              <a:srgbClr val="FF0000"/>
                            </a:solidFill>
                            <a:latin typeface="Cambria Math"/>
                            <a:cs typeface="Times New Roman" panose="02020603050405020304" pitchFamily="18" charset="0"/>
                          </a:rPr>
                          <m:t>𝑥</m:t>
                        </m:r>
                      </m:e>
                    </m:acc>
                    <m:r>
                      <a:rPr lang="en-US" sz="2000" b="0" i="1" smtClean="0">
                        <a:solidFill>
                          <a:srgbClr val="FF0000"/>
                        </a:solidFill>
                        <a:latin typeface="Cambria Math"/>
                        <a:cs typeface="Times New Roman" panose="02020603050405020304" pitchFamily="18" charset="0"/>
                      </a:rPr>
                      <m:t>+</m:t>
                    </m:r>
                    <m:r>
                      <a:rPr lang="en-US" sz="2000" b="0" i="1" smtClean="0">
                        <a:solidFill>
                          <a:srgbClr val="FF0000"/>
                        </a:solidFill>
                        <a:latin typeface="Cambria Math"/>
                        <a:cs typeface="Times New Roman" panose="02020603050405020304" pitchFamily="18" charset="0"/>
                      </a:rPr>
                      <m:t>𝐶</m:t>
                    </m:r>
                    <m:acc>
                      <m:accPr>
                        <m:chr m:val="̇"/>
                        <m:ctrlPr>
                          <a:rPr lang="en-US" sz="2000" i="1">
                            <a:solidFill>
                              <a:srgbClr val="FF0000"/>
                            </a:solidFill>
                            <a:latin typeface="Cambria Math" panose="02040503050406030204" pitchFamily="18" charset="0"/>
                            <a:cs typeface="Times New Roman" pitchFamily="18" charset="0"/>
                          </a:rPr>
                        </m:ctrlPr>
                      </m:accPr>
                      <m:e>
                        <m:r>
                          <a:rPr lang="en-US" sz="2000" i="1">
                            <a:solidFill>
                              <a:srgbClr val="FF0000"/>
                            </a:solidFill>
                            <a:latin typeface="Cambria Math"/>
                            <a:cs typeface="Times New Roman" pitchFamily="18" charset="0"/>
                          </a:rPr>
                          <m:t>𝑥</m:t>
                        </m:r>
                      </m:e>
                    </m:acc>
                    <m:r>
                      <a:rPr lang="en-US" sz="2000" b="0" i="1" smtClean="0">
                        <a:solidFill>
                          <a:srgbClr val="FF0000"/>
                        </a:solidFill>
                        <a:latin typeface="Cambria Math"/>
                        <a:cs typeface="Times New Roman" panose="02020603050405020304" pitchFamily="18" charset="0"/>
                      </a:rPr>
                      <m:t>+</m:t>
                    </m:r>
                    <m:r>
                      <a:rPr lang="en-US" sz="2000" b="0" i="1" smtClean="0">
                        <a:solidFill>
                          <a:srgbClr val="FF0000"/>
                        </a:solidFill>
                        <a:latin typeface="Cambria Math"/>
                        <a:cs typeface="Times New Roman" panose="02020603050405020304" pitchFamily="18" charset="0"/>
                      </a:rPr>
                      <m:t>𝐾𝑥</m:t>
                    </m:r>
                    <m:r>
                      <a:rPr lang="en-US" sz="2000" i="1">
                        <a:solidFill>
                          <a:srgbClr val="FF0000"/>
                        </a:solidFill>
                        <a:latin typeface="Cambria Math"/>
                        <a:cs typeface="Times New Roman" panose="02020603050405020304" pitchFamily="18" charset="0"/>
                      </a:rPr>
                      <m:t>=</m:t>
                    </m:r>
                    <m:r>
                      <a:rPr lang="en-IN" sz="2000" i="1">
                        <a:solidFill>
                          <a:srgbClr val="FF0000"/>
                        </a:solidFill>
                        <a:latin typeface="Cambria Math" panose="02040503050406030204" pitchFamily="18" charset="0"/>
                        <a:cs typeface="Times New Roman" panose="02020603050405020304" pitchFamily="18" charset="0"/>
                      </a:rPr>
                      <m:t>𝐾</m:t>
                    </m:r>
                    <m:r>
                      <a:rPr lang="en-US" sz="2000" b="0" i="1" smtClean="0">
                        <a:solidFill>
                          <a:srgbClr val="FF0000"/>
                        </a:solidFill>
                        <a:latin typeface="Cambria Math"/>
                        <a:cs typeface="Times New Roman" panose="02020603050405020304" pitchFamily="18" charset="0"/>
                      </a:rPr>
                      <m:t>𝑦</m:t>
                    </m:r>
                    <m:r>
                      <a:rPr lang="en-US" sz="2000" b="0" i="1" smtClean="0">
                        <a:solidFill>
                          <a:srgbClr val="FF0000"/>
                        </a:solidFill>
                        <a:latin typeface="Cambria Math"/>
                        <a:cs typeface="Times New Roman" panose="02020603050405020304" pitchFamily="18" charset="0"/>
                      </a:rPr>
                      <m:t>+</m:t>
                    </m:r>
                    <m:r>
                      <a:rPr lang="en-US" sz="2000" i="1">
                        <a:solidFill>
                          <a:srgbClr val="FF0000"/>
                        </a:solidFill>
                        <a:latin typeface="Cambria Math"/>
                        <a:cs typeface="Times New Roman" panose="02020603050405020304" pitchFamily="18" charset="0"/>
                      </a:rPr>
                      <m:t>𝐶</m:t>
                    </m:r>
                    <m:acc>
                      <m:accPr>
                        <m:chr m:val="̇"/>
                        <m:ctrlPr>
                          <a:rPr lang="en-US" sz="2000" i="1">
                            <a:solidFill>
                              <a:srgbClr val="FF0000"/>
                            </a:solidFill>
                            <a:latin typeface="Cambria Math" panose="02040503050406030204" pitchFamily="18" charset="0"/>
                            <a:cs typeface="Times New Roman" panose="02020603050405020304" pitchFamily="18" charset="0"/>
                          </a:rPr>
                        </m:ctrlPr>
                      </m:accPr>
                      <m:e>
                        <m:r>
                          <a:rPr lang="en-US" sz="2000" i="1">
                            <a:solidFill>
                              <a:srgbClr val="FF0000"/>
                            </a:solidFill>
                            <a:latin typeface="Cambria Math"/>
                            <a:cs typeface="Times New Roman" panose="02020603050405020304" pitchFamily="18" charset="0"/>
                          </a:rPr>
                          <m:t>𝑦</m:t>
                        </m:r>
                      </m:e>
                    </m:acc>
                  </m:oMath>
                </a14:m>
                <a:r>
                  <a:rPr lang="en-IN" sz="2000" dirty="0">
                    <a:latin typeface="Times New Roman" pitchFamily="18" charset="0"/>
                    <a:cs typeface="Times New Roman" pitchFamily="18" charset="0"/>
                  </a:rPr>
                  <a:t> we get  </a:t>
                </a:r>
                <a14:m>
                  <m:oMath xmlns:m="http://schemas.openxmlformats.org/officeDocument/2006/math">
                    <m:r>
                      <a:rPr lang="en-US" sz="2000" i="1">
                        <a:solidFill>
                          <a:srgbClr val="FF0000"/>
                        </a:solidFill>
                        <a:latin typeface="Cambria Math"/>
                        <a:cs typeface="Times New Roman" panose="02020603050405020304" pitchFamily="18" charset="0"/>
                      </a:rPr>
                      <m:t>𝑚</m:t>
                    </m:r>
                    <m:acc>
                      <m:accPr>
                        <m:chr m:val="̈"/>
                        <m:ctrlPr>
                          <a:rPr lang="en-IN" sz="2000" i="1">
                            <a:solidFill>
                              <a:srgbClr val="FF0000"/>
                            </a:solidFill>
                            <a:latin typeface="Cambria Math" panose="02040503050406030204" pitchFamily="18" charset="0"/>
                            <a:cs typeface="Times New Roman" panose="02020603050405020304" pitchFamily="18" charset="0"/>
                          </a:rPr>
                        </m:ctrlPr>
                      </m:accPr>
                      <m:e>
                        <m:r>
                          <a:rPr lang="en-US" sz="2000" b="0" i="1" smtClean="0">
                            <a:solidFill>
                              <a:srgbClr val="FF0000"/>
                            </a:solidFill>
                            <a:latin typeface="Cambria Math"/>
                            <a:cs typeface="Times New Roman" panose="02020603050405020304" pitchFamily="18" charset="0"/>
                          </a:rPr>
                          <m:t>𝑧</m:t>
                        </m:r>
                      </m:e>
                    </m:acc>
                    <m:r>
                      <a:rPr lang="en-US" sz="2000" i="1">
                        <a:solidFill>
                          <a:srgbClr val="FF0000"/>
                        </a:solidFill>
                        <a:latin typeface="Cambria Math"/>
                        <a:cs typeface="Times New Roman" panose="02020603050405020304" pitchFamily="18" charset="0"/>
                      </a:rPr>
                      <m:t>+</m:t>
                    </m:r>
                    <m:r>
                      <a:rPr lang="en-US" sz="2000" i="1">
                        <a:solidFill>
                          <a:srgbClr val="FF0000"/>
                        </a:solidFill>
                        <a:latin typeface="Cambria Math"/>
                        <a:cs typeface="Times New Roman" panose="02020603050405020304" pitchFamily="18" charset="0"/>
                      </a:rPr>
                      <m:t>𝐶</m:t>
                    </m:r>
                    <m:acc>
                      <m:accPr>
                        <m:chr m:val="̇"/>
                        <m:ctrlPr>
                          <a:rPr lang="en-US" sz="2000" i="1">
                            <a:solidFill>
                              <a:srgbClr val="FF0000"/>
                            </a:solidFill>
                            <a:latin typeface="Cambria Math" panose="02040503050406030204" pitchFamily="18" charset="0"/>
                            <a:cs typeface="Times New Roman" panose="02020603050405020304" pitchFamily="18" charset="0"/>
                          </a:rPr>
                        </m:ctrlPr>
                      </m:accPr>
                      <m:e>
                        <m:r>
                          <a:rPr lang="en-US" sz="2000" b="0" i="1" smtClean="0">
                            <a:solidFill>
                              <a:srgbClr val="FF0000"/>
                            </a:solidFill>
                            <a:latin typeface="Cambria Math"/>
                            <a:cs typeface="Times New Roman" panose="02020603050405020304" pitchFamily="18" charset="0"/>
                          </a:rPr>
                          <m:t>𝑧</m:t>
                        </m:r>
                      </m:e>
                    </m:acc>
                    <m:r>
                      <a:rPr lang="en-US" sz="2000" i="1">
                        <a:solidFill>
                          <a:srgbClr val="FF0000"/>
                        </a:solidFill>
                        <a:latin typeface="Cambria Math"/>
                        <a:cs typeface="Times New Roman" panose="02020603050405020304" pitchFamily="18" charset="0"/>
                      </a:rPr>
                      <m:t>+</m:t>
                    </m:r>
                    <m:r>
                      <a:rPr lang="en-US" sz="2000" i="1">
                        <a:solidFill>
                          <a:srgbClr val="FF0000"/>
                        </a:solidFill>
                        <a:latin typeface="Cambria Math"/>
                        <a:cs typeface="Times New Roman" panose="02020603050405020304" pitchFamily="18" charset="0"/>
                      </a:rPr>
                      <m:t>𝐾𝑧</m:t>
                    </m:r>
                    <m:r>
                      <a:rPr lang="en-US" sz="2000" i="1">
                        <a:solidFill>
                          <a:srgbClr val="FF0000"/>
                        </a:solidFill>
                        <a:latin typeface="Cambria Math"/>
                        <a:cs typeface="Times New Roman" panose="02020603050405020304" pitchFamily="18" charset="0"/>
                      </a:rPr>
                      <m:t>=−</m:t>
                    </m:r>
                    <m:r>
                      <a:rPr lang="en-US" sz="2000" b="0" i="1" smtClean="0">
                        <a:solidFill>
                          <a:srgbClr val="FF0000"/>
                        </a:solidFill>
                        <a:latin typeface="Cambria Math"/>
                        <a:cs typeface="Times New Roman" panose="02020603050405020304" pitchFamily="18" charset="0"/>
                      </a:rPr>
                      <m:t>𝑚</m:t>
                    </m:r>
                    <m:acc>
                      <m:accPr>
                        <m:chr m:val="̈"/>
                        <m:ctrlPr>
                          <a:rPr lang="en-IN" sz="2000" i="1">
                            <a:solidFill>
                              <a:srgbClr val="FF0000"/>
                            </a:solidFill>
                            <a:latin typeface="Cambria Math" panose="02040503050406030204" pitchFamily="18" charset="0"/>
                            <a:cs typeface="Times New Roman" panose="02020603050405020304" pitchFamily="18" charset="0"/>
                          </a:rPr>
                        </m:ctrlPr>
                      </m:accPr>
                      <m:e>
                        <m:r>
                          <a:rPr lang="en-US" sz="2000" b="0" i="1" smtClean="0">
                            <a:solidFill>
                              <a:srgbClr val="FF0000"/>
                            </a:solidFill>
                            <a:latin typeface="Cambria Math"/>
                            <a:cs typeface="Times New Roman" panose="02020603050405020304" pitchFamily="18" charset="0"/>
                          </a:rPr>
                          <m:t>𝑦</m:t>
                        </m:r>
                      </m:e>
                    </m:acc>
                  </m:oMath>
                </a14:m>
                <a:r>
                  <a:rPr lang="en-US" sz="2000" b="0" dirty="0">
                    <a:solidFill>
                      <a:srgbClr val="FF0000"/>
                    </a:solidFill>
                    <a:latin typeface="Times New Roman" pitchFamily="18" charset="0"/>
                    <a:cs typeface="Times New Roman" panose="02020603050405020304" pitchFamily="18" charset="0"/>
                  </a:rPr>
                  <a:t> </a:t>
                </a:r>
              </a:p>
              <a:p>
                <a:r>
                  <a:rPr lang="en-US" sz="2000" dirty="0">
                    <a:latin typeface="Times New Roman" pitchFamily="18" charset="0"/>
                    <a:cs typeface="Times New Roman" pitchFamily="18" charset="0"/>
                  </a:rPr>
                  <a:t>Substituting for </a:t>
                </a:r>
                <a14:m>
                  <m:oMath xmlns:m="http://schemas.openxmlformats.org/officeDocument/2006/math">
                    <m:r>
                      <a:rPr lang="en-US" sz="2000" i="1">
                        <a:solidFill>
                          <a:srgbClr val="FF0000"/>
                        </a:solidFill>
                        <a:latin typeface="Cambria Math"/>
                        <a:cs typeface="Times New Roman" panose="02020603050405020304" pitchFamily="18" charset="0"/>
                      </a:rPr>
                      <m:t>𝑦</m:t>
                    </m:r>
                    <m:r>
                      <a:rPr lang="en-US" sz="2000" i="1">
                        <a:solidFill>
                          <a:srgbClr val="FF0000"/>
                        </a:solidFill>
                        <a:latin typeface="Cambria Math"/>
                        <a:cs typeface="Times New Roman" panose="02020603050405020304" pitchFamily="18" charset="0"/>
                      </a:rPr>
                      <m:t>=</m:t>
                    </m:r>
                    <m:r>
                      <a:rPr lang="en-US" sz="2000" i="1">
                        <a:solidFill>
                          <a:srgbClr val="FF0000"/>
                        </a:solidFill>
                        <a:latin typeface="Cambria Math"/>
                        <a:cs typeface="Times New Roman" panose="02020603050405020304" pitchFamily="18" charset="0"/>
                      </a:rPr>
                      <m:t>𝑌</m:t>
                    </m:r>
                    <m:func>
                      <m:funcPr>
                        <m:ctrlPr>
                          <a:rPr lang="en-IN" sz="2000" i="1">
                            <a:solidFill>
                              <a:srgbClr val="FF0000"/>
                            </a:solidFill>
                            <a:latin typeface="Cambria Math" panose="02040503050406030204" pitchFamily="18" charset="0"/>
                            <a:cs typeface="Times New Roman" panose="02020603050405020304" pitchFamily="18" charset="0"/>
                          </a:rPr>
                        </m:ctrlPr>
                      </m:funcPr>
                      <m:fName>
                        <m:r>
                          <m:rPr>
                            <m:sty m:val="p"/>
                          </m:rPr>
                          <a:rPr lang="en-US" sz="2000">
                            <a:solidFill>
                              <a:srgbClr val="FF0000"/>
                            </a:solidFill>
                            <a:latin typeface="Cambria Math"/>
                            <a:cs typeface="Times New Roman" panose="02020603050405020304" pitchFamily="18" charset="0"/>
                          </a:rPr>
                          <m:t>sin</m:t>
                        </m:r>
                      </m:fName>
                      <m:e>
                        <m:r>
                          <a:rPr lang="en-US" sz="2000" i="1">
                            <a:solidFill>
                              <a:srgbClr val="FF0000"/>
                            </a:solidFill>
                            <a:latin typeface="Cambria Math"/>
                            <a:ea typeface="Cambria Math"/>
                            <a:cs typeface="Times New Roman" panose="02020603050405020304" pitchFamily="18" charset="0"/>
                          </a:rPr>
                          <m:t>𝜔</m:t>
                        </m:r>
                        <m:r>
                          <a:rPr lang="en-US" sz="2000" i="1">
                            <a:solidFill>
                              <a:srgbClr val="FF0000"/>
                            </a:solidFill>
                            <a:latin typeface="Cambria Math"/>
                            <a:ea typeface="Cambria Math"/>
                            <a:cs typeface="Times New Roman" panose="02020603050405020304" pitchFamily="18" charset="0"/>
                          </a:rPr>
                          <m:t>𝑡</m:t>
                        </m:r>
                      </m:e>
                    </m:func>
                  </m:oMath>
                </a14:m>
                <a:r>
                  <a:rPr lang="en-US" sz="2000" dirty="0">
                    <a:solidFill>
                      <a:srgbClr val="FF0000"/>
                    </a:solidFill>
                    <a:latin typeface="Times New Roman" pitchFamily="18" charset="0"/>
                    <a:ea typeface="Cambria Math"/>
                    <a:cs typeface="Times New Roman" panose="02020603050405020304" pitchFamily="18" charset="0"/>
                  </a:rPr>
                  <a:t> , </a:t>
                </a:r>
                <a14:m>
                  <m:oMath xmlns:m="http://schemas.openxmlformats.org/officeDocument/2006/math">
                    <m:r>
                      <a:rPr lang="en-US" sz="2000" i="1">
                        <a:solidFill>
                          <a:srgbClr val="FF0000"/>
                        </a:solidFill>
                        <a:latin typeface="Cambria Math"/>
                        <a:cs typeface="Times New Roman" panose="02020603050405020304" pitchFamily="18" charset="0"/>
                      </a:rPr>
                      <m:t>𝑚</m:t>
                    </m:r>
                    <m:acc>
                      <m:accPr>
                        <m:chr m:val="̈"/>
                        <m:ctrlPr>
                          <a:rPr lang="en-IN" sz="2000" i="1">
                            <a:solidFill>
                              <a:srgbClr val="FF0000"/>
                            </a:solidFill>
                            <a:latin typeface="Cambria Math" panose="02040503050406030204" pitchFamily="18" charset="0"/>
                            <a:cs typeface="Times New Roman" panose="02020603050405020304" pitchFamily="18" charset="0"/>
                          </a:rPr>
                        </m:ctrlPr>
                      </m:accPr>
                      <m:e>
                        <m:r>
                          <a:rPr lang="en-US" sz="2000" i="1">
                            <a:solidFill>
                              <a:srgbClr val="FF0000"/>
                            </a:solidFill>
                            <a:latin typeface="Cambria Math"/>
                            <a:cs typeface="Times New Roman" panose="02020603050405020304" pitchFamily="18" charset="0"/>
                          </a:rPr>
                          <m:t>𝑧</m:t>
                        </m:r>
                      </m:e>
                    </m:acc>
                    <m:r>
                      <a:rPr lang="en-US" sz="2000" i="1">
                        <a:solidFill>
                          <a:srgbClr val="FF0000"/>
                        </a:solidFill>
                        <a:latin typeface="Cambria Math"/>
                        <a:cs typeface="Times New Roman" panose="02020603050405020304" pitchFamily="18" charset="0"/>
                      </a:rPr>
                      <m:t>+</m:t>
                    </m:r>
                    <m:r>
                      <a:rPr lang="en-US" sz="2000" i="1">
                        <a:solidFill>
                          <a:srgbClr val="FF0000"/>
                        </a:solidFill>
                        <a:latin typeface="Cambria Math"/>
                        <a:cs typeface="Times New Roman" panose="02020603050405020304" pitchFamily="18" charset="0"/>
                      </a:rPr>
                      <m:t>𝐶</m:t>
                    </m:r>
                    <m:acc>
                      <m:accPr>
                        <m:chr m:val="̇"/>
                        <m:ctrlPr>
                          <a:rPr lang="en-US" sz="2000" i="1">
                            <a:solidFill>
                              <a:srgbClr val="FF0000"/>
                            </a:solidFill>
                            <a:latin typeface="Cambria Math" panose="02040503050406030204" pitchFamily="18" charset="0"/>
                            <a:cs typeface="Times New Roman" panose="02020603050405020304" pitchFamily="18" charset="0"/>
                          </a:rPr>
                        </m:ctrlPr>
                      </m:accPr>
                      <m:e>
                        <m:r>
                          <a:rPr lang="en-US" sz="2000" i="1">
                            <a:solidFill>
                              <a:srgbClr val="FF0000"/>
                            </a:solidFill>
                            <a:latin typeface="Cambria Math"/>
                            <a:cs typeface="Times New Roman" panose="02020603050405020304" pitchFamily="18" charset="0"/>
                          </a:rPr>
                          <m:t>𝑧</m:t>
                        </m:r>
                      </m:e>
                    </m:acc>
                    <m:r>
                      <a:rPr lang="en-US" sz="2000" i="1">
                        <a:solidFill>
                          <a:srgbClr val="FF0000"/>
                        </a:solidFill>
                        <a:latin typeface="Cambria Math"/>
                        <a:cs typeface="Times New Roman" panose="02020603050405020304" pitchFamily="18" charset="0"/>
                      </a:rPr>
                      <m:t>+</m:t>
                    </m:r>
                    <m:r>
                      <a:rPr lang="en-US" sz="2000" i="1">
                        <a:solidFill>
                          <a:srgbClr val="FF0000"/>
                        </a:solidFill>
                        <a:latin typeface="Cambria Math"/>
                        <a:cs typeface="Times New Roman" panose="02020603050405020304" pitchFamily="18" charset="0"/>
                      </a:rPr>
                      <m:t>𝐾𝑧</m:t>
                    </m:r>
                    <m:r>
                      <a:rPr lang="en-US" sz="2000" i="1">
                        <a:solidFill>
                          <a:srgbClr val="FF0000"/>
                        </a:solidFill>
                        <a:latin typeface="Cambria Math"/>
                        <a:cs typeface="Times New Roman" panose="02020603050405020304" pitchFamily="18" charset="0"/>
                      </a:rPr>
                      <m:t>=−</m:t>
                    </m:r>
                    <m:r>
                      <a:rPr lang="en-US" sz="2000" i="1">
                        <a:solidFill>
                          <a:srgbClr val="FF0000"/>
                        </a:solidFill>
                        <a:latin typeface="Cambria Math"/>
                        <a:cs typeface="Times New Roman" panose="02020603050405020304" pitchFamily="18" charset="0"/>
                      </a:rPr>
                      <m:t>𝑚</m:t>
                    </m:r>
                    <m:sSup>
                      <m:sSupPr>
                        <m:ctrlPr>
                          <a:rPr lang="en-US" sz="2000" i="1" smtClean="0">
                            <a:solidFill>
                              <a:srgbClr val="FF0000"/>
                            </a:solidFill>
                            <a:latin typeface="Cambria Math" panose="02040503050406030204" pitchFamily="18" charset="0"/>
                            <a:cs typeface="Times New Roman" panose="02020603050405020304" pitchFamily="18" charset="0"/>
                          </a:rPr>
                        </m:ctrlPr>
                      </m:sSupPr>
                      <m:e>
                        <m:r>
                          <a:rPr lang="en-US" sz="2000" i="1" smtClean="0">
                            <a:solidFill>
                              <a:srgbClr val="FF0000"/>
                            </a:solidFill>
                            <a:latin typeface="Cambria Math"/>
                            <a:ea typeface="Cambria Math"/>
                            <a:cs typeface="Times New Roman" panose="02020603050405020304" pitchFamily="18" charset="0"/>
                          </a:rPr>
                          <m:t>𝜔</m:t>
                        </m:r>
                      </m:e>
                      <m:sup>
                        <m:r>
                          <a:rPr lang="en-US" sz="2000" b="0" i="1" smtClean="0">
                            <a:solidFill>
                              <a:srgbClr val="FF0000"/>
                            </a:solidFill>
                            <a:latin typeface="Cambria Math"/>
                            <a:cs typeface="Times New Roman" panose="02020603050405020304" pitchFamily="18" charset="0"/>
                          </a:rPr>
                          <m:t>2</m:t>
                        </m:r>
                      </m:sup>
                    </m:sSup>
                    <m:r>
                      <a:rPr lang="en-US" sz="2000" i="1">
                        <a:solidFill>
                          <a:srgbClr val="FF0000"/>
                        </a:solidFill>
                        <a:latin typeface="Cambria Math"/>
                        <a:cs typeface="Times New Roman" panose="02020603050405020304" pitchFamily="18" charset="0"/>
                      </a:rPr>
                      <m:t>𝑌</m:t>
                    </m:r>
                    <m:func>
                      <m:funcPr>
                        <m:ctrlPr>
                          <a:rPr lang="en-IN" sz="2000" i="1">
                            <a:solidFill>
                              <a:srgbClr val="FF0000"/>
                            </a:solidFill>
                            <a:latin typeface="Cambria Math" panose="02040503050406030204" pitchFamily="18" charset="0"/>
                            <a:cs typeface="Times New Roman" panose="02020603050405020304" pitchFamily="18" charset="0"/>
                          </a:rPr>
                        </m:ctrlPr>
                      </m:funcPr>
                      <m:fName>
                        <m:r>
                          <m:rPr>
                            <m:sty m:val="p"/>
                          </m:rPr>
                          <a:rPr lang="en-US" sz="2000">
                            <a:solidFill>
                              <a:srgbClr val="FF0000"/>
                            </a:solidFill>
                            <a:latin typeface="Cambria Math"/>
                            <a:cs typeface="Times New Roman" panose="02020603050405020304" pitchFamily="18" charset="0"/>
                          </a:rPr>
                          <m:t>sin</m:t>
                        </m:r>
                      </m:fName>
                      <m:e>
                        <m:r>
                          <a:rPr lang="en-US" sz="2000" i="1">
                            <a:solidFill>
                              <a:srgbClr val="FF0000"/>
                            </a:solidFill>
                            <a:latin typeface="Cambria Math"/>
                            <a:ea typeface="Cambria Math"/>
                            <a:cs typeface="Times New Roman" panose="02020603050405020304" pitchFamily="18" charset="0"/>
                          </a:rPr>
                          <m:t>𝜔</m:t>
                        </m:r>
                        <m:r>
                          <a:rPr lang="en-US" sz="2000" i="1">
                            <a:solidFill>
                              <a:srgbClr val="FF0000"/>
                            </a:solidFill>
                            <a:latin typeface="Cambria Math"/>
                            <a:ea typeface="Cambria Math"/>
                            <a:cs typeface="Times New Roman" panose="02020603050405020304" pitchFamily="18" charset="0"/>
                          </a:rPr>
                          <m:t>𝑡</m:t>
                        </m:r>
                      </m:e>
                    </m:func>
                  </m:oMath>
                </a14:m>
                <a:r>
                  <a:rPr lang="en-US" sz="2000" dirty="0">
                    <a:latin typeface="Times New Roman" pitchFamily="18" charset="0"/>
                    <a:cs typeface="Times New Roman" pitchFamily="18" charset="0"/>
                  </a:rPr>
                  <a:t> </a:t>
                </a:r>
                <a:endParaRPr lang="en-IN" sz="2000" dirty="0">
                  <a:latin typeface="Times New Roman" pitchFamily="18" charset="0"/>
                  <a:cs typeface="Times New Roman"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2488447" y="1073390"/>
                <a:ext cx="9504852" cy="3477875"/>
              </a:xfrm>
              <a:prstGeom prst="rect">
                <a:avLst/>
              </a:prstGeom>
              <a:blipFill rotWithShape="1">
                <a:blip r:embed="rId6"/>
                <a:stretch>
                  <a:fillRect l="-641" t="-13310" r="-1026" b="-210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Rectangle 54"/>
              <p:cNvSpPr/>
              <p:nvPr/>
            </p:nvSpPr>
            <p:spPr>
              <a:xfrm>
                <a:off x="309323" y="4634316"/>
                <a:ext cx="11687592" cy="1817870"/>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The steady state relative amplitude </a:t>
                </a:r>
                <a14:m>
                  <m:oMath xmlns:m="http://schemas.openxmlformats.org/officeDocument/2006/math">
                    <m:r>
                      <a:rPr lang="en-US" sz="2000" b="0" i="1" smtClean="0">
                        <a:solidFill>
                          <a:srgbClr val="FF0000"/>
                        </a:solidFill>
                        <a:latin typeface="Cambria Math"/>
                        <a:cs typeface="Times New Roman" panose="02020603050405020304" pitchFamily="18" charset="0"/>
                      </a:rPr>
                      <m:t>𝑍</m:t>
                    </m:r>
                    <m:r>
                      <a:rPr lang="en-US" sz="2000" i="1">
                        <a:solidFill>
                          <a:srgbClr val="FF0000"/>
                        </a:solidFill>
                        <a:latin typeface="Cambria Math"/>
                        <a:cs typeface="Times New Roman" panose="02020603050405020304" pitchFamily="18" charset="0"/>
                      </a:rPr>
                      <m:t> </m:t>
                    </m:r>
                  </m:oMath>
                </a14:m>
                <a:r>
                  <a:rPr lang="en-US" sz="2000" dirty="0">
                    <a:solidFill>
                      <a:schemeClr val="tx1"/>
                    </a:solidFill>
                    <a:latin typeface="Times New Roman" pitchFamily="18" charset="0"/>
                    <a:cs typeface="Times New Roman" pitchFamily="18" charset="0"/>
                  </a:rPr>
                  <a:t>and phase lag </a:t>
                </a:r>
                <a14:m>
                  <m:oMath xmlns:m="http://schemas.openxmlformats.org/officeDocument/2006/math">
                    <m:r>
                      <a:rPr lang="en-US" sz="2000" i="1">
                        <a:solidFill>
                          <a:srgbClr val="FF0000"/>
                        </a:solidFill>
                        <a:latin typeface="Cambria Math"/>
                        <a:ea typeface="Cambria Math"/>
                        <a:cs typeface="Times New Roman" panose="02020603050405020304" pitchFamily="18" charset="0"/>
                      </a:rPr>
                      <m:t>𝜙</m:t>
                    </m:r>
                    <m:r>
                      <a:rPr lang="en-US" sz="2000" i="1">
                        <a:solidFill>
                          <a:srgbClr val="FF0000"/>
                        </a:solidFill>
                        <a:latin typeface="Cambria Math"/>
                        <a:ea typeface="Cambria Math"/>
                        <a:cs typeface="Times New Roman" panose="02020603050405020304" pitchFamily="18" charset="0"/>
                      </a:rPr>
                      <m:t> </m:t>
                    </m:r>
                  </m:oMath>
                </a14:m>
                <a:r>
                  <a:rPr lang="en-US" sz="2000" dirty="0">
                    <a:solidFill>
                      <a:schemeClr val="tx1"/>
                    </a:solidFill>
                    <a:latin typeface="Times New Roman" pitchFamily="18" charset="0"/>
                    <a:cs typeface="Times New Roman" pitchFamily="18" charset="0"/>
                  </a:rPr>
                  <a:t>between the excitation and relative displacement given by</a:t>
                </a:r>
              </a:p>
              <a:p>
                <a:endParaRPr lang="en-US" sz="2000" dirty="0">
                  <a:solidFill>
                    <a:schemeClr val="tx1"/>
                  </a:solidFill>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 </a:t>
                </a:r>
                <a14:m>
                  <m:oMath xmlns:m="http://schemas.openxmlformats.org/officeDocument/2006/math">
                    <m:f>
                      <m:fPr>
                        <m:ctrlPr>
                          <a:rPr lang="en-US" sz="2000" i="1" smtClean="0">
                            <a:solidFill>
                              <a:schemeClr val="tx1"/>
                            </a:solidFill>
                            <a:latin typeface="Cambria Math" panose="02040503050406030204" pitchFamily="18" charset="0"/>
                            <a:cs typeface="Times New Roman" pitchFamily="18" charset="0"/>
                          </a:rPr>
                        </m:ctrlPr>
                      </m:fPr>
                      <m:num>
                        <m:r>
                          <a:rPr lang="en-US" sz="2000" b="0" i="1" smtClean="0">
                            <a:solidFill>
                              <a:srgbClr val="FF0000"/>
                            </a:solidFill>
                            <a:latin typeface="Cambria Math"/>
                            <a:cs typeface="Times New Roman" pitchFamily="18" charset="0"/>
                          </a:rPr>
                          <m:t>𝑍</m:t>
                        </m:r>
                      </m:num>
                      <m:den>
                        <m:r>
                          <a:rPr lang="en-US" sz="2000" i="1">
                            <a:solidFill>
                              <a:srgbClr val="FF0000"/>
                            </a:solidFill>
                            <a:latin typeface="Cambria Math"/>
                            <a:cs typeface="Times New Roman" pitchFamily="18" charset="0"/>
                          </a:rPr>
                          <m:t>𝑌</m:t>
                        </m:r>
                      </m:den>
                    </m:f>
                    <m:r>
                      <a:rPr lang="en-US" sz="2000" b="0" i="1" smtClean="0">
                        <a:solidFill>
                          <a:schemeClr val="tx1"/>
                        </a:solidFill>
                        <a:latin typeface="Cambria Math"/>
                        <a:cs typeface="Times New Roman" pitchFamily="18" charset="0"/>
                      </a:rPr>
                      <m:t>=</m:t>
                    </m:r>
                    <m:f>
                      <m:fPr>
                        <m:ctrlPr>
                          <a:rPr lang="en-US" sz="2000" b="0" i="1" smtClean="0">
                            <a:solidFill>
                              <a:schemeClr val="tx1"/>
                            </a:solidFill>
                            <a:latin typeface="Cambria Math" panose="02040503050406030204" pitchFamily="18" charset="0"/>
                            <a:cs typeface="Times New Roman" pitchFamily="18" charset="0"/>
                          </a:rPr>
                        </m:ctrlPr>
                      </m:fPr>
                      <m:num>
                        <m:sSup>
                          <m:sSupPr>
                            <m:ctrlPr>
                              <a:rPr lang="en-US" sz="2000" i="1">
                                <a:latin typeface="Cambria Math" panose="02040503050406030204" pitchFamily="18" charset="0"/>
                                <a:cs typeface="Times New Roman" pitchFamily="18" charset="0"/>
                              </a:rPr>
                            </m:ctrlPr>
                          </m:sSupPr>
                          <m:e>
                            <m:d>
                              <m:dPr>
                                <m:ctrlPr>
                                  <a:rPr lang="en-US" sz="2000" i="1">
                                    <a:solidFill>
                                      <a:srgbClr val="FF0000"/>
                                    </a:solidFill>
                                    <a:latin typeface="Cambria Math" panose="02040503050406030204" pitchFamily="18" charset="0"/>
                                    <a:ea typeface="Cambria Math"/>
                                    <a:cs typeface="Times New Roman" panose="02020603050405020304" pitchFamily="18" charset="0"/>
                                  </a:rPr>
                                </m:ctrlPr>
                              </m:dPr>
                              <m:e>
                                <m:f>
                                  <m:fPr>
                                    <m:ctrlPr>
                                      <a:rPr lang="en-US" sz="2000" i="1">
                                        <a:solidFill>
                                          <a:srgbClr val="FF0000"/>
                                        </a:solidFill>
                                        <a:latin typeface="Cambria Math" panose="02040503050406030204" pitchFamily="18" charset="0"/>
                                        <a:ea typeface="Cambria Math"/>
                                        <a:cs typeface="Times New Roman" panose="02020603050405020304" pitchFamily="18" charset="0"/>
                                      </a:rPr>
                                    </m:ctrlPr>
                                  </m:fPr>
                                  <m:num>
                                    <m:r>
                                      <a:rPr lang="en-US" sz="2000" i="1">
                                        <a:solidFill>
                                          <a:srgbClr val="FF0000"/>
                                        </a:solidFill>
                                        <a:latin typeface="Cambria Math"/>
                                        <a:ea typeface="Cambria Math"/>
                                        <a:cs typeface="Times New Roman" panose="02020603050405020304" pitchFamily="18" charset="0"/>
                                      </a:rPr>
                                      <m:t>𝜔</m:t>
                                    </m:r>
                                  </m:num>
                                  <m:den>
                                    <m:sSub>
                                      <m:sSubPr>
                                        <m:ctrlPr>
                                          <a:rPr lang="en-US" sz="2000" i="1">
                                            <a:solidFill>
                                              <a:srgbClr val="FF0000"/>
                                            </a:solidFill>
                                            <a:latin typeface="Cambria Math" panose="02040503050406030204" pitchFamily="18" charset="0"/>
                                            <a:ea typeface="Cambria Math"/>
                                            <a:cs typeface="Times New Roman" panose="02020603050405020304" pitchFamily="18" charset="0"/>
                                          </a:rPr>
                                        </m:ctrlPr>
                                      </m:sSubPr>
                                      <m:e>
                                        <m:r>
                                          <a:rPr lang="en-US" sz="2000" i="1">
                                            <a:solidFill>
                                              <a:srgbClr val="FF0000"/>
                                            </a:solidFill>
                                            <a:latin typeface="Cambria Math"/>
                                            <a:ea typeface="Cambria Math"/>
                                            <a:cs typeface="Times New Roman" panose="02020603050405020304" pitchFamily="18" charset="0"/>
                                          </a:rPr>
                                          <m:t>𝜔</m:t>
                                        </m:r>
                                      </m:e>
                                      <m:sub>
                                        <m:r>
                                          <a:rPr lang="en-US" sz="2000" i="1">
                                            <a:solidFill>
                                              <a:srgbClr val="FF0000"/>
                                            </a:solidFill>
                                            <a:latin typeface="Cambria Math"/>
                                            <a:ea typeface="Cambria Math"/>
                                            <a:cs typeface="Times New Roman" panose="02020603050405020304" pitchFamily="18" charset="0"/>
                                          </a:rPr>
                                          <m:t>𝑛</m:t>
                                        </m:r>
                                      </m:sub>
                                    </m:sSub>
                                  </m:den>
                                </m:f>
                              </m:e>
                            </m:d>
                          </m:e>
                          <m:sup>
                            <m:r>
                              <a:rPr lang="en-US" sz="2000" i="1">
                                <a:latin typeface="Cambria Math"/>
                                <a:cs typeface="Times New Roman" pitchFamily="18" charset="0"/>
                              </a:rPr>
                              <m:t>2</m:t>
                            </m:r>
                          </m:sup>
                        </m:sSup>
                      </m:num>
                      <m:den>
                        <m:rad>
                          <m:radPr>
                            <m:degHide m:val="on"/>
                            <m:ctrlPr>
                              <a:rPr lang="en-US" sz="2000" b="0" i="1" smtClean="0">
                                <a:solidFill>
                                  <a:schemeClr val="tx1"/>
                                </a:solidFill>
                                <a:latin typeface="Cambria Math" panose="02040503050406030204" pitchFamily="18" charset="0"/>
                                <a:cs typeface="Times New Roman" pitchFamily="18" charset="0"/>
                              </a:rPr>
                            </m:ctrlPr>
                          </m:radPr>
                          <m:deg/>
                          <m:e>
                            <m:sSup>
                              <m:sSupPr>
                                <m:ctrlPr>
                                  <a:rPr lang="en-US" sz="2000" b="0" i="1" smtClean="0">
                                    <a:solidFill>
                                      <a:schemeClr val="tx1"/>
                                    </a:solidFill>
                                    <a:latin typeface="Cambria Math" panose="02040503050406030204" pitchFamily="18" charset="0"/>
                                    <a:cs typeface="Times New Roman" pitchFamily="18" charset="0"/>
                                  </a:rPr>
                                </m:ctrlPr>
                              </m:sSupPr>
                              <m:e>
                                <m:d>
                                  <m:dPr>
                                    <m:begChr m:val="["/>
                                    <m:endChr m:val="]"/>
                                    <m:ctrlPr>
                                      <a:rPr lang="en-US" sz="2000" b="0" i="1" smtClean="0">
                                        <a:solidFill>
                                          <a:schemeClr val="tx1"/>
                                        </a:solidFill>
                                        <a:latin typeface="Cambria Math" panose="02040503050406030204" pitchFamily="18" charset="0"/>
                                        <a:cs typeface="Times New Roman" pitchFamily="18" charset="0"/>
                                      </a:rPr>
                                    </m:ctrlPr>
                                  </m:dPr>
                                  <m:e>
                                    <m:r>
                                      <a:rPr lang="en-US" sz="2000" b="0" i="1" smtClean="0">
                                        <a:solidFill>
                                          <a:schemeClr val="tx1"/>
                                        </a:solidFill>
                                        <a:latin typeface="Cambria Math"/>
                                        <a:cs typeface="Times New Roman" pitchFamily="18" charset="0"/>
                                      </a:rPr>
                                      <m:t>1−</m:t>
                                    </m:r>
                                    <m:sSup>
                                      <m:sSupPr>
                                        <m:ctrlPr>
                                          <a:rPr lang="en-US" sz="2000" i="1" smtClean="0">
                                            <a:solidFill>
                                              <a:srgbClr val="FF0000"/>
                                            </a:solidFill>
                                            <a:latin typeface="Cambria Math" panose="02040503050406030204" pitchFamily="18" charset="0"/>
                                            <a:ea typeface="Cambria Math"/>
                                            <a:cs typeface="Times New Roman" panose="02020603050405020304" pitchFamily="18" charset="0"/>
                                          </a:rPr>
                                        </m:ctrlPr>
                                      </m:sSupPr>
                                      <m:e>
                                        <m:d>
                                          <m:dPr>
                                            <m:ctrlPr>
                                              <a:rPr lang="en-US" sz="2000" i="1">
                                                <a:solidFill>
                                                  <a:srgbClr val="FF0000"/>
                                                </a:solidFill>
                                                <a:latin typeface="Cambria Math" panose="02040503050406030204" pitchFamily="18" charset="0"/>
                                                <a:ea typeface="Cambria Math"/>
                                                <a:cs typeface="Times New Roman" panose="02020603050405020304" pitchFamily="18" charset="0"/>
                                              </a:rPr>
                                            </m:ctrlPr>
                                          </m:dPr>
                                          <m:e>
                                            <m:f>
                                              <m:fPr>
                                                <m:ctrlPr>
                                                  <a:rPr lang="en-US" sz="2000" i="1">
                                                    <a:solidFill>
                                                      <a:srgbClr val="FF0000"/>
                                                    </a:solidFill>
                                                    <a:latin typeface="Cambria Math" panose="02040503050406030204" pitchFamily="18" charset="0"/>
                                                    <a:ea typeface="Cambria Math"/>
                                                    <a:cs typeface="Times New Roman" panose="02020603050405020304" pitchFamily="18" charset="0"/>
                                                  </a:rPr>
                                                </m:ctrlPr>
                                              </m:fPr>
                                              <m:num>
                                                <m:r>
                                                  <a:rPr lang="en-US" sz="2000" i="1">
                                                    <a:solidFill>
                                                      <a:srgbClr val="FF0000"/>
                                                    </a:solidFill>
                                                    <a:latin typeface="Cambria Math"/>
                                                    <a:ea typeface="Cambria Math"/>
                                                    <a:cs typeface="Times New Roman" panose="02020603050405020304" pitchFamily="18" charset="0"/>
                                                  </a:rPr>
                                                  <m:t>𝜔</m:t>
                                                </m:r>
                                              </m:num>
                                              <m:den>
                                                <m:sSub>
                                                  <m:sSubPr>
                                                    <m:ctrlPr>
                                                      <a:rPr lang="en-US" sz="2000" i="1">
                                                        <a:solidFill>
                                                          <a:srgbClr val="FF0000"/>
                                                        </a:solidFill>
                                                        <a:latin typeface="Cambria Math" panose="02040503050406030204" pitchFamily="18" charset="0"/>
                                                        <a:ea typeface="Cambria Math"/>
                                                        <a:cs typeface="Times New Roman" panose="02020603050405020304" pitchFamily="18" charset="0"/>
                                                      </a:rPr>
                                                    </m:ctrlPr>
                                                  </m:sSubPr>
                                                  <m:e>
                                                    <m:r>
                                                      <a:rPr lang="en-US" sz="2000" i="1">
                                                        <a:solidFill>
                                                          <a:srgbClr val="FF0000"/>
                                                        </a:solidFill>
                                                        <a:latin typeface="Cambria Math"/>
                                                        <a:ea typeface="Cambria Math"/>
                                                        <a:cs typeface="Times New Roman" panose="02020603050405020304" pitchFamily="18" charset="0"/>
                                                      </a:rPr>
                                                      <m:t>𝜔</m:t>
                                                    </m:r>
                                                  </m:e>
                                                  <m:sub>
                                                    <m:r>
                                                      <a:rPr lang="en-US" sz="2000" i="1">
                                                        <a:solidFill>
                                                          <a:srgbClr val="FF0000"/>
                                                        </a:solidFill>
                                                        <a:latin typeface="Cambria Math"/>
                                                        <a:ea typeface="Cambria Math"/>
                                                        <a:cs typeface="Times New Roman" panose="02020603050405020304" pitchFamily="18" charset="0"/>
                                                      </a:rPr>
                                                      <m:t>𝑛</m:t>
                                                    </m:r>
                                                  </m:sub>
                                                </m:sSub>
                                              </m:den>
                                            </m:f>
                                          </m:e>
                                        </m:d>
                                      </m:e>
                                      <m:sup>
                                        <m:r>
                                          <a:rPr lang="en-US" sz="2000" b="0" i="1" smtClean="0">
                                            <a:solidFill>
                                              <a:srgbClr val="FF0000"/>
                                            </a:solidFill>
                                            <a:latin typeface="Cambria Math"/>
                                            <a:ea typeface="Cambria Math"/>
                                            <a:cs typeface="Times New Roman" panose="02020603050405020304" pitchFamily="18" charset="0"/>
                                          </a:rPr>
                                          <m:t>2</m:t>
                                        </m:r>
                                      </m:sup>
                                    </m:sSup>
                                  </m:e>
                                </m:d>
                              </m:e>
                              <m:sup>
                                <m:r>
                                  <a:rPr lang="en-US" sz="2000" b="0" i="1" smtClean="0">
                                    <a:solidFill>
                                      <a:schemeClr val="tx1"/>
                                    </a:solidFill>
                                    <a:latin typeface="Cambria Math"/>
                                    <a:cs typeface="Times New Roman" pitchFamily="18" charset="0"/>
                                  </a:rPr>
                                  <m:t>2</m:t>
                                </m:r>
                              </m:sup>
                            </m:sSup>
                            <m:r>
                              <a:rPr lang="en-US" sz="2000" b="0" i="1" smtClean="0">
                                <a:solidFill>
                                  <a:schemeClr val="tx1"/>
                                </a:solidFill>
                                <a:latin typeface="Cambria Math"/>
                                <a:cs typeface="Times New Roman" pitchFamily="18" charset="0"/>
                              </a:rPr>
                              <m:t>+</m:t>
                            </m:r>
                            <m:sSup>
                              <m:sSupPr>
                                <m:ctrlPr>
                                  <a:rPr lang="en-US" sz="2000" b="0" i="1" smtClean="0">
                                    <a:solidFill>
                                      <a:schemeClr val="tx1"/>
                                    </a:solidFill>
                                    <a:latin typeface="Cambria Math" panose="02040503050406030204" pitchFamily="18" charset="0"/>
                                    <a:cs typeface="Times New Roman" pitchFamily="18" charset="0"/>
                                  </a:rPr>
                                </m:ctrlPr>
                              </m:sSupPr>
                              <m:e>
                                <m:d>
                                  <m:dPr>
                                    <m:begChr m:val="["/>
                                    <m:endChr m:val="]"/>
                                    <m:ctrlPr>
                                      <a:rPr lang="en-US" sz="2000" b="0" i="1" smtClean="0">
                                        <a:solidFill>
                                          <a:schemeClr val="tx1"/>
                                        </a:solidFill>
                                        <a:latin typeface="Cambria Math" panose="02040503050406030204" pitchFamily="18" charset="0"/>
                                        <a:cs typeface="Times New Roman" pitchFamily="18" charset="0"/>
                                      </a:rPr>
                                    </m:ctrlPr>
                                  </m:dPr>
                                  <m:e>
                                    <m:d>
                                      <m:dPr>
                                        <m:ctrlPr>
                                          <a:rPr lang="en-US" sz="2000" i="1">
                                            <a:solidFill>
                                              <a:srgbClr val="FF0000"/>
                                            </a:solidFill>
                                            <a:latin typeface="Cambria Math" panose="02040503050406030204" pitchFamily="18" charset="0"/>
                                            <a:ea typeface="Cambria Math"/>
                                            <a:cs typeface="Times New Roman" panose="02020603050405020304" pitchFamily="18" charset="0"/>
                                          </a:rPr>
                                        </m:ctrlPr>
                                      </m:dPr>
                                      <m:e>
                                        <m:r>
                                          <a:rPr lang="en-US" sz="2000" i="1">
                                            <a:solidFill>
                                              <a:srgbClr val="FF0000"/>
                                            </a:solidFill>
                                            <a:latin typeface="Cambria Math"/>
                                            <a:ea typeface="Cambria Math"/>
                                            <a:cs typeface="Times New Roman" panose="02020603050405020304" pitchFamily="18" charset="0"/>
                                          </a:rPr>
                                          <m:t>2</m:t>
                                        </m:r>
                                        <m:r>
                                          <a:rPr lang="en-US" sz="2000" i="1">
                                            <a:solidFill>
                                              <a:srgbClr val="FF0000"/>
                                            </a:solidFill>
                                            <a:latin typeface="Cambria Math"/>
                                            <a:ea typeface="Cambria Math"/>
                                            <a:cs typeface="Times New Roman" panose="02020603050405020304" pitchFamily="18" charset="0"/>
                                          </a:rPr>
                                          <m:t>𝜁</m:t>
                                        </m:r>
                                        <m:f>
                                          <m:fPr>
                                            <m:ctrlPr>
                                              <a:rPr lang="en-US" sz="2000" i="1">
                                                <a:solidFill>
                                                  <a:srgbClr val="FF0000"/>
                                                </a:solidFill>
                                                <a:latin typeface="Cambria Math" panose="02040503050406030204" pitchFamily="18" charset="0"/>
                                                <a:ea typeface="Cambria Math"/>
                                                <a:cs typeface="Times New Roman" panose="02020603050405020304" pitchFamily="18" charset="0"/>
                                              </a:rPr>
                                            </m:ctrlPr>
                                          </m:fPr>
                                          <m:num>
                                            <m:r>
                                              <a:rPr lang="en-US" sz="2000" i="1">
                                                <a:solidFill>
                                                  <a:srgbClr val="FF0000"/>
                                                </a:solidFill>
                                                <a:latin typeface="Cambria Math"/>
                                                <a:ea typeface="Cambria Math"/>
                                                <a:cs typeface="Times New Roman" panose="02020603050405020304" pitchFamily="18" charset="0"/>
                                              </a:rPr>
                                              <m:t>𝜔</m:t>
                                            </m:r>
                                          </m:num>
                                          <m:den>
                                            <m:sSub>
                                              <m:sSubPr>
                                                <m:ctrlPr>
                                                  <a:rPr lang="en-US" sz="2000" i="1">
                                                    <a:solidFill>
                                                      <a:srgbClr val="FF0000"/>
                                                    </a:solidFill>
                                                    <a:latin typeface="Cambria Math" panose="02040503050406030204" pitchFamily="18" charset="0"/>
                                                    <a:ea typeface="Cambria Math"/>
                                                    <a:cs typeface="Times New Roman" panose="02020603050405020304" pitchFamily="18" charset="0"/>
                                                  </a:rPr>
                                                </m:ctrlPr>
                                              </m:sSubPr>
                                              <m:e>
                                                <m:r>
                                                  <a:rPr lang="en-US" sz="2000" i="1">
                                                    <a:solidFill>
                                                      <a:srgbClr val="FF0000"/>
                                                    </a:solidFill>
                                                    <a:latin typeface="Cambria Math"/>
                                                    <a:ea typeface="Cambria Math"/>
                                                    <a:cs typeface="Times New Roman" panose="02020603050405020304" pitchFamily="18" charset="0"/>
                                                  </a:rPr>
                                                  <m:t>𝜔</m:t>
                                                </m:r>
                                              </m:e>
                                              <m:sub>
                                                <m:r>
                                                  <a:rPr lang="en-US" sz="2000" i="1">
                                                    <a:solidFill>
                                                      <a:srgbClr val="FF0000"/>
                                                    </a:solidFill>
                                                    <a:latin typeface="Cambria Math"/>
                                                    <a:ea typeface="Cambria Math"/>
                                                    <a:cs typeface="Times New Roman" panose="02020603050405020304" pitchFamily="18" charset="0"/>
                                                  </a:rPr>
                                                  <m:t>𝑛</m:t>
                                                </m:r>
                                              </m:sub>
                                            </m:sSub>
                                          </m:den>
                                        </m:f>
                                      </m:e>
                                    </m:d>
                                  </m:e>
                                </m:d>
                              </m:e>
                              <m:sup>
                                <m:r>
                                  <a:rPr lang="en-US" sz="2000" b="0" i="1" smtClean="0">
                                    <a:solidFill>
                                      <a:schemeClr val="tx1"/>
                                    </a:solidFill>
                                    <a:latin typeface="Cambria Math"/>
                                    <a:cs typeface="Times New Roman" pitchFamily="18" charset="0"/>
                                  </a:rPr>
                                  <m:t>2</m:t>
                                </m:r>
                              </m:sup>
                            </m:sSup>
                          </m:e>
                        </m:rad>
                      </m:den>
                    </m:f>
                  </m:oMath>
                </a14:m>
                <a:r>
                  <a:rPr lang="en-US" sz="2000" dirty="0">
                    <a:latin typeface="Times New Roman" pitchFamily="18" charset="0"/>
                    <a:cs typeface="Times New Roman" pitchFamily="18" charset="0"/>
                  </a:rPr>
                  <a:t>  and </a:t>
                </a:r>
                <a14:m>
                  <m:oMath xmlns:m="http://schemas.openxmlformats.org/officeDocument/2006/math">
                    <m:r>
                      <a:rPr lang="en-US" sz="2000" i="1" smtClean="0">
                        <a:solidFill>
                          <a:srgbClr val="FF0000"/>
                        </a:solidFill>
                        <a:latin typeface="Cambria Math"/>
                        <a:ea typeface="Cambria Math"/>
                        <a:cs typeface="Times New Roman" pitchFamily="18" charset="0"/>
                      </a:rPr>
                      <m:t>𝜙</m:t>
                    </m:r>
                    <m:r>
                      <a:rPr lang="en-US" sz="2000" b="0" i="1" smtClean="0">
                        <a:latin typeface="Cambria Math"/>
                        <a:ea typeface="Cambria Math"/>
                        <a:cs typeface="Times New Roman" pitchFamily="18" charset="0"/>
                      </a:rPr>
                      <m:t>=</m:t>
                    </m:r>
                    <m:func>
                      <m:funcPr>
                        <m:ctrlPr>
                          <a:rPr lang="en-US" sz="2000" b="0" i="1" smtClean="0">
                            <a:latin typeface="Cambria Math" panose="02040503050406030204" pitchFamily="18" charset="0"/>
                            <a:ea typeface="Cambria Math"/>
                            <a:cs typeface="Times New Roman" pitchFamily="18" charset="0"/>
                          </a:rPr>
                        </m:ctrlPr>
                      </m:funcPr>
                      <m:fName>
                        <m:sSup>
                          <m:sSupPr>
                            <m:ctrlPr>
                              <a:rPr lang="en-US" sz="2000" b="0" i="1" smtClean="0">
                                <a:latin typeface="Cambria Math" panose="02040503050406030204" pitchFamily="18" charset="0"/>
                                <a:ea typeface="Cambria Math"/>
                                <a:cs typeface="Times New Roman" pitchFamily="18" charset="0"/>
                              </a:rPr>
                            </m:ctrlPr>
                          </m:sSupPr>
                          <m:e>
                            <m:r>
                              <m:rPr>
                                <m:sty m:val="p"/>
                              </m:rPr>
                              <a:rPr lang="en-US" sz="2000" b="0" i="0" smtClean="0">
                                <a:latin typeface="Cambria Math"/>
                                <a:ea typeface="Cambria Math"/>
                                <a:cs typeface="Times New Roman" pitchFamily="18" charset="0"/>
                              </a:rPr>
                              <m:t>tan</m:t>
                            </m:r>
                          </m:e>
                          <m:sup>
                            <m:r>
                              <a:rPr lang="en-US" sz="2000" b="0" i="1" smtClean="0">
                                <a:latin typeface="Cambria Math"/>
                                <a:ea typeface="Cambria Math"/>
                                <a:cs typeface="Times New Roman" pitchFamily="18" charset="0"/>
                              </a:rPr>
                              <m:t>−1</m:t>
                            </m:r>
                          </m:sup>
                        </m:sSup>
                      </m:fName>
                      <m:e>
                        <m:d>
                          <m:dPr>
                            <m:begChr m:val="["/>
                            <m:endChr m:val="]"/>
                            <m:ctrlPr>
                              <a:rPr lang="en-US" sz="2000" b="0" i="1" smtClean="0">
                                <a:latin typeface="Cambria Math" panose="02040503050406030204" pitchFamily="18" charset="0"/>
                                <a:ea typeface="Cambria Math"/>
                                <a:cs typeface="Times New Roman" pitchFamily="18" charset="0"/>
                              </a:rPr>
                            </m:ctrlPr>
                          </m:dPr>
                          <m:e>
                            <m:f>
                              <m:fPr>
                                <m:ctrlPr>
                                  <a:rPr lang="en-US" sz="2000" b="0" i="1" smtClean="0">
                                    <a:latin typeface="Cambria Math" panose="02040503050406030204" pitchFamily="18" charset="0"/>
                                    <a:ea typeface="Cambria Math"/>
                                    <a:cs typeface="Times New Roman" pitchFamily="18" charset="0"/>
                                  </a:rPr>
                                </m:ctrlPr>
                              </m:fPr>
                              <m:num>
                                <m:r>
                                  <a:rPr lang="en-US" sz="2000" i="1">
                                    <a:solidFill>
                                      <a:srgbClr val="FF0000"/>
                                    </a:solidFill>
                                    <a:latin typeface="Cambria Math"/>
                                    <a:ea typeface="Cambria Math"/>
                                    <a:cs typeface="Times New Roman" panose="02020603050405020304" pitchFamily="18" charset="0"/>
                                  </a:rPr>
                                  <m:t>2</m:t>
                                </m:r>
                                <m:r>
                                  <a:rPr lang="en-US" sz="2000" i="1">
                                    <a:solidFill>
                                      <a:srgbClr val="FF0000"/>
                                    </a:solidFill>
                                    <a:latin typeface="Cambria Math"/>
                                    <a:ea typeface="Cambria Math"/>
                                    <a:cs typeface="Times New Roman" panose="02020603050405020304" pitchFamily="18" charset="0"/>
                                  </a:rPr>
                                  <m:t>𝜁</m:t>
                                </m:r>
                                <m:f>
                                  <m:fPr>
                                    <m:ctrlPr>
                                      <a:rPr lang="en-US" sz="2000" i="1">
                                        <a:solidFill>
                                          <a:srgbClr val="FF0000"/>
                                        </a:solidFill>
                                        <a:latin typeface="Cambria Math" panose="02040503050406030204" pitchFamily="18" charset="0"/>
                                        <a:ea typeface="Cambria Math"/>
                                        <a:cs typeface="Times New Roman" panose="02020603050405020304" pitchFamily="18" charset="0"/>
                                      </a:rPr>
                                    </m:ctrlPr>
                                  </m:fPr>
                                  <m:num>
                                    <m:r>
                                      <a:rPr lang="en-US" sz="2000" i="1">
                                        <a:solidFill>
                                          <a:srgbClr val="FF0000"/>
                                        </a:solidFill>
                                        <a:latin typeface="Cambria Math"/>
                                        <a:ea typeface="Cambria Math"/>
                                        <a:cs typeface="Times New Roman" panose="02020603050405020304" pitchFamily="18" charset="0"/>
                                      </a:rPr>
                                      <m:t>𝜔</m:t>
                                    </m:r>
                                  </m:num>
                                  <m:den>
                                    <m:sSub>
                                      <m:sSubPr>
                                        <m:ctrlPr>
                                          <a:rPr lang="en-US" sz="2000" i="1">
                                            <a:solidFill>
                                              <a:srgbClr val="FF0000"/>
                                            </a:solidFill>
                                            <a:latin typeface="Cambria Math" panose="02040503050406030204" pitchFamily="18" charset="0"/>
                                            <a:ea typeface="Cambria Math"/>
                                            <a:cs typeface="Times New Roman" panose="02020603050405020304" pitchFamily="18" charset="0"/>
                                          </a:rPr>
                                        </m:ctrlPr>
                                      </m:sSubPr>
                                      <m:e>
                                        <m:r>
                                          <a:rPr lang="en-US" sz="2000" i="1">
                                            <a:solidFill>
                                              <a:srgbClr val="FF0000"/>
                                            </a:solidFill>
                                            <a:latin typeface="Cambria Math"/>
                                            <a:ea typeface="Cambria Math"/>
                                            <a:cs typeface="Times New Roman" panose="02020603050405020304" pitchFamily="18" charset="0"/>
                                          </a:rPr>
                                          <m:t>𝜔</m:t>
                                        </m:r>
                                      </m:e>
                                      <m:sub>
                                        <m:r>
                                          <a:rPr lang="en-US" sz="2000" i="1">
                                            <a:solidFill>
                                              <a:srgbClr val="FF0000"/>
                                            </a:solidFill>
                                            <a:latin typeface="Cambria Math"/>
                                            <a:ea typeface="Cambria Math"/>
                                            <a:cs typeface="Times New Roman" panose="02020603050405020304" pitchFamily="18" charset="0"/>
                                          </a:rPr>
                                          <m:t>𝑛</m:t>
                                        </m:r>
                                      </m:sub>
                                    </m:sSub>
                                  </m:den>
                                </m:f>
                              </m:num>
                              <m:den>
                                <m:r>
                                  <a:rPr lang="en-US" sz="2000" b="0" i="1" smtClean="0">
                                    <a:latin typeface="Cambria Math"/>
                                    <a:ea typeface="Cambria Math"/>
                                    <a:cs typeface="Times New Roman" pitchFamily="18" charset="0"/>
                                  </a:rPr>
                                  <m:t>1−</m:t>
                                </m:r>
                                <m:sSup>
                                  <m:sSupPr>
                                    <m:ctrlPr>
                                      <a:rPr lang="en-US" sz="2000" i="1">
                                        <a:solidFill>
                                          <a:srgbClr val="FF0000"/>
                                        </a:solidFill>
                                        <a:latin typeface="Cambria Math" panose="02040503050406030204" pitchFamily="18" charset="0"/>
                                        <a:ea typeface="Cambria Math"/>
                                        <a:cs typeface="Times New Roman" panose="02020603050405020304" pitchFamily="18" charset="0"/>
                                      </a:rPr>
                                    </m:ctrlPr>
                                  </m:sSupPr>
                                  <m:e>
                                    <m:d>
                                      <m:dPr>
                                        <m:ctrlPr>
                                          <a:rPr lang="en-US" sz="2000" i="1">
                                            <a:solidFill>
                                              <a:srgbClr val="FF0000"/>
                                            </a:solidFill>
                                            <a:latin typeface="Cambria Math" panose="02040503050406030204" pitchFamily="18" charset="0"/>
                                            <a:ea typeface="Cambria Math"/>
                                            <a:cs typeface="Times New Roman" panose="02020603050405020304" pitchFamily="18" charset="0"/>
                                          </a:rPr>
                                        </m:ctrlPr>
                                      </m:dPr>
                                      <m:e>
                                        <m:f>
                                          <m:fPr>
                                            <m:ctrlPr>
                                              <a:rPr lang="en-US" sz="2000" i="1">
                                                <a:solidFill>
                                                  <a:srgbClr val="FF0000"/>
                                                </a:solidFill>
                                                <a:latin typeface="Cambria Math" panose="02040503050406030204" pitchFamily="18" charset="0"/>
                                                <a:ea typeface="Cambria Math"/>
                                                <a:cs typeface="Times New Roman" panose="02020603050405020304" pitchFamily="18" charset="0"/>
                                              </a:rPr>
                                            </m:ctrlPr>
                                          </m:fPr>
                                          <m:num>
                                            <m:r>
                                              <a:rPr lang="en-US" sz="2000" i="1">
                                                <a:solidFill>
                                                  <a:srgbClr val="FF0000"/>
                                                </a:solidFill>
                                                <a:latin typeface="Cambria Math"/>
                                                <a:ea typeface="Cambria Math"/>
                                                <a:cs typeface="Times New Roman" panose="02020603050405020304" pitchFamily="18" charset="0"/>
                                              </a:rPr>
                                              <m:t>𝜔</m:t>
                                            </m:r>
                                          </m:num>
                                          <m:den>
                                            <m:sSub>
                                              <m:sSubPr>
                                                <m:ctrlPr>
                                                  <a:rPr lang="en-US" sz="2000" i="1">
                                                    <a:solidFill>
                                                      <a:srgbClr val="FF0000"/>
                                                    </a:solidFill>
                                                    <a:latin typeface="Cambria Math" panose="02040503050406030204" pitchFamily="18" charset="0"/>
                                                    <a:ea typeface="Cambria Math"/>
                                                    <a:cs typeface="Times New Roman" panose="02020603050405020304" pitchFamily="18" charset="0"/>
                                                  </a:rPr>
                                                </m:ctrlPr>
                                              </m:sSubPr>
                                              <m:e>
                                                <m:r>
                                                  <a:rPr lang="en-US" sz="2000" i="1">
                                                    <a:solidFill>
                                                      <a:srgbClr val="FF0000"/>
                                                    </a:solidFill>
                                                    <a:latin typeface="Cambria Math"/>
                                                    <a:ea typeface="Cambria Math"/>
                                                    <a:cs typeface="Times New Roman" panose="02020603050405020304" pitchFamily="18" charset="0"/>
                                                  </a:rPr>
                                                  <m:t>𝜔</m:t>
                                                </m:r>
                                              </m:e>
                                              <m:sub>
                                                <m:r>
                                                  <a:rPr lang="en-US" sz="2000" i="1">
                                                    <a:solidFill>
                                                      <a:srgbClr val="FF0000"/>
                                                    </a:solidFill>
                                                    <a:latin typeface="Cambria Math"/>
                                                    <a:ea typeface="Cambria Math"/>
                                                    <a:cs typeface="Times New Roman" panose="02020603050405020304" pitchFamily="18" charset="0"/>
                                                  </a:rPr>
                                                  <m:t>𝑛</m:t>
                                                </m:r>
                                              </m:sub>
                                            </m:sSub>
                                          </m:den>
                                        </m:f>
                                      </m:e>
                                    </m:d>
                                  </m:e>
                                  <m:sup>
                                    <m:r>
                                      <a:rPr lang="en-US" sz="2000" i="1">
                                        <a:solidFill>
                                          <a:srgbClr val="FF0000"/>
                                        </a:solidFill>
                                        <a:latin typeface="Cambria Math"/>
                                        <a:ea typeface="Cambria Math"/>
                                        <a:cs typeface="Times New Roman" panose="02020603050405020304" pitchFamily="18" charset="0"/>
                                      </a:rPr>
                                      <m:t>2</m:t>
                                    </m:r>
                                  </m:sup>
                                </m:sSup>
                              </m:den>
                            </m:f>
                          </m:e>
                        </m:d>
                      </m:e>
                    </m:func>
                  </m:oMath>
                </a14:m>
                <a:endParaRPr lang="en-US" sz="2000" dirty="0">
                  <a:solidFill>
                    <a:schemeClr val="tx1"/>
                  </a:solidFill>
                  <a:latin typeface="Times New Roman" pitchFamily="18" charset="0"/>
                  <a:cs typeface="Times New Roman" pitchFamily="18" charset="0"/>
                </a:endParaRPr>
              </a:p>
            </p:txBody>
          </p:sp>
        </mc:Choice>
        <mc:Fallback xmlns="">
          <p:sp>
            <p:nvSpPr>
              <p:cNvPr id="55" name="Rectangle 54"/>
              <p:cNvSpPr>
                <a:spLocks noRot="1" noChangeAspect="1" noMove="1" noResize="1" noEditPoints="1" noAdjustHandles="1" noChangeArrowheads="1" noChangeShapeType="1" noTextEdit="1"/>
              </p:cNvSpPr>
              <p:nvPr/>
            </p:nvSpPr>
            <p:spPr>
              <a:xfrm>
                <a:off x="309323" y="4634316"/>
                <a:ext cx="11687592" cy="1817870"/>
              </a:xfrm>
              <a:prstGeom prst="rect">
                <a:avLst/>
              </a:prstGeom>
              <a:blipFill rotWithShape="1">
                <a:blip r:embed="rId7"/>
                <a:stretch>
                  <a:fillRect l="-574" t="-1678"/>
                </a:stretch>
              </a:blipFill>
            </p:spPr>
            <p:txBody>
              <a:bodyPr/>
              <a:lstStyle/>
              <a:p>
                <a:r>
                  <a:rPr lang="en-IN">
                    <a:noFill/>
                  </a:rPr>
                  <a:t> </a:t>
                </a:r>
              </a:p>
            </p:txBody>
          </p:sp>
        </mc:Fallback>
      </mc:AlternateContent>
    </p:spTree>
    <p:extLst>
      <p:ext uri="{BB962C8B-B14F-4D97-AF65-F5344CB8AC3E}">
        <p14:creationId xmlns:p14="http://schemas.microsoft.com/office/powerpoint/2010/main" val="2289447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Forced vibrations due to excitation of support</a:t>
            </a:r>
            <a:endParaRPr lang="en-IN" sz="3600" dirty="0">
              <a:solidFill>
                <a:srgbClr val="7030A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56" name="Rectangle 55"/>
              <p:cNvSpPr/>
              <p:nvPr/>
            </p:nvSpPr>
            <p:spPr>
              <a:xfrm>
                <a:off x="223328" y="1063944"/>
                <a:ext cx="11687592" cy="1323439"/>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The time of free vibration of mass  hung from the end of a helical spring is 0.8 second. When the mass is stationary, the upper end is made to move upwards with displacement </a:t>
                </a:r>
                <a14:m>
                  <m:oMath xmlns:m="http://schemas.openxmlformats.org/officeDocument/2006/math">
                    <m:r>
                      <a:rPr lang="en-US" sz="2000" b="0" i="1" smtClean="0">
                        <a:solidFill>
                          <a:srgbClr val="FF0000"/>
                        </a:solidFill>
                        <a:latin typeface="Cambria Math"/>
                        <a:cs typeface="Times New Roman" pitchFamily="18" charset="0"/>
                      </a:rPr>
                      <m:t>𝑦</m:t>
                    </m:r>
                    <m:r>
                      <a:rPr lang="en-US" sz="2000" b="0" i="1" smtClean="0">
                        <a:solidFill>
                          <a:srgbClr val="FF0000"/>
                        </a:solidFill>
                        <a:latin typeface="Cambria Math"/>
                        <a:cs typeface="Times New Roman" pitchFamily="18" charset="0"/>
                      </a:rPr>
                      <m:t>=18</m:t>
                    </m:r>
                    <m:func>
                      <m:funcPr>
                        <m:ctrlPr>
                          <a:rPr lang="en-US" sz="2000" b="0" i="1" smtClean="0">
                            <a:solidFill>
                              <a:srgbClr val="FF0000"/>
                            </a:solidFill>
                            <a:latin typeface="Cambria Math" panose="02040503050406030204" pitchFamily="18" charset="0"/>
                            <a:cs typeface="Times New Roman" pitchFamily="18" charset="0"/>
                          </a:rPr>
                        </m:ctrlPr>
                      </m:funcPr>
                      <m:fName>
                        <m:r>
                          <m:rPr>
                            <m:sty m:val="p"/>
                          </m:rPr>
                          <a:rPr lang="en-US" sz="2000" b="0" i="0" smtClean="0">
                            <a:solidFill>
                              <a:srgbClr val="FF0000"/>
                            </a:solidFill>
                            <a:latin typeface="Cambria Math"/>
                            <a:cs typeface="Times New Roman" pitchFamily="18" charset="0"/>
                          </a:rPr>
                          <m:t>sin</m:t>
                        </m:r>
                      </m:fName>
                      <m:e>
                        <m:r>
                          <a:rPr lang="en-US" sz="2000" b="0" i="1" smtClean="0">
                            <a:solidFill>
                              <a:srgbClr val="FF0000"/>
                            </a:solidFill>
                            <a:latin typeface="Cambria Math"/>
                            <a:cs typeface="Times New Roman" pitchFamily="18" charset="0"/>
                          </a:rPr>
                          <m:t>2</m:t>
                        </m:r>
                        <m:r>
                          <a:rPr lang="en-US" sz="2000" b="0" i="1" smtClean="0">
                            <a:solidFill>
                              <a:srgbClr val="FF0000"/>
                            </a:solidFill>
                            <a:latin typeface="Cambria Math"/>
                            <a:ea typeface="Cambria Math"/>
                            <a:cs typeface="Times New Roman" pitchFamily="18" charset="0"/>
                          </a:rPr>
                          <m:t>𝜋</m:t>
                        </m:r>
                        <m:r>
                          <a:rPr lang="en-US" sz="2000" b="0" i="1" smtClean="0">
                            <a:solidFill>
                              <a:srgbClr val="FF0000"/>
                            </a:solidFill>
                            <a:latin typeface="Cambria Math"/>
                            <a:ea typeface="Cambria Math"/>
                            <a:cs typeface="Times New Roman" pitchFamily="18" charset="0"/>
                          </a:rPr>
                          <m:t>𝑡</m:t>
                        </m:r>
                      </m:e>
                    </m:func>
                  </m:oMath>
                </a14:m>
                <a:r>
                  <a:rPr lang="en-US" sz="2000" dirty="0">
                    <a:solidFill>
                      <a:schemeClr val="tx1"/>
                    </a:solidFill>
                    <a:latin typeface="Times New Roman" pitchFamily="18" charset="0"/>
                    <a:cs typeface="Times New Roman" pitchFamily="18" charset="0"/>
                  </a:rPr>
                  <a:t> where </a:t>
                </a:r>
                <a14:m>
                  <m:oMath xmlns:m="http://schemas.openxmlformats.org/officeDocument/2006/math">
                    <m:r>
                      <a:rPr lang="en-US" sz="2000" b="0" i="1" smtClean="0">
                        <a:solidFill>
                          <a:srgbClr val="FF0000"/>
                        </a:solidFill>
                        <a:latin typeface="Cambria Math"/>
                        <a:cs typeface="Times New Roman" pitchFamily="18" charset="0"/>
                      </a:rPr>
                      <m:t>𝑡</m:t>
                    </m:r>
                  </m:oMath>
                </a14:m>
                <a:r>
                  <a:rPr lang="en-US" sz="2000" dirty="0">
                    <a:solidFill>
                      <a:schemeClr val="tx1"/>
                    </a:solidFill>
                    <a:latin typeface="Times New Roman" pitchFamily="18" charset="0"/>
                    <a:cs typeface="Times New Roman" pitchFamily="18" charset="0"/>
                  </a:rPr>
                  <a:t> is the time in seconds measured from  the beginning of the motion. Neglecting the mass of spring and damping effects, determine the vertical distance through which the mass is moved in first 0.3 seconds. </a:t>
                </a:r>
              </a:p>
            </p:txBody>
          </p:sp>
        </mc:Choice>
        <mc:Fallback xmlns="">
          <p:sp>
            <p:nvSpPr>
              <p:cNvPr id="56" name="Rectangle 55"/>
              <p:cNvSpPr>
                <a:spLocks noRot="1" noChangeAspect="1" noMove="1" noResize="1" noEditPoints="1" noAdjustHandles="1" noChangeArrowheads="1" noChangeShapeType="1" noTextEdit="1"/>
              </p:cNvSpPr>
              <p:nvPr/>
            </p:nvSpPr>
            <p:spPr>
              <a:xfrm>
                <a:off x="223328" y="1063944"/>
                <a:ext cx="11687592" cy="1323439"/>
              </a:xfrm>
              <a:prstGeom prst="rect">
                <a:avLst/>
              </a:prstGeom>
              <a:blipFill rotWithShape="1">
                <a:blip r:embed="rId2"/>
                <a:stretch>
                  <a:fillRect l="-574" t="-2304" b="-7373"/>
                </a:stretch>
              </a:blipFill>
            </p:spPr>
            <p:txBody>
              <a:bodyPr/>
              <a:lstStyle/>
              <a:p>
                <a:r>
                  <a:rPr lang="en-IN">
                    <a:noFill/>
                  </a:rPr>
                  <a:t> </a:t>
                </a:r>
              </a:p>
            </p:txBody>
          </p:sp>
        </mc:Fallback>
      </mc:AlternateContent>
    </p:spTree>
    <p:extLst>
      <p:ext uri="{BB962C8B-B14F-4D97-AF65-F5344CB8AC3E}">
        <p14:creationId xmlns:p14="http://schemas.microsoft.com/office/powerpoint/2010/main" val="4084755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Forced vibrations due to excitation of support</a:t>
            </a:r>
            <a:endParaRPr lang="en-IN" sz="3600" dirty="0">
              <a:solidFill>
                <a:srgbClr val="7030A0"/>
              </a:solidFill>
              <a:latin typeface="Times New Roman" pitchFamily="18" charset="0"/>
              <a:cs typeface="Times New Roman" pitchFamily="18" charset="0"/>
            </a:endParaRPr>
          </a:p>
        </p:txBody>
      </p:sp>
      <p:sp>
        <p:nvSpPr>
          <p:cNvPr id="56" name="Rectangle 55"/>
          <p:cNvSpPr/>
          <p:nvPr/>
        </p:nvSpPr>
        <p:spPr>
          <a:xfrm>
            <a:off x="223328" y="1063944"/>
            <a:ext cx="11687592" cy="1015663"/>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The support of a spring-mass system is vibrating with amplitude of 5 mm and a frequency of 1150 cycles/min. if the mass is 0.9 kg and the spring has a stiffness of 1960 N/m, determine the amplitude of vibration of the mass. What amplitude will result if a damping factor of 0.2 is included in the system ? </a:t>
            </a:r>
          </a:p>
        </p:txBody>
      </p:sp>
    </p:spTree>
    <p:extLst>
      <p:ext uri="{BB962C8B-B14F-4D97-AF65-F5344CB8AC3E}">
        <p14:creationId xmlns:p14="http://schemas.microsoft.com/office/powerpoint/2010/main" val="1685895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Forced vibrations due to excitation of support</a:t>
            </a:r>
            <a:endParaRPr lang="en-IN" sz="3600" dirty="0">
              <a:solidFill>
                <a:srgbClr val="7030A0"/>
              </a:solidFill>
              <a:latin typeface="Times New Roman" pitchFamily="18" charset="0"/>
              <a:cs typeface="Times New Roman" pitchFamily="18" charset="0"/>
            </a:endParaRPr>
          </a:p>
        </p:txBody>
      </p:sp>
      <p:sp>
        <p:nvSpPr>
          <p:cNvPr id="56" name="Rectangle 55"/>
          <p:cNvSpPr/>
          <p:nvPr/>
        </p:nvSpPr>
        <p:spPr>
          <a:xfrm>
            <a:off x="223328" y="1063944"/>
            <a:ext cx="11687592" cy="1015663"/>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The spring of an automobile trailer are compressed 0.1 m under its own weight. Find the critical speed when the trailer is travelling over a road with a profile approximated by a sine wave of amplitude 0.09 m and wave length of 14 meters. What will be the amplitude of vibration at 60 km/hour.</a:t>
            </a:r>
          </a:p>
        </p:txBody>
      </p:sp>
    </p:spTree>
    <p:extLst>
      <p:ext uri="{BB962C8B-B14F-4D97-AF65-F5344CB8AC3E}">
        <p14:creationId xmlns:p14="http://schemas.microsoft.com/office/powerpoint/2010/main" val="6254019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Vibration isolation and transmissibility</a:t>
            </a:r>
            <a:endParaRPr lang="en-IN" sz="3600" dirty="0">
              <a:solidFill>
                <a:srgbClr val="7030A0"/>
              </a:solidFill>
              <a:latin typeface="Times New Roman" pitchFamily="18" charset="0"/>
              <a:cs typeface="Times New Roman" pitchFamily="18" charset="0"/>
            </a:endParaRPr>
          </a:p>
        </p:txBody>
      </p:sp>
      <p:sp>
        <p:nvSpPr>
          <p:cNvPr id="56" name="Rectangle 55"/>
          <p:cNvSpPr/>
          <p:nvPr/>
        </p:nvSpPr>
        <p:spPr>
          <a:xfrm>
            <a:off x="223328" y="1105509"/>
            <a:ext cx="11687592" cy="1015663"/>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Many kinds of vibrations are undesirable and therefore should be eliminated or at least reduced. The inertia force developed in a reciprocating engine or unbalanced forces produced in any other rotating machinery should be isolated from the foundation so that the adjoining structure is not set into heavy vibration. </a:t>
            </a:r>
          </a:p>
        </p:txBody>
      </p:sp>
      <p:sp>
        <p:nvSpPr>
          <p:cNvPr id="5" name="Rectangle 4"/>
          <p:cNvSpPr/>
          <p:nvPr/>
        </p:nvSpPr>
        <p:spPr>
          <a:xfrm>
            <a:off x="305705" y="2643363"/>
            <a:ext cx="11687592" cy="1323439"/>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Effectiveness of isolation may be measured in term of force or motion transmitted to that in existence.</a:t>
            </a:r>
          </a:p>
          <a:p>
            <a:pPr marL="342900" indent="-342900">
              <a:buFont typeface="Arial" panose="020B0604020202020204" pitchFamily="34" charset="0"/>
              <a:buChar char="•"/>
            </a:pPr>
            <a:r>
              <a:rPr lang="en-US" sz="2000" dirty="0">
                <a:latin typeface="Times New Roman" pitchFamily="18" charset="0"/>
                <a:cs typeface="Times New Roman" pitchFamily="18" charset="0"/>
              </a:rPr>
              <a:t>Force isolation</a:t>
            </a:r>
          </a:p>
          <a:p>
            <a:pPr marL="342900" indent="-342900">
              <a:buFont typeface="Arial" panose="020B0604020202020204" pitchFamily="34" charset="0"/>
              <a:buChar char="•"/>
            </a:pPr>
            <a:r>
              <a:rPr lang="en-US" sz="2000" dirty="0">
                <a:solidFill>
                  <a:schemeClr val="tx1"/>
                </a:solidFill>
                <a:latin typeface="Times New Roman" pitchFamily="18" charset="0"/>
                <a:cs typeface="Times New Roman" pitchFamily="18" charset="0"/>
              </a:rPr>
              <a:t>Motion isolation</a:t>
            </a:r>
          </a:p>
          <a:p>
            <a:r>
              <a:rPr lang="en-US" sz="2000" dirty="0">
                <a:latin typeface="Times New Roman" pitchFamily="18" charset="0"/>
                <a:cs typeface="Times New Roman" pitchFamily="18" charset="0"/>
              </a:rPr>
              <a:t>The lesser the force or motion transmitted the grater is said to be the isolation.</a:t>
            </a:r>
            <a:endParaRPr lang="en-US" sz="2000" dirty="0">
              <a:solidFill>
                <a:schemeClr val="tx1"/>
              </a:solidFill>
              <a:latin typeface="Times New Roman" pitchFamily="18" charset="0"/>
              <a:cs typeface="Times New Roman" pitchFamily="18" charset="0"/>
            </a:endParaRPr>
          </a:p>
        </p:txBody>
      </p:sp>
      <p:sp>
        <p:nvSpPr>
          <p:cNvPr id="6" name="Rectangle 5"/>
          <p:cNvSpPr/>
          <p:nvPr/>
        </p:nvSpPr>
        <p:spPr>
          <a:xfrm>
            <a:off x="413770" y="4580228"/>
            <a:ext cx="11497150" cy="1631216"/>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Way of reducing transmitted vibrations by vibration isolation, which is obtained by placing properly chosen isolation materials between the vibrating body and supporting structure. Isolating materials</a:t>
            </a:r>
          </a:p>
          <a:p>
            <a:pPr marL="342900" indent="-342900">
              <a:buFont typeface="Arial" panose="020B0604020202020204" pitchFamily="34" charset="0"/>
              <a:buChar char="•"/>
            </a:pPr>
            <a:r>
              <a:rPr lang="en-US" sz="2000" dirty="0">
                <a:latin typeface="Times New Roman" pitchFamily="18" charset="0"/>
                <a:cs typeface="Times New Roman" pitchFamily="18" charset="0"/>
              </a:rPr>
              <a:t>Pads of rubber</a:t>
            </a:r>
          </a:p>
          <a:p>
            <a:pPr marL="342900" indent="-342900">
              <a:buFont typeface="Arial" panose="020B0604020202020204" pitchFamily="34" charset="0"/>
              <a:buChar char="•"/>
            </a:pPr>
            <a:r>
              <a:rPr lang="en-US" sz="2000" dirty="0">
                <a:latin typeface="Times New Roman" pitchFamily="18" charset="0"/>
                <a:cs typeface="Times New Roman" pitchFamily="18" charset="0"/>
              </a:rPr>
              <a:t>Felt or cock</a:t>
            </a:r>
          </a:p>
          <a:p>
            <a:pPr marL="342900" indent="-342900">
              <a:buFont typeface="Arial" panose="020B0604020202020204" pitchFamily="34" charset="0"/>
              <a:buChar char="•"/>
            </a:pPr>
            <a:r>
              <a:rPr lang="en-US" sz="2000" dirty="0">
                <a:solidFill>
                  <a:schemeClr val="tx1"/>
                </a:solidFill>
                <a:latin typeface="Times New Roman" pitchFamily="18" charset="0"/>
                <a:cs typeface="Times New Roman" pitchFamily="18" charset="0"/>
              </a:rPr>
              <a:t>Metallic spring</a:t>
            </a:r>
          </a:p>
        </p:txBody>
      </p:sp>
    </p:spTree>
    <p:extLst>
      <p:ext uri="{BB962C8B-B14F-4D97-AF65-F5344CB8AC3E}">
        <p14:creationId xmlns:p14="http://schemas.microsoft.com/office/powerpoint/2010/main" val="887123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 transmissibility</a:t>
            </a:r>
            <a:endParaRPr lang="en-IN" sz="3600" dirty="0">
              <a:solidFill>
                <a:srgbClr val="7030A0"/>
              </a:solidFill>
              <a:latin typeface="Times New Roman" pitchFamily="18" charset="0"/>
              <a:cs typeface="Times New Roman" pitchFamily="18" charset="0"/>
            </a:endParaRPr>
          </a:p>
        </p:txBody>
      </p:sp>
      <p:pic>
        <p:nvPicPr>
          <p:cNvPr id="3" name="Picture 2"/>
          <p:cNvPicPr>
            <a:picLocks noChangeAspect="1"/>
          </p:cNvPicPr>
          <p:nvPr/>
        </p:nvPicPr>
        <p:blipFill>
          <a:blip r:embed="rId2"/>
          <a:stretch>
            <a:fillRect/>
          </a:stretch>
        </p:blipFill>
        <p:spPr>
          <a:xfrm>
            <a:off x="461540" y="1278083"/>
            <a:ext cx="2324424" cy="3686689"/>
          </a:xfrm>
          <a:prstGeom prst="rect">
            <a:avLst/>
          </a:prstGeom>
        </p:spPr>
      </p:pic>
      <p:pic>
        <p:nvPicPr>
          <p:cNvPr id="4" name="Picture 3"/>
          <p:cNvPicPr>
            <a:picLocks noChangeAspect="1"/>
          </p:cNvPicPr>
          <p:nvPr/>
        </p:nvPicPr>
        <p:blipFill>
          <a:blip r:embed="rId3"/>
          <a:stretch>
            <a:fillRect/>
          </a:stretch>
        </p:blipFill>
        <p:spPr>
          <a:xfrm>
            <a:off x="2508862" y="1408205"/>
            <a:ext cx="4048690" cy="4058216"/>
          </a:xfrm>
          <a:prstGeom prst="rect">
            <a:avLst/>
          </a:prstGeom>
        </p:spPr>
      </p:pic>
      <p:sp>
        <p:nvSpPr>
          <p:cNvPr id="8" name="Rectangle 7"/>
          <p:cNvSpPr/>
          <p:nvPr/>
        </p:nvSpPr>
        <p:spPr>
          <a:xfrm>
            <a:off x="6691745" y="1105509"/>
            <a:ext cx="5219175" cy="5016758"/>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Transmissibility in case of force excited system is defined as the ratio of the force transmitted to the foundation to that impressed upon the system.</a:t>
            </a:r>
          </a:p>
          <a:p>
            <a:endParaRPr lang="en-US" sz="2000" dirty="0">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Fig. </a:t>
            </a:r>
            <a:r>
              <a:rPr lang="en-US" sz="2000" dirty="0">
                <a:latin typeface="Times New Roman" pitchFamily="18" charset="0"/>
                <a:cs typeface="Times New Roman" pitchFamily="18" charset="0"/>
              </a:rPr>
              <a:t>(a) shows a mass support on the foundation by means of an isolator having an equivalent stiffness and damping.</a:t>
            </a:r>
          </a:p>
          <a:p>
            <a:endParaRPr lang="en-US" sz="2000" dirty="0">
              <a:solidFill>
                <a:schemeClr val="tx1"/>
              </a:solidFill>
              <a:latin typeface="Times New Roman" pitchFamily="18" charset="0"/>
              <a:cs typeface="Times New Roman" pitchFamily="18" charset="0"/>
            </a:endParaRPr>
          </a:p>
          <a:p>
            <a:r>
              <a:rPr lang="en-US" sz="2000" dirty="0">
                <a:latin typeface="Times New Roman" pitchFamily="18" charset="0"/>
                <a:cs typeface="Times New Roman" pitchFamily="18" charset="0"/>
              </a:rPr>
              <a:t>Under steady state conditions, forces acting on the mass can be represented by means of a vector diagram (Fig. b).</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Spring force and dashpot force are the two common forces acting on the mass as well as foundation.</a:t>
            </a:r>
            <a:endParaRPr lang="en-US"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907272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 transmissibility</a:t>
            </a:r>
            <a:endParaRPr lang="en-IN" sz="3600" dirty="0">
              <a:solidFill>
                <a:srgbClr val="7030A0"/>
              </a:solidFill>
              <a:latin typeface="Times New Roman" pitchFamily="18" charset="0"/>
              <a:cs typeface="Times New Roman" pitchFamily="18" charset="0"/>
            </a:endParaRPr>
          </a:p>
        </p:txBody>
      </p:sp>
      <p:pic>
        <p:nvPicPr>
          <p:cNvPr id="5" name="Picture 4"/>
          <p:cNvPicPr>
            <a:picLocks noChangeAspect="1"/>
          </p:cNvPicPr>
          <p:nvPr/>
        </p:nvPicPr>
        <p:blipFill>
          <a:blip r:embed="rId2"/>
          <a:stretch>
            <a:fillRect/>
          </a:stretch>
        </p:blipFill>
        <p:spPr>
          <a:xfrm>
            <a:off x="322707" y="1457324"/>
            <a:ext cx="3982006" cy="3743847"/>
          </a:xfrm>
          <a:prstGeom prst="rect">
            <a:avLst/>
          </a:prstGeom>
        </p:spPr>
      </p:pic>
      <mc:AlternateContent xmlns:mc="http://schemas.openxmlformats.org/markup-compatibility/2006" xmlns:a14="http://schemas.microsoft.com/office/drawing/2010/main">
        <mc:Choice Requires="a14">
          <p:sp>
            <p:nvSpPr>
              <p:cNvPr id="8" name="Rectangle 7"/>
              <p:cNvSpPr/>
              <p:nvPr/>
            </p:nvSpPr>
            <p:spPr>
              <a:xfrm>
                <a:off x="4222865" y="1097196"/>
                <a:ext cx="7688055" cy="5370573"/>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Force transmitted to the foundation is the vector sum of spring force and damping force acting in the directions opposite to that of the mass. </a:t>
                </a:r>
              </a:p>
              <a:p>
                <a:endParaRPr lang="en-US" sz="2000"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cs typeface="Times New Roman" pitchFamily="18" charset="0"/>
                            </a:rPr>
                          </m:ctrlPr>
                        </m:sSubPr>
                        <m:e>
                          <m:r>
                            <a:rPr lang="en-US" sz="2000" b="0" i="1" smtClean="0">
                              <a:solidFill>
                                <a:schemeClr val="tx1"/>
                              </a:solidFill>
                              <a:latin typeface="Cambria Math" panose="02040503050406030204" pitchFamily="18" charset="0"/>
                              <a:cs typeface="Times New Roman" pitchFamily="18" charset="0"/>
                            </a:rPr>
                            <m:t>𝐹</m:t>
                          </m:r>
                        </m:e>
                        <m:sub>
                          <m:r>
                            <a:rPr lang="en-US" sz="2000" b="0" i="1" smtClean="0">
                              <a:solidFill>
                                <a:schemeClr val="tx1"/>
                              </a:solidFill>
                              <a:latin typeface="Cambria Math" panose="02040503050406030204" pitchFamily="18" charset="0"/>
                              <a:cs typeface="Times New Roman" pitchFamily="18" charset="0"/>
                            </a:rPr>
                            <m:t>𝑡𝑟</m:t>
                          </m:r>
                        </m:sub>
                      </m:sSub>
                      <m:r>
                        <a:rPr lang="en-US" sz="2000" b="0" i="1" smtClean="0">
                          <a:solidFill>
                            <a:schemeClr val="tx1"/>
                          </a:solidFill>
                          <a:latin typeface="Cambria Math" panose="02040503050406030204" pitchFamily="18" charset="0"/>
                          <a:cs typeface="Times New Roman" pitchFamily="18" charset="0"/>
                        </a:rPr>
                        <m:t>=</m:t>
                      </m:r>
                      <m:rad>
                        <m:radPr>
                          <m:degHide m:val="on"/>
                          <m:ctrlPr>
                            <a:rPr lang="en-US" sz="2000" b="0" i="1" smtClean="0">
                              <a:solidFill>
                                <a:schemeClr val="tx1"/>
                              </a:solidFill>
                              <a:latin typeface="Cambria Math" panose="02040503050406030204" pitchFamily="18" charset="0"/>
                              <a:cs typeface="Times New Roman" pitchFamily="18" charset="0"/>
                            </a:rPr>
                          </m:ctrlPr>
                        </m:radPr>
                        <m:deg/>
                        <m:e>
                          <m:sSup>
                            <m:sSupPr>
                              <m:ctrlPr>
                                <a:rPr lang="en-US" sz="2000" b="0" i="1" smtClean="0">
                                  <a:solidFill>
                                    <a:schemeClr val="tx1"/>
                                  </a:solidFill>
                                  <a:latin typeface="Cambria Math" panose="02040503050406030204" pitchFamily="18" charset="0"/>
                                  <a:cs typeface="Times New Roman" pitchFamily="18" charset="0"/>
                                </a:rPr>
                              </m:ctrlPr>
                            </m:sSupPr>
                            <m:e>
                              <m:d>
                                <m:dPr>
                                  <m:ctrlPr>
                                    <a:rPr lang="en-US" sz="2000" b="0" i="1" smtClean="0">
                                      <a:solidFill>
                                        <a:schemeClr val="tx1"/>
                                      </a:solidFill>
                                      <a:latin typeface="Cambria Math" panose="02040503050406030204" pitchFamily="18" charset="0"/>
                                      <a:cs typeface="Times New Roman" pitchFamily="18" charset="0"/>
                                    </a:rPr>
                                  </m:ctrlPr>
                                </m:dPr>
                                <m:e>
                                  <m:r>
                                    <a:rPr lang="en-US" sz="2000" b="0" i="1" smtClean="0">
                                      <a:solidFill>
                                        <a:schemeClr val="tx1"/>
                                      </a:solidFill>
                                      <a:latin typeface="Cambria Math" panose="02040503050406030204" pitchFamily="18" charset="0"/>
                                      <a:cs typeface="Times New Roman" pitchFamily="18" charset="0"/>
                                    </a:rPr>
                                    <m:t>𝑘𝑋</m:t>
                                  </m:r>
                                </m:e>
                              </m:d>
                            </m:e>
                            <m:sup>
                              <m:r>
                                <a:rPr lang="en-US" sz="2000" b="0" i="1" smtClean="0">
                                  <a:solidFill>
                                    <a:schemeClr val="tx1"/>
                                  </a:solidFill>
                                  <a:latin typeface="Cambria Math" panose="02040503050406030204" pitchFamily="18" charset="0"/>
                                  <a:cs typeface="Times New Roman" pitchFamily="18" charset="0"/>
                                </a:rPr>
                                <m:t>2</m:t>
                              </m:r>
                            </m:sup>
                          </m:sSup>
                          <m:r>
                            <a:rPr lang="en-US" sz="2000" b="0" i="1" smtClean="0">
                              <a:solidFill>
                                <a:schemeClr val="tx1"/>
                              </a:solidFill>
                              <a:latin typeface="Cambria Math" panose="02040503050406030204" pitchFamily="18" charset="0"/>
                              <a:cs typeface="Times New Roman" pitchFamily="18" charset="0"/>
                            </a:rPr>
                            <m:t>+</m:t>
                          </m:r>
                          <m:sSup>
                            <m:sSupPr>
                              <m:ctrlPr>
                                <a:rPr lang="en-US" sz="2000" b="0" i="1" smtClean="0">
                                  <a:solidFill>
                                    <a:schemeClr val="tx1"/>
                                  </a:solidFill>
                                  <a:latin typeface="Cambria Math" panose="02040503050406030204" pitchFamily="18" charset="0"/>
                                  <a:cs typeface="Times New Roman" pitchFamily="18" charset="0"/>
                                </a:rPr>
                              </m:ctrlPr>
                            </m:sSupPr>
                            <m:e>
                              <m:d>
                                <m:dPr>
                                  <m:ctrlPr>
                                    <a:rPr lang="en-US" sz="2000" b="0" i="1" smtClean="0">
                                      <a:solidFill>
                                        <a:schemeClr val="tx1"/>
                                      </a:solidFill>
                                      <a:latin typeface="Cambria Math" panose="02040503050406030204" pitchFamily="18" charset="0"/>
                                      <a:cs typeface="Times New Roman" pitchFamily="18" charset="0"/>
                                    </a:rPr>
                                  </m:ctrlPr>
                                </m:dPr>
                                <m:e>
                                  <m:r>
                                    <a:rPr lang="en-US" sz="2000" b="0" i="1" smtClean="0">
                                      <a:solidFill>
                                        <a:schemeClr val="tx1"/>
                                      </a:solidFill>
                                      <a:latin typeface="Cambria Math" panose="02040503050406030204" pitchFamily="18" charset="0"/>
                                      <a:cs typeface="Times New Roman" pitchFamily="18" charset="0"/>
                                    </a:rPr>
                                    <m:t>𝑐</m:t>
                                  </m:r>
                                  <m:r>
                                    <a:rPr lang="en-US" sz="2000" b="0" i="1" smtClean="0">
                                      <a:solidFill>
                                        <a:schemeClr val="tx1"/>
                                      </a:solidFill>
                                      <a:latin typeface="Cambria Math" panose="02040503050406030204" pitchFamily="18" charset="0"/>
                                      <a:ea typeface="Cambria Math" panose="02040503050406030204" pitchFamily="18" charset="0"/>
                                      <a:cs typeface="Times New Roman" pitchFamily="18" charset="0"/>
                                    </a:rPr>
                                    <m:t>𝜔</m:t>
                                  </m:r>
                                  <m:r>
                                    <a:rPr lang="en-US" sz="2000" b="0" i="1" smtClean="0">
                                      <a:solidFill>
                                        <a:schemeClr val="tx1"/>
                                      </a:solidFill>
                                      <a:latin typeface="Cambria Math" panose="02040503050406030204" pitchFamily="18" charset="0"/>
                                      <a:ea typeface="Cambria Math" panose="02040503050406030204" pitchFamily="18" charset="0"/>
                                      <a:cs typeface="Times New Roman" pitchFamily="18" charset="0"/>
                                    </a:rPr>
                                    <m:t>𝑋</m:t>
                                  </m:r>
                                </m:e>
                              </m:d>
                            </m:e>
                            <m:sup>
                              <m:r>
                                <a:rPr lang="en-US" sz="2000" b="0" i="1" smtClean="0">
                                  <a:solidFill>
                                    <a:schemeClr val="tx1"/>
                                  </a:solidFill>
                                  <a:latin typeface="Cambria Math" panose="02040503050406030204" pitchFamily="18" charset="0"/>
                                  <a:cs typeface="Times New Roman" pitchFamily="18" charset="0"/>
                                </a:rPr>
                                <m:t>2</m:t>
                              </m:r>
                            </m:sup>
                          </m:sSup>
                        </m:e>
                      </m:rad>
                      <m:r>
                        <a:rPr lang="en-US" sz="2000" b="0" i="1" smtClean="0">
                          <a:solidFill>
                            <a:schemeClr val="tx1"/>
                          </a:solidFill>
                          <a:latin typeface="Cambria Math" panose="02040503050406030204" pitchFamily="18" charset="0"/>
                          <a:cs typeface="Times New Roman" pitchFamily="18" charset="0"/>
                        </a:rPr>
                        <m:t>=</m:t>
                      </m:r>
                      <m:r>
                        <a:rPr lang="en-US" sz="2000" b="0" i="1" smtClean="0">
                          <a:solidFill>
                            <a:schemeClr val="tx1"/>
                          </a:solidFill>
                          <a:latin typeface="Cambria Math" panose="02040503050406030204" pitchFamily="18" charset="0"/>
                          <a:cs typeface="Times New Roman" pitchFamily="18" charset="0"/>
                        </a:rPr>
                        <m:t>𝑋</m:t>
                      </m:r>
                      <m:rad>
                        <m:radPr>
                          <m:degHide m:val="on"/>
                          <m:ctrlPr>
                            <a:rPr lang="en-US" sz="2000" i="1">
                              <a:latin typeface="Cambria Math" panose="02040503050406030204" pitchFamily="18" charset="0"/>
                              <a:cs typeface="Times New Roman" pitchFamily="18" charset="0"/>
                            </a:rPr>
                          </m:ctrlPr>
                        </m:radPr>
                        <m:deg/>
                        <m:e>
                          <m:sSup>
                            <m:sSupPr>
                              <m:ctrlPr>
                                <a:rPr lang="en-US" sz="2000" i="1">
                                  <a:latin typeface="Cambria Math" panose="02040503050406030204" pitchFamily="18" charset="0"/>
                                  <a:cs typeface="Times New Roman" pitchFamily="18" charset="0"/>
                                </a:rPr>
                              </m:ctrlPr>
                            </m:sSupPr>
                            <m:e>
                              <m:d>
                                <m:dPr>
                                  <m:ctrlPr>
                                    <a:rPr lang="en-US" sz="2000" i="1">
                                      <a:latin typeface="Cambria Math" panose="02040503050406030204" pitchFamily="18" charset="0"/>
                                      <a:cs typeface="Times New Roman" pitchFamily="18" charset="0"/>
                                    </a:rPr>
                                  </m:ctrlPr>
                                </m:dPr>
                                <m:e>
                                  <m:r>
                                    <a:rPr lang="en-US" sz="2000" i="1">
                                      <a:latin typeface="Cambria Math" panose="02040503050406030204" pitchFamily="18" charset="0"/>
                                      <a:cs typeface="Times New Roman" pitchFamily="18" charset="0"/>
                                    </a:rPr>
                                    <m:t>𝑘</m:t>
                                  </m:r>
                                </m:e>
                              </m:d>
                            </m:e>
                            <m:sup>
                              <m:r>
                                <a:rPr lang="en-US" sz="2000" i="1">
                                  <a:latin typeface="Cambria Math" panose="02040503050406030204" pitchFamily="18" charset="0"/>
                                  <a:cs typeface="Times New Roman" pitchFamily="18" charset="0"/>
                                </a:rPr>
                                <m:t>2</m:t>
                              </m:r>
                            </m:sup>
                          </m:sSup>
                          <m:r>
                            <a:rPr lang="en-US" sz="2000" i="1">
                              <a:latin typeface="Cambria Math" panose="02040503050406030204" pitchFamily="18" charset="0"/>
                              <a:cs typeface="Times New Roman" pitchFamily="18" charset="0"/>
                            </a:rPr>
                            <m:t>+</m:t>
                          </m:r>
                          <m:sSup>
                            <m:sSupPr>
                              <m:ctrlPr>
                                <a:rPr lang="en-US" sz="2000" i="1">
                                  <a:latin typeface="Cambria Math" panose="02040503050406030204" pitchFamily="18" charset="0"/>
                                  <a:cs typeface="Times New Roman" pitchFamily="18" charset="0"/>
                                </a:rPr>
                              </m:ctrlPr>
                            </m:sSupPr>
                            <m:e>
                              <m:d>
                                <m:dPr>
                                  <m:ctrlPr>
                                    <a:rPr lang="en-US" sz="2000" i="1">
                                      <a:latin typeface="Cambria Math" panose="02040503050406030204" pitchFamily="18" charset="0"/>
                                      <a:cs typeface="Times New Roman" pitchFamily="18" charset="0"/>
                                    </a:rPr>
                                  </m:ctrlPr>
                                </m:dPr>
                                <m:e>
                                  <m:r>
                                    <a:rPr lang="en-US" sz="2000" i="1">
                                      <a:latin typeface="Cambria Math" panose="02040503050406030204" pitchFamily="18" charset="0"/>
                                      <a:cs typeface="Times New Roman" pitchFamily="18" charset="0"/>
                                    </a:rPr>
                                    <m:t>𝑐</m:t>
                                  </m:r>
                                  <m:r>
                                    <a:rPr lang="en-US" sz="2000" i="1">
                                      <a:latin typeface="Cambria Math" panose="02040503050406030204" pitchFamily="18" charset="0"/>
                                      <a:ea typeface="Cambria Math" panose="02040503050406030204" pitchFamily="18" charset="0"/>
                                      <a:cs typeface="Times New Roman" pitchFamily="18" charset="0"/>
                                    </a:rPr>
                                    <m:t>𝜔</m:t>
                                  </m:r>
                                </m:e>
                              </m:d>
                            </m:e>
                            <m:sup>
                              <m:r>
                                <a:rPr lang="en-US" sz="2000" i="1">
                                  <a:latin typeface="Cambria Math" panose="02040503050406030204" pitchFamily="18" charset="0"/>
                                  <a:cs typeface="Times New Roman" pitchFamily="18" charset="0"/>
                                </a:rPr>
                                <m:t>2</m:t>
                              </m:r>
                            </m:sup>
                          </m:sSup>
                        </m:e>
                      </m:rad>
                    </m:oMath>
                  </m:oMathPara>
                </a14:m>
                <a:endParaRPr lang="en-US" sz="2000" dirty="0">
                  <a:solidFill>
                    <a:schemeClr val="tx1"/>
                  </a:solidFill>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As </a:t>
                </a:r>
                <a14:m>
                  <m:oMath xmlns:m="http://schemas.openxmlformats.org/officeDocument/2006/math">
                    <m:r>
                      <a:rPr lang="en-US" sz="2000" i="1">
                        <a:solidFill>
                          <a:srgbClr val="FF0000"/>
                        </a:solidFill>
                        <a:latin typeface="Cambria Math"/>
                        <a:cs typeface="Times New Roman" pitchFamily="18" charset="0"/>
                      </a:rPr>
                      <m:t>𝑋</m:t>
                    </m:r>
                    <m:r>
                      <a:rPr lang="en-US" sz="2000" i="1">
                        <a:solidFill>
                          <a:srgbClr val="FF0000"/>
                        </a:solidFill>
                        <a:latin typeface="Cambria Math"/>
                        <a:cs typeface="Times New Roman" pitchFamily="18" charset="0"/>
                      </a:rPr>
                      <m:t>=</m:t>
                    </m:r>
                    <m:f>
                      <m:fPr>
                        <m:type m:val="lin"/>
                        <m:ctrlPr>
                          <a:rPr lang="en-US" sz="2000" i="1">
                            <a:solidFill>
                              <a:srgbClr val="FF0000"/>
                            </a:solidFill>
                            <a:latin typeface="Cambria Math" panose="02040503050406030204" pitchFamily="18" charset="0"/>
                            <a:cs typeface="Times New Roman" pitchFamily="18" charset="0"/>
                          </a:rPr>
                        </m:ctrlPr>
                      </m:fPr>
                      <m:num>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a:cs typeface="Times New Roman" panose="02020603050405020304" pitchFamily="18" charset="0"/>
                              </a:rPr>
                              <m:t>𝐹</m:t>
                            </m:r>
                          </m:e>
                          <m:sub>
                            <m:r>
                              <a:rPr lang="en-US" sz="2000" i="1">
                                <a:latin typeface="Cambria Math"/>
                                <a:cs typeface="Times New Roman" panose="02020603050405020304" pitchFamily="18" charset="0"/>
                              </a:rPr>
                              <m:t>0</m:t>
                            </m:r>
                          </m:sub>
                        </m:sSub>
                      </m:num>
                      <m:den>
                        <m:rad>
                          <m:radPr>
                            <m:degHide m:val="on"/>
                            <m:ctrlPr>
                              <a:rPr lang="en-US" sz="2000" i="1">
                                <a:solidFill>
                                  <a:srgbClr val="FF0000"/>
                                </a:solidFill>
                                <a:latin typeface="Cambria Math" panose="02040503050406030204" pitchFamily="18" charset="0"/>
                                <a:cs typeface="Times New Roman" pitchFamily="18" charset="0"/>
                              </a:rPr>
                            </m:ctrlPr>
                          </m:radPr>
                          <m:deg/>
                          <m:e>
                            <m:sSup>
                              <m:sSupPr>
                                <m:ctrlPr>
                                  <a:rPr lang="en-US" sz="2000" i="1">
                                    <a:solidFill>
                                      <a:srgbClr val="FF0000"/>
                                    </a:solidFill>
                                    <a:latin typeface="Cambria Math" panose="02040503050406030204" pitchFamily="18" charset="0"/>
                                    <a:cs typeface="Times New Roman" pitchFamily="18" charset="0"/>
                                  </a:rPr>
                                </m:ctrlPr>
                              </m:sSupPr>
                              <m:e>
                                <m:d>
                                  <m:dPr>
                                    <m:ctrlPr>
                                      <a:rPr lang="en-US" sz="2000" i="1">
                                        <a:solidFill>
                                          <a:srgbClr val="FF0000"/>
                                        </a:solidFill>
                                        <a:latin typeface="Cambria Math" panose="02040503050406030204" pitchFamily="18" charset="0"/>
                                        <a:cs typeface="Times New Roman" pitchFamily="18" charset="0"/>
                                      </a:rPr>
                                    </m:ctrlPr>
                                  </m:dPr>
                                  <m:e>
                                    <m:r>
                                      <a:rPr lang="en-US" sz="2000" b="0" i="1" smtClean="0">
                                        <a:latin typeface="Cambria Math" panose="02040503050406030204" pitchFamily="18" charset="0"/>
                                        <a:cs typeface="Times New Roman" panose="02020603050405020304" pitchFamily="18" charset="0"/>
                                      </a:rPr>
                                      <m:t>𝑐</m:t>
                                    </m:r>
                                    <m:r>
                                      <a:rPr lang="en-US" sz="2000" i="1">
                                        <a:latin typeface="Cambria Math"/>
                                        <a:cs typeface="Times New Roman" panose="02020603050405020304" pitchFamily="18" charset="0"/>
                                      </a:rPr>
                                      <m:t>−</m:t>
                                    </m:r>
                                    <m:r>
                                      <a:rPr lang="en-US" sz="2000" i="1">
                                        <a:latin typeface="Cambria Math"/>
                                        <a:cs typeface="Times New Roman" panose="02020603050405020304" pitchFamily="18" charset="0"/>
                                      </a:rPr>
                                      <m:t>𝑚</m:t>
                                    </m:r>
                                    <m:sSup>
                                      <m:sSupPr>
                                        <m:ctrlPr>
                                          <a:rPr lang="en-US" sz="2000" i="1">
                                            <a:solidFill>
                                              <a:srgbClr val="FF0000"/>
                                            </a:solidFill>
                                            <a:latin typeface="Cambria Math" panose="02040503050406030204" pitchFamily="18" charset="0"/>
                                            <a:cs typeface="Times New Roman" pitchFamily="18" charset="0"/>
                                          </a:rPr>
                                        </m:ctrlPr>
                                      </m:sSupPr>
                                      <m:e>
                                        <m:r>
                                          <a:rPr lang="en-US" sz="2000" i="1">
                                            <a:solidFill>
                                              <a:srgbClr val="FF0000"/>
                                            </a:solidFill>
                                            <a:latin typeface="Cambria Math"/>
                                            <a:ea typeface="Cambria Math"/>
                                            <a:cs typeface="Times New Roman" pitchFamily="18" charset="0"/>
                                          </a:rPr>
                                          <m:t>𝜔</m:t>
                                        </m:r>
                                      </m:e>
                                      <m:sup>
                                        <m:r>
                                          <a:rPr lang="en-US" sz="2000" i="1">
                                            <a:solidFill>
                                              <a:srgbClr val="FF0000"/>
                                            </a:solidFill>
                                            <a:latin typeface="Cambria Math"/>
                                            <a:cs typeface="Times New Roman" pitchFamily="18" charset="0"/>
                                          </a:rPr>
                                          <m:t>2</m:t>
                                        </m:r>
                                      </m:sup>
                                    </m:sSup>
                                  </m:e>
                                </m:d>
                              </m:e>
                              <m:sup>
                                <m:r>
                                  <a:rPr lang="en-US" sz="2000" i="1">
                                    <a:solidFill>
                                      <a:srgbClr val="FF0000"/>
                                    </a:solidFill>
                                    <a:latin typeface="Cambria Math"/>
                                    <a:cs typeface="Times New Roman" pitchFamily="18" charset="0"/>
                                  </a:rPr>
                                  <m:t>2</m:t>
                                </m:r>
                              </m:sup>
                            </m:sSup>
                            <m:r>
                              <a:rPr lang="en-US" sz="2000" i="1">
                                <a:solidFill>
                                  <a:srgbClr val="FF0000"/>
                                </a:solidFill>
                                <a:latin typeface="Cambria Math"/>
                                <a:cs typeface="Times New Roman" pitchFamily="18" charset="0"/>
                              </a:rPr>
                              <m:t>+</m:t>
                            </m:r>
                            <m:sSup>
                              <m:sSupPr>
                                <m:ctrlPr>
                                  <a:rPr lang="en-US" sz="2000" i="1">
                                    <a:solidFill>
                                      <a:srgbClr val="FF0000"/>
                                    </a:solidFill>
                                    <a:latin typeface="Cambria Math" panose="02040503050406030204" pitchFamily="18" charset="0"/>
                                    <a:cs typeface="Times New Roman" pitchFamily="18" charset="0"/>
                                  </a:rPr>
                                </m:ctrlPr>
                              </m:sSupPr>
                              <m:e>
                                <m:d>
                                  <m:dPr>
                                    <m:ctrlPr>
                                      <a:rPr lang="en-US" sz="2000" i="1">
                                        <a:solidFill>
                                          <a:srgbClr val="FF0000"/>
                                        </a:solidFill>
                                        <a:latin typeface="Cambria Math" panose="02040503050406030204" pitchFamily="18" charset="0"/>
                                        <a:cs typeface="Times New Roman" pitchFamily="18" charset="0"/>
                                      </a:rPr>
                                    </m:ctrlPr>
                                  </m:dPr>
                                  <m:e>
                                    <m:r>
                                      <a:rPr lang="en-US" sz="2000" b="0" i="1" smtClean="0">
                                        <a:latin typeface="Cambria Math" panose="02040503050406030204" pitchFamily="18" charset="0"/>
                                        <a:cs typeface="Times New Roman" panose="02020603050405020304" pitchFamily="18" charset="0"/>
                                      </a:rPr>
                                      <m:t>𝑐</m:t>
                                    </m:r>
                                    <m:r>
                                      <a:rPr lang="en-US" sz="2000" i="1">
                                        <a:solidFill>
                                          <a:srgbClr val="FF0000"/>
                                        </a:solidFill>
                                        <a:latin typeface="Cambria Math"/>
                                        <a:ea typeface="Cambria Math"/>
                                        <a:cs typeface="Times New Roman" pitchFamily="18" charset="0"/>
                                      </a:rPr>
                                      <m:t>𝜔</m:t>
                                    </m:r>
                                  </m:e>
                                </m:d>
                              </m:e>
                              <m:sup>
                                <m:r>
                                  <a:rPr lang="en-US" sz="2000" i="1">
                                    <a:solidFill>
                                      <a:srgbClr val="FF0000"/>
                                    </a:solidFill>
                                    <a:latin typeface="Cambria Math"/>
                                    <a:cs typeface="Times New Roman" pitchFamily="18" charset="0"/>
                                  </a:rPr>
                                  <m:t>2</m:t>
                                </m:r>
                              </m:sup>
                            </m:sSup>
                          </m:e>
                        </m:rad>
                      </m:den>
                    </m:f>
                  </m:oMath>
                </a14:m>
                <a:endParaRPr lang="en-US" sz="2000" dirty="0">
                  <a:solidFill>
                    <a:schemeClr val="tx1"/>
                  </a:solidFill>
                  <a:latin typeface="Times New Roman" pitchFamily="18" charset="0"/>
                  <a:cs typeface="Times New Roman" pitchFamily="18" charset="0"/>
                </a:endParaRPr>
              </a:p>
              <a:p>
                <a:endParaRPr lang="en-US" sz="2000" dirty="0">
                  <a:solidFill>
                    <a:schemeClr val="tx1"/>
                  </a:solidFill>
                  <a:latin typeface="Times New Roman" pitchFamily="18" charset="0"/>
                  <a:cs typeface="Times New Roman" pitchFamily="18" charset="0"/>
                </a:endParaRPr>
              </a:p>
              <a:p>
                <a:r>
                  <a:rPr lang="en-US" sz="2000" dirty="0">
                    <a:latin typeface="Times New Roman" pitchFamily="18" charset="0"/>
                    <a:cs typeface="Times New Roman" pitchFamily="18" charset="0"/>
                  </a:rPr>
                  <a:t>Thus, </a:t>
                </a:r>
                <a14:m>
                  <m:oMath xmlns:m="http://schemas.openxmlformats.org/officeDocument/2006/math">
                    <m:sSub>
                      <m:sSubPr>
                        <m:ctrlPr>
                          <a:rPr lang="en-US" sz="2000" i="1">
                            <a:latin typeface="Cambria Math" panose="02040503050406030204" pitchFamily="18" charset="0"/>
                            <a:cs typeface="Times New Roman" pitchFamily="18" charset="0"/>
                          </a:rPr>
                        </m:ctrlPr>
                      </m:sSubPr>
                      <m:e>
                        <m:r>
                          <a:rPr lang="en-US" sz="2000" i="1">
                            <a:latin typeface="Cambria Math" panose="02040503050406030204" pitchFamily="18" charset="0"/>
                            <a:cs typeface="Times New Roman" pitchFamily="18" charset="0"/>
                          </a:rPr>
                          <m:t>𝐹</m:t>
                        </m:r>
                      </m:e>
                      <m:sub>
                        <m:r>
                          <a:rPr lang="en-US" sz="2000" i="1">
                            <a:latin typeface="Cambria Math" panose="02040503050406030204" pitchFamily="18" charset="0"/>
                            <a:cs typeface="Times New Roman" pitchFamily="18" charset="0"/>
                          </a:rPr>
                          <m:t>𝑡𝑟</m:t>
                        </m:r>
                      </m:sub>
                    </m:sSub>
                    <m:r>
                      <a:rPr lang="en-US" sz="2000" i="1">
                        <a:latin typeface="Cambria Math" panose="02040503050406030204" pitchFamily="18" charset="0"/>
                        <a:cs typeface="Times New Roman" pitchFamily="18" charset="0"/>
                      </a:rPr>
                      <m:t>=</m:t>
                    </m:r>
                    <m:f>
                      <m:fPr>
                        <m:ctrlPr>
                          <a:rPr lang="en-US" sz="2000" i="1" smtClean="0">
                            <a:latin typeface="Cambria Math" panose="02040503050406030204" pitchFamily="18" charset="0"/>
                            <a:cs typeface="Times New Roman" pitchFamily="18" charset="0"/>
                          </a:rPr>
                        </m:ctrlPr>
                      </m:fPr>
                      <m:num>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a:cs typeface="Times New Roman" panose="02020603050405020304" pitchFamily="18" charset="0"/>
                              </a:rPr>
                              <m:t>𝐹</m:t>
                            </m:r>
                          </m:e>
                          <m:sub>
                            <m:r>
                              <a:rPr lang="en-US" sz="2000" i="1">
                                <a:latin typeface="Cambria Math"/>
                                <a:cs typeface="Times New Roman" panose="02020603050405020304" pitchFamily="18" charset="0"/>
                              </a:rPr>
                              <m:t>0</m:t>
                            </m:r>
                          </m:sub>
                        </m:sSub>
                        <m:rad>
                          <m:radPr>
                            <m:degHide m:val="on"/>
                            <m:ctrlPr>
                              <a:rPr lang="en-US" sz="2000" i="1">
                                <a:latin typeface="Cambria Math" panose="02040503050406030204" pitchFamily="18" charset="0"/>
                                <a:cs typeface="Times New Roman" pitchFamily="18" charset="0"/>
                              </a:rPr>
                            </m:ctrlPr>
                          </m:radPr>
                          <m:deg/>
                          <m:e>
                            <m:sSup>
                              <m:sSupPr>
                                <m:ctrlPr>
                                  <a:rPr lang="en-US" sz="2000" i="1">
                                    <a:latin typeface="Cambria Math" panose="02040503050406030204" pitchFamily="18" charset="0"/>
                                    <a:cs typeface="Times New Roman" pitchFamily="18" charset="0"/>
                                  </a:rPr>
                                </m:ctrlPr>
                              </m:sSupPr>
                              <m:e>
                                <m:d>
                                  <m:dPr>
                                    <m:ctrlPr>
                                      <a:rPr lang="en-US" sz="2000" i="1">
                                        <a:latin typeface="Cambria Math" panose="02040503050406030204" pitchFamily="18" charset="0"/>
                                        <a:cs typeface="Times New Roman" pitchFamily="18" charset="0"/>
                                      </a:rPr>
                                    </m:ctrlPr>
                                  </m:dPr>
                                  <m:e>
                                    <m:r>
                                      <a:rPr lang="en-US" sz="2000" i="1">
                                        <a:latin typeface="Cambria Math" panose="02040503050406030204" pitchFamily="18" charset="0"/>
                                        <a:cs typeface="Times New Roman" pitchFamily="18" charset="0"/>
                                      </a:rPr>
                                      <m:t>𝑘</m:t>
                                    </m:r>
                                  </m:e>
                                </m:d>
                              </m:e>
                              <m:sup>
                                <m:r>
                                  <a:rPr lang="en-US" sz="2000" i="1">
                                    <a:latin typeface="Cambria Math" panose="02040503050406030204" pitchFamily="18" charset="0"/>
                                    <a:cs typeface="Times New Roman" pitchFamily="18" charset="0"/>
                                  </a:rPr>
                                  <m:t>2</m:t>
                                </m:r>
                              </m:sup>
                            </m:sSup>
                            <m:r>
                              <a:rPr lang="en-US" sz="2000" i="1">
                                <a:latin typeface="Cambria Math" panose="02040503050406030204" pitchFamily="18" charset="0"/>
                                <a:cs typeface="Times New Roman" pitchFamily="18" charset="0"/>
                              </a:rPr>
                              <m:t>+</m:t>
                            </m:r>
                            <m:sSup>
                              <m:sSupPr>
                                <m:ctrlPr>
                                  <a:rPr lang="en-US" sz="2000" i="1">
                                    <a:latin typeface="Cambria Math" panose="02040503050406030204" pitchFamily="18" charset="0"/>
                                    <a:cs typeface="Times New Roman" pitchFamily="18" charset="0"/>
                                  </a:rPr>
                                </m:ctrlPr>
                              </m:sSupPr>
                              <m:e>
                                <m:d>
                                  <m:dPr>
                                    <m:ctrlPr>
                                      <a:rPr lang="en-US" sz="2000" i="1">
                                        <a:latin typeface="Cambria Math" panose="02040503050406030204" pitchFamily="18" charset="0"/>
                                        <a:cs typeface="Times New Roman" pitchFamily="18" charset="0"/>
                                      </a:rPr>
                                    </m:ctrlPr>
                                  </m:dPr>
                                  <m:e>
                                    <m:r>
                                      <a:rPr lang="en-US" sz="2000" i="1">
                                        <a:latin typeface="Cambria Math" panose="02040503050406030204" pitchFamily="18" charset="0"/>
                                        <a:cs typeface="Times New Roman" pitchFamily="18" charset="0"/>
                                      </a:rPr>
                                      <m:t>𝑐</m:t>
                                    </m:r>
                                    <m:r>
                                      <a:rPr lang="en-US" sz="2000" i="1">
                                        <a:latin typeface="Cambria Math" panose="02040503050406030204" pitchFamily="18" charset="0"/>
                                        <a:ea typeface="Cambria Math" panose="02040503050406030204" pitchFamily="18" charset="0"/>
                                        <a:cs typeface="Times New Roman" pitchFamily="18" charset="0"/>
                                      </a:rPr>
                                      <m:t>𝜔</m:t>
                                    </m:r>
                                  </m:e>
                                </m:d>
                              </m:e>
                              <m:sup>
                                <m:r>
                                  <a:rPr lang="en-US" sz="2000" i="1">
                                    <a:latin typeface="Cambria Math" panose="02040503050406030204" pitchFamily="18" charset="0"/>
                                    <a:cs typeface="Times New Roman" pitchFamily="18" charset="0"/>
                                  </a:rPr>
                                  <m:t>2</m:t>
                                </m:r>
                              </m:sup>
                            </m:sSup>
                          </m:e>
                        </m:rad>
                      </m:num>
                      <m:den>
                        <m:rad>
                          <m:radPr>
                            <m:degHide m:val="on"/>
                            <m:ctrlPr>
                              <a:rPr lang="en-US" sz="2000" i="1">
                                <a:solidFill>
                                  <a:srgbClr val="FF0000"/>
                                </a:solidFill>
                                <a:latin typeface="Cambria Math" panose="02040503050406030204" pitchFamily="18" charset="0"/>
                                <a:cs typeface="Times New Roman" pitchFamily="18" charset="0"/>
                              </a:rPr>
                            </m:ctrlPr>
                          </m:radPr>
                          <m:deg/>
                          <m:e>
                            <m:sSup>
                              <m:sSupPr>
                                <m:ctrlPr>
                                  <a:rPr lang="en-US" sz="2000" i="1">
                                    <a:solidFill>
                                      <a:srgbClr val="FF0000"/>
                                    </a:solidFill>
                                    <a:latin typeface="Cambria Math" panose="02040503050406030204" pitchFamily="18" charset="0"/>
                                    <a:cs typeface="Times New Roman" pitchFamily="18" charset="0"/>
                                  </a:rPr>
                                </m:ctrlPr>
                              </m:sSupPr>
                              <m:e>
                                <m:d>
                                  <m:dPr>
                                    <m:ctrlPr>
                                      <a:rPr lang="en-US" sz="2000" i="1">
                                        <a:solidFill>
                                          <a:srgbClr val="FF0000"/>
                                        </a:solidFill>
                                        <a:latin typeface="Cambria Math" panose="02040503050406030204" pitchFamily="18" charset="0"/>
                                        <a:cs typeface="Times New Roman" pitchFamily="18" charset="0"/>
                                      </a:rPr>
                                    </m:ctrlPr>
                                  </m:dPr>
                                  <m:e>
                                    <m:r>
                                      <a:rPr lang="en-US" sz="2000" i="1">
                                        <a:latin typeface="Cambria Math" panose="02040503050406030204" pitchFamily="18" charset="0"/>
                                        <a:cs typeface="Times New Roman" panose="02020603050405020304" pitchFamily="18" charset="0"/>
                                      </a:rPr>
                                      <m:t>𝑐</m:t>
                                    </m:r>
                                    <m:r>
                                      <a:rPr lang="en-US" sz="2000" i="1">
                                        <a:latin typeface="Cambria Math"/>
                                        <a:cs typeface="Times New Roman" panose="02020603050405020304" pitchFamily="18" charset="0"/>
                                      </a:rPr>
                                      <m:t>−</m:t>
                                    </m:r>
                                    <m:r>
                                      <a:rPr lang="en-US" sz="2000" i="1">
                                        <a:latin typeface="Cambria Math"/>
                                        <a:cs typeface="Times New Roman" panose="02020603050405020304" pitchFamily="18" charset="0"/>
                                      </a:rPr>
                                      <m:t>𝑚</m:t>
                                    </m:r>
                                    <m:sSup>
                                      <m:sSupPr>
                                        <m:ctrlPr>
                                          <a:rPr lang="en-US" sz="2000" i="1">
                                            <a:solidFill>
                                              <a:srgbClr val="FF0000"/>
                                            </a:solidFill>
                                            <a:latin typeface="Cambria Math" panose="02040503050406030204" pitchFamily="18" charset="0"/>
                                            <a:cs typeface="Times New Roman" pitchFamily="18" charset="0"/>
                                          </a:rPr>
                                        </m:ctrlPr>
                                      </m:sSupPr>
                                      <m:e>
                                        <m:r>
                                          <a:rPr lang="en-US" sz="2000" i="1">
                                            <a:solidFill>
                                              <a:srgbClr val="FF0000"/>
                                            </a:solidFill>
                                            <a:latin typeface="Cambria Math"/>
                                            <a:ea typeface="Cambria Math"/>
                                            <a:cs typeface="Times New Roman" pitchFamily="18" charset="0"/>
                                          </a:rPr>
                                          <m:t>𝜔</m:t>
                                        </m:r>
                                      </m:e>
                                      <m:sup>
                                        <m:r>
                                          <a:rPr lang="en-US" sz="2000" i="1">
                                            <a:solidFill>
                                              <a:srgbClr val="FF0000"/>
                                            </a:solidFill>
                                            <a:latin typeface="Cambria Math"/>
                                            <a:cs typeface="Times New Roman" pitchFamily="18" charset="0"/>
                                          </a:rPr>
                                          <m:t>2</m:t>
                                        </m:r>
                                      </m:sup>
                                    </m:sSup>
                                  </m:e>
                                </m:d>
                              </m:e>
                              <m:sup>
                                <m:r>
                                  <a:rPr lang="en-US" sz="2000" i="1">
                                    <a:solidFill>
                                      <a:srgbClr val="FF0000"/>
                                    </a:solidFill>
                                    <a:latin typeface="Cambria Math"/>
                                    <a:cs typeface="Times New Roman" pitchFamily="18" charset="0"/>
                                  </a:rPr>
                                  <m:t>2</m:t>
                                </m:r>
                              </m:sup>
                            </m:sSup>
                            <m:r>
                              <a:rPr lang="en-US" sz="2000" i="1">
                                <a:solidFill>
                                  <a:srgbClr val="FF0000"/>
                                </a:solidFill>
                                <a:latin typeface="Cambria Math"/>
                                <a:cs typeface="Times New Roman" pitchFamily="18" charset="0"/>
                              </a:rPr>
                              <m:t>+</m:t>
                            </m:r>
                            <m:sSup>
                              <m:sSupPr>
                                <m:ctrlPr>
                                  <a:rPr lang="en-US" sz="2000" i="1">
                                    <a:solidFill>
                                      <a:srgbClr val="FF0000"/>
                                    </a:solidFill>
                                    <a:latin typeface="Cambria Math" panose="02040503050406030204" pitchFamily="18" charset="0"/>
                                    <a:cs typeface="Times New Roman" pitchFamily="18" charset="0"/>
                                  </a:rPr>
                                </m:ctrlPr>
                              </m:sSupPr>
                              <m:e>
                                <m:d>
                                  <m:dPr>
                                    <m:ctrlPr>
                                      <a:rPr lang="en-US" sz="2000" i="1">
                                        <a:solidFill>
                                          <a:srgbClr val="FF0000"/>
                                        </a:solidFill>
                                        <a:latin typeface="Cambria Math" panose="02040503050406030204" pitchFamily="18" charset="0"/>
                                        <a:cs typeface="Times New Roman" pitchFamily="18" charset="0"/>
                                      </a:rPr>
                                    </m:ctrlPr>
                                  </m:dPr>
                                  <m:e>
                                    <m:r>
                                      <a:rPr lang="en-US" sz="2000" i="1">
                                        <a:latin typeface="Cambria Math" panose="02040503050406030204" pitchFamily="18" charset="0"/>
                                        <a:cs typeface="Times New Roman" panose="02020603050405020304" pitchFamily="18" charset="0"/>
                                      </a:rPr>
                                      <m:t>𝑐</m:t>
                                    </m:r>
                                    <m:r>
                                      <a:rPr lang="en-US" sz="2000" i="1">
                                        <a:solidFill>
                                          <a:srgbClr val="FF0000"/>
                                        </a:solidFill>
                                        <a:latin typeface="Cambria Math"/>
                                        <a:ea typeface="Cambria Math"/>
                                        <a:cs typeface="Times New Roman" pitchFamily="18" charset="0"/>
                                      </a:rPr>
                                      <m:t>𝜔</m:t>
                                    </m:r>
                                  </m:e>
                                </m:d>
                              </m:e>
                              <m:sup>
                                <m:r>
                                  <a:rPr lang="en-US" sz="2000" i="1">
                                    <a:solidFill>
                                      <a:srgbClr val="FF0000"/>
                                    </a:solidFill>
                                    <a:latin typeface="Cambria Math"/>
                                    <a:cs typeface="Times New Roman" pitchFamily="18" charset="0"/>
                                  </a:rPr>
                                  <m:t>2</m:t>
                                </m:r>
                              </m:sup>
                            </m:sSup>
                          </m:e>
                        </m:rad>
                      </m:den>
                    </m:f>
                  </m:oMath>
                </a14:m>
                <a:r>
                  <a:rPr lang="en-US" sz="2000" dirty="0">
                    <a:solidFill>
                      <a:schemeClr val="tx1"/>
                    </a:solidFill>
                    <a:latin typeface="Times New Roman" pitchFamily="18" charset="0"/>
                    <a:cs typeface="Times New Roman" pitchFamily="18" charset="0"/>
                  </a:rPr>
                  <a:t> and can be written in dimensionless form</a:t>
                </a:r>
              </a:p>
              <a:p>
                <a:r>
                  <a:rPr lang="en-US" sz="2000" dirty="0">
                    <a:latin typeface="Times New Roman" pitchFamily="18" charset="0"/>
                    <a:cs typeface="Times New Roman" pitchFamily="18" charset="0"/>
                  </a:rPr>
                  <a:t>as </a:t>
                </a:r>
                <a14:m>
                  <m:oMath xmlns:m="http://schemas.openxmlformats.org/officeDocument/2006/math">
                    <m:sSub>
                      <m:sSubPr>
                        <m:ctrlPr>
                          <a:rPr lang="en-US" sz="2000" i="1">
                            <a:latin typeface="Cambria Math" panose="02040503050406030204" pitchFamily="18" charset="0"/>
                            <a:cs typeface="Times New Roman" pitchFamily="18" charset="0"/>
                          </a:rPr>
                        </m:ctrlPr>
                      </m:sSubPr>
                      <m:e>
                        <m:r>
                          <a:rPr lang="en-US" sz="2000" b="0" i="1" smtClean="0">
                            <a:latin typeface="Cambria Math" panose="02040503050406030204" pitchFamily="18" charset="0"/>
                            <a:cs typeface="Times New Roman" pitchFamily="18" charset="0"/>
                          </a:rPr>
                          <m:t>𝑇</m:t>
                        </m:r>
                      </m:e>
                      <m:sub>
                        <m:r>
                          <a:rPr lang="en-US" sz="2000" i="1">
                            <a:latin typeface="Cambria Math" panose="02040503050406030204" pitchFamily="18" charset="0"/>
                            <a:cs typeface="Times New Roman" pitchFamily="18" charset="0"/>
                          </a:rPr>
                          <m:t>𝑟</m:t>
                        </m:r>
                      </m:sub>
                    </m:sSub>
                    <m:r>
                      <a:rPr lang="en-US" sz="2000" b="0" i="1" smtClean="0">
                        <a:latin typeface="Cambria Math" panose="02040503050406030204" pitchFamily="18" charset="0"/>
                        <a:cs typeface="Times New Roman" pitchFamily="18" charset="0"/>
                      </a:rPr>
                      <m:t>=</m:t>
                    </m:r>
                    <m:f>
                      <m:fPr>
                        <m:ctrlPr>
                          <a:rPr lang="en-US" sz="2000" i="1" smtClean="0">
                            <a:latin typeface="Cambria Math" panose="02040503050406030204" pitchFamily="18" charset="0"/>
                            <a:cs typeface="Times New Roman" pitchFamily="18" charset="0"/>
                          </a:rPr>
                        </m:ctrlPr>
                      </m:fPr>
                      <m:num>
                        <m:sSub>
                          <m:sSubPr>
                            <m:ctrlPr>
                              <a:rPr lang="en-US" sz="2000" i="1">
                                <a:latin typeface="Cambria Math" panose="02040503050406030204" pitchFamily="18" charset="0"/>
                                <a:cs typeface="Times New Roman" pitchFamily="18" charset="0"/>
                              </a:rPr>
                            </m:ctrlPr>
                          </m:sSubPr>
                          <m:e>
                            <m:r>
                              <a:rPr lang="en-US" sz="2000" i="1">
                                <a:latin typeface="Cambria Math" panose="02040503050406030204" pitchFamily="18" charset="0"/>
                                <a:cs typeface="Times New Roman" pitchFamily="18" charset="0"/>
                              </a:rPr>
                              <m:t>𝐹</m:t>
                            </m:r>
                          </m:e>
                          <m:sub>
                            <m:r>
                              <a:rPr lang="en-US" sz="2000" i="1">
                                <a:latin typeface="Cambria Math" panose="02040503050406030204" pitchFamily="18" charset="0"/>
                                <a:cs typeface="Times New Roman" pitchFamily="18" charset="0"/>
                              </a:rPr>
                              <m:t>𝑡𝑟</m:t>
                            </m:r>
                          </m:sub>
                        </m:sSub>
                      </m:num>
                      <m:den>
                        <m:sSub>
                          <m:sSubPr>
                            <m:ctrlPr>
                              <a:rPr lang="en-US" sz="2000" i="1">
                                <a:latin typeface="Cambria Math" panose="02040503050406030204" pitchFamily="18" charset="0"/>
                                <a:cs typeface="Times New Roman" panose="02020603050405020304" pitchFamily="18" charset="0"/>
                              </a:rPr>
                            </m:ctrlPr>
                          </m:sSubPr>
                          <m:e>
                            <m:r>
                              <a:rPr lang="en-US" sz="2000" i="1">
                                <a:latin typeface="Cambria Math"/>
                                <a:cs typeface="Times New Roman" panose="02020603050405020304" pitchFamily="18" charset="0"/>
                              </a:rPr>
                              <m:t>𝐹</m:t>
                            </m:r>
                          </m:e>
                          <m:sub>
                            <m:r>
                              <a:rPr lang="en-US" sz="2000" i="1">
                                <a:latin typeface="Cambria Math"/>
                                <a:cs typeface="Times New Roman" panose="02020603050405020304" pitchFamily="18" charset="0"/>
                              </a:rPr>
                              <m:t>0</m:t>
                            </m:r>
                          </m:sub>
                        </m:sSub>
                      </m:den>
                    </m:f>
                    <m:r>
                      <a:rPr lang="en-US" sz="2000" b="0" i="1" smtClean="0">
                        <a:latin typeface="Cambria Math" panose="02040503050406030204" pitchFamily="18" charset="0"/>
                        <a:cs typeface="Times New Roman" pitchFamily="18" charset="0"/>
                      </a:rPr>
                      <m:t>=</m:t>
                    </m:r>
                    <m:f>
                      <m:fPr>
                        <m:ctrlPr>
                          <a:rPr lang="en-US" sz="2000" i="1">
                            <a:latin typeface="Cambria Math" panose="02040503050406030204" pitchFamily="18" charset="0"/>
                            <a:cs typeface="Times New Roman" pitchFamily="18" charset="0"/>
                          </a:rPr>
                        </m:ctrlPr>
                      </m:fPr>
                      <m:num>
                        <m:rad>
                          <m:radPr>
                            <m:degHide m:val="on"/>
                            <m:ctrlPr>
                              <a:rPr lang="en-US" sz="2000" i="1">
                                <a:latin typeface="Cambria Math" panose="02040503050406030204" pitchFamily="18" charset="0"/>
                                <a:cs typeface="Times New Roman" pitchFamily="18" charset="0"/>
                              </a:rPr>
                            </m:ctrlPr>
                          </m:radPr>
                          <m:deg/>
                          <m:e>
                            <m:sSup>
                              <m:sSupPr>
                                <m:ctrlPr>
                                  <a:rPr lang="en-US" sz="2000" i="1">
                                    <a:latin typeface="Cambria Math" panose="02040503050406030204" pitchFamily="18" charset="0"/>
                                    <a:cs typeface="Times New Roman" pitchFamily="18" charset="0"/>
                                  </a:rPr>
                                </m:ctrlPr>
                              </m:sSupPr>
                              <m:e>
                                <m:d>
                                  <m:dPr>
                                    <m:ctrlPr>
                                      <a:rPr lang="en-US" sz="2000" i="1">
                                        <a:latin typeface="Cambria Math" panose="02040503050406030204" pitchFamily="18" charset="0"/>
                                        <a:cs typeface="Times New Roman" pitchFamily="18" charset="0"/>
                                      </a:rPr>
                                    </m:ctrlPr>
                                  </m:dPr>
                                  <m:e>
                                    <m:r>
                                      <a:rPr lang="en-US" sz="2000" i="1">
                                        <a:latin typeface="Cambria Math" panose="02040503050406030204" pitchFamily="18" charset="0"/>
                                        <a:cs typeface="Times New Roman" pitchFamily="18" charset="0"/>
                                      </a:rPr>
                                      <m:t>𝑘</m:t>
                                    </m:r>
                                  </m:e>
                                </m:d>
                              </m:e>
                              <m:sup>
                                <m:r>
                                  <a:rPr lang="en-US" sz="2000" i="1">
                                    <a:latin typeface="Cambria Math" panose="02040503050406030204" pitchFamily="18" charset="0"/>
                                    <a:cs typeface="Times New Roman" pitchFamily="18" charset="0"/>
                                  </a:rPr>
                                  <m:t>2</m:t>
                                </m:r>
                              </m:sup>
                            </m:sSup>
                            <m:r>
                              <a:rPr lang="en-US" sz="2000" i="1">
                                <a:latin typeface="Cambria Math" panose="02040503050406030204" pitchFamily="18" charset="0"/>
                                <a:cs typeface="Times New Roman" pitchFamily="18" charset="0"/>
                              </a:rPr>
                              <m:t>+</m:t>
                            </m:r>
                            <m:sSup>
                              <m:sSupPr>
                                <m:ctrlPr>
                                  <a:rPr lang="en-US" sz="2000" i="1">
                                    <a:latin typeface="Cambria Math" panose="02040503050406030204" pitchFamily="18" charset="0"/>
                                    <a:cs typeface="Times New Roman" pitchFamily="18" charset="0"/>
                                  </a:rPr>
                                </m:ctrlPr>
                              </m:sSupPr>
                              <m:e>
                                <m:d>
                                  <m:dPr>
                                    <m:ctrlPr>
                                      <a:rPr lang="en-US" sz="2000" i="1">
                                        <a:latin typeface="Cambria Math" panose="02040503050406030204" pitchFamily="18" charset="0"/>
                                        <a:cs typeface="Times New Roman" pitchFamily="18" charset="0"/>
                                      </a:rPr>
                                    </m:ctrlPr>
                                  </m:dPr>
                                  <m:e>
                                    <m:r>
                                      <a:rPr lang="en-US" sz="2000" i="1">
                                        <a:latin typeface="Cambria Math" panose="02040503050406030204" pitchFamily="18" charset="0"/>
                                        <a:cs typeface="Times New Roman" pitchFamily="18" charset="0"/>
                                      </a:rPr>
                                      <m:t>𝑐</m:t>
                                    </m:r>
                                    <m:r>
                                      <a:rPr lang="en-US" sz="2000" i="1">
                                        <a:latin typeface="Cambria Math" panose="02040503050406030204" pitchFamily="18" charset="0"/>
                                        <a:ea typeface="Cambria Math" panose="02040503050406030204" pitchFamily="18" charset="0"/>
                                        <a:cs typeface="Times New Roman" pitchFamily="18" charset="0"/>
                                      </a:rPr>
                                      <m:t>𝜔</m:t>
                                    </m:r>
                                  </m:e>
                                </m:d>
                              </m:e>
                              <m:sup>
                                <m:r>
                                  <a:rPr lang="en-US" sz="2000" i="1">
                                    <a:latin typeface="Cambria Math" panose="02040503050406030204" pitchFamily="18" charset="0"/>
                                    <a:cs typeface="Times New Roman" pitchFamily="18" charset="0"/>
                                  </a:rPr>
                                  <m:t>2</m:t>
                                </m:r>
                              </m:sup>
                            </m:sSup>
                          </m:e>
                        </m:rad>
                      </m:num>
                      <m:den>
                        <m:rad>
                          <m:radPr>
                            <m:degHide m:val="on"/>
                            <m:ctrlPr>
                              <a:rPr lang="en-US" sz="2000" i="1">
                                <a:solidFill>
                                  <a:srgbClr val="FF0000"/>
                                </a:solidFill>
                                <a:latin typeface="Cambria Math" panose="02040503050406030204" pitchFamily="18" charset="0"/>
                                <a:cs typeface="Times New Roman" pitchFamily="18" charset="0"/>
                              </a:rPr>
                            </m:ctrlPr>
                          </m:radPr>
                          <m:deg/>
                          <m:e>
                            <m:sSup>
                              <m:sSupPr>
                                <m:ctrlPr>
                                  <a:rPr lang="en-US" sz="2000" i="1">
                                    <a:solidFill>
                                      <a:srgbClr val="FF0000"/>
                                    </a:solidFill>
                                    <a:latin typeface="Cambria Math" panose="02040503050406030204" pitchFamily="18" charset="0"/>
                                    <a:cs typeface="Times New Roman" pitchFamily="18" charset="0"/>
                                  </a:rPr>
                                </m:ctrlPr>
                              </m:sSupPr>
                              <m:e>
                                <m:d>
                                  <m:dPr>
                                    <m:ctrlPr>
                                      <a:rPr lang="en-US" sz="2000" i="1">
                                        <a:solidFill>
                                          <a:srgbClr val="FF0000"/>
                                        </a:solidFill>
                                        <a:latin typeface="Cambria Math" panose="02040503050406030204" pitchFamily="18" charset="0"/>
                                        <a:cs typeface="Times New Roman" pitchFamily="18" charset="0"/>
                                      </a:rPr>
                                    </m:ctrlPr>
                                  </m:dPr>
                                  <m:e>
                                    <m:r>
                                      <a:rPr lang="en-US" sz="2000" i="1">
                                        <a:latin typeface="Cambria Math" panose="02040503050406030204" pitchFamily="18" charset="0"/>
                                        <a:cs typeface="Times New Roman" panose="02020603050405020304" pitchFamily="18" charset="0"/>
                                      </a:rPr>
                                      <m:t>𝑐</m:t>
                                    </m:r>
                                    <m:r>
                                      <a:rPr lang="en-US" sz="2000" i="1">
                                        <a:latin typeface="Cambria Math"/>
                                        <a:cs typeface="Times New Roman" panose="02020603050405020304" pitchFamily="18" charset="0"/>
                                      </a:rPr>
                                      <m:t>−</m:t>
                                    </m:r>
                                    <m:r>
                                      <a:rPr lang="en-US" sz="2000" i="1">
                                        <a:latin typeface="Cambria Math"/>
                                        <a:cs typeface="Times New Roman" panose="02020603050405020304" pitchFamily="18" charset="0"/>
                                      </a:rPr>
                                      <m:t>𝑚</m:t>
                                    </m:r>
                                    <m:sSup>
                                      <m:sSupPr>
                                        <m:ctrlPr>
                                          <a:rPr lang="en-US" sz="2000" i="1">
                                            <a:solidFill>
                                              <a:srgbClr val="FF0000"/>
                                            </a:solidFill>
                                            <a:latin typeface="Cambria Math" panose="02040503050406030204" pitchFamily="18" charset="0"/>
                                            <a:cs typeface="Times New Roman" pitchFamily="18" charset="0"/>
                                          </a:rPr>
                                        </m:ctrlPr>
                                      </m:sSupPr>
                                      <m:e>
                                        <m:r>
                                          <a:rPr lang="en-US" sz="2000" i="1">
                                            <a:solidFill>
                                              <a:srgbClr val="FF0000"/>
                                            </a:solidFill>
                                            <a:latin typeface="Cambria Math"/>
                                            <a:ea typeface="Cambria Math"/>
                                            <a:cs typeface="Times New Roman" pitchFamily="18" charset="0"/>
                                          </a:rPr>
                                          <m:t>𝜔</m:t>
                                        </m:r>
                                      </m:e>
                                      <m:sup>
                                        <m:r>
                                          <a:rPr lang="en-US" sz="2000" i="1">
                                            <a:solidFill>
                                              <a:srgbClr val="FF0000"/>
                                            </a:solidFill>
                                            <a:latin typeface="Cambria Math"/>
                                            <a:cs typeface="Times New Roman" pitchFamily="18" charset="0"/>
                                          </a:rPr>
                                          <m:t>2</m:t>
                                        </m:r>
                                      </m:sup>
                                    </m:sSup>
                                  </m:e>
                                </m:d>
                              </m:e>
                              <m:sup>
                                <m:r>
                                  <a:rPr lang="en-US" sz="2000" i="1">
                                    <a:solidFill>
                                      <a:srgbClr val="FF0000"/>
                                    </a:solidFill>
                                    <a:latin typeface="Cambria Math"/>
                                    <a:cs typeface="Times New Roman" pitchFamily="18" charset="0"/>
                                  </a:rPr>
                                  <m:t>2</m:t>
                                </m:r>
                              </m:sup>
                            </m:sSup>
                            <m:r>
                              <a:rPr lang="en-US" sz="2000" i="1">
                                <a:solidFill>
                                  <a:srgbClr val="FF0000"/>
                                </a:solidFill>
                                <a:latin typeface="Cambria Math"/>
                                <a:cs typeface="Times New Roman" pitchFamily="18" charset="0"/>
                              </a:rPr>
                              <m:t>+</m:t>
                            </m:r>
                            <m:sSup>
                              <m:sSupPr>
                                <m:ctrlPr>
                                  <a:rPr lang="en-US" sz="2000" i="1">
                                    <a:solidFill>
                                      <a:srgbClr val="FF0000"/>
                                    </a:solidFill>
                                    <a:latin typeface="Cambria Math" panose="02040503050406030204" pitchFamily="18" charset="0"/>
                                    <a:cs typeface="Times New Roman" pitchFamily="18" charset="0"/>
                                  </a:rPr>
                                </m:ctrlPr>
                              </m:sSupPr>
                              <m:e>
                                <m:d>
                                  <m:dPr>
                                    <m:ctrlPr>
                                      <a:rPr lang="en-US" sz="2000" i="1">
                                        <a:solidFill>
                                          <a:srgbClr val="FF0000"/>
                                        </a:solidFill>
                                        <a:latin typeface="Cambria Math" panose="02040503050406030204" pitchFamily="18" charset="0"/>
                                        <a:cs typeface="Times New Roman" pitchFamily="18" charset="0"/>
                                      </a:rPr>
                                    </m:ctrlPr>
                                  </m:dPr>
                                  <m:e>
                                    <m:r>
                                      <a:rPr lang="en-US" sz="2000" i="1">
                                        <a:latin typeface="Cambria Math" panose="02040503050406030204" pitchFamily="18" charset="0"/>
                                        <a:cs typeface="Times New Roman" panose="02020603050405020304" pitchFamily="18" charset="0"/>
                                      </a:rPr>
                                      <m:t>𝑐</m:t>
                                    </m:r>
                                    <m:r>
                                      <a:rPr lang="en-US" sz="2000" i="1">
                                        <a:solidFill>
                                          <a:srgbClr val="FF0000"/>
                                        </a:solidFill>
                                        <a:latin typeface="Cambria Math"/>
                                        <a:ea typeface="Cambria Math"/>
                                        <a:cs typeface="Times New Roman" pitchFamily="18" charset="0"/>
                                      </a:rPr>
                                      <m:t>𝜔</m:t>
                                    </m:r>
                                  </m:e>
                                </m:d>
                              </m:e>
                              <m:sup>
                                <m:r>
                                  <a:rPr lang="en-US" sz="2000" i="1">
                                    <a:solidFill>
                                      <a:srgbClr val="FF0000"/>
                                    </a:solidFill>
                                    <a:latin typeface="Cambria Math"/>
                                    <a:cs typeface="Times New Roman" pitchFamily="18" charset="0"/>
                                  </a:rPr>
                                  <m:t>2</m:t>
                                </m:r>
                              </m:sup>
                            </m:sSup>
                          </m:e>
                        </m:rad>
                      </m:den>
                    </m:f>
                  </m:oMath>
                </a14:m>
                <a:r>
                  <a:rPr lang="en-US" sz="2000" dirty="0">
                    <a:solidFill>
                      <a:schemeClr val="tx1"/>
                    </a:solidFill>
                    <a:latin typeface="Times New Roman" pitchFamily="18" charset="0"/>
                    <a:cs typeface="Times New Roman" pitchFamily="18" charset="0"/>
                  </a:rPr>
                  <a:t>, </a:t>
                </a:r>
                <a14:m>
                  <m:oMath xmlns:m="http://schemas.openxmlformats.org/officeDocument/2006/math">
                    <m:sSub>
                      <m:sSubPr>
                        <m:ctrlPr>
                          <a:rPr lang="en-US" sz="2000" i="1">
                            <a:latin typeface="Cambria Math" panose="02040503050406030204" pitchFamily="18" charset="0"/>
                            <a:cs typeface="Times New Roman" pitchFamily="18" charset="0"/>
                          </a:rPr>
                        </m:ctrlPr>
                      </m:sSubPr>
                      <m:e>
                        <m:r>
                          <a:rPr lang="en-US" sz="2000" i="1">
                            <a:latin typeface="Cambria Math" panose="02040503050406030204" pitchFamily="18" charset="0"/>
                            <a:cs typeface="Times New Roman" pitchFamily="18" charset="0"/>
                          </a:rPr>
                          <m:t>𝑇</m:t>
                        </m:r>
                      </m:e>
                      <m:sub>
                        <m:r>
                          <a:rPr lang="en-US" sz="2000" i="1">
                            <a:latin typeface="Cambria Math" panose="02040503050406030204" pitchFamily="18" charset="0"/>
                            <a:cs typeface="Times New Roman" pitchFamily="18" charset="0"/>
                          </a:rPr>
                          <m:t>𝑟</m:t>
                        </m:r>
                      </m:sub>
                    </m:sSub>
                  </m:oMath>
                </a14:m>
                <a:r>
                  <a:rPr lang="en-US" sz="2000" dirty="0">
                    <a:solidFill>
                      <a:schemeClr val="tx1"/>
                    </a:solidFill>
                    <a:latin typeface="Times New Roman" pitchFamily="18" charset="0"/>
                    <a:cs typeface="Times New Roman" pitchFamily="18" charset="0"/>
                  </a:rPr>
                  <a:t> being transmissibility.</a:t>
                </a:r>
              </a:p>
              <a:p>
                <a:endParaRPr lang="en-US" sz="2000"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n-US" sz="2000" i="1">
                          <a:solidFill>
                            <a:srgbClr val="FF0000"/>
                          </a:solidFill>
                          <a:latin typeface="Cambria Math"/>
                          <a:ea typeface="Cambria Math"/>
                          <a:cs typeface="Times New Roman" panose="02020603050405020304" pitchFamily="18" charset="0"/>
                        </a:rPr>
                        <m:t>𝛼</m:t>
                      </m:r>
                      <m:r>
                        <a:rPr lang="en-US" sz="2000" i="1">
                          <a:solidFill>
                            <a:srgbClr val="FF0000"/>
                          </a:solidFill>
                          <a:latin typeface="Cambria Math"/>
                          <a:ea typeface="Cambria Math"/>
                          <a:cs typeface="Times New Roman" panose="02020603050405020304" pitchFamily="18" charset="0"/>
                        </a:rPr>
                        <m:t>=</m:t>
                      </m:r>
                      <m:func>
                        <m:funcPr>
                          <m:ctrlPr>
                            <a:rPr lang="en-US" sz="2000" i="1">
                              <a:solidFill>
                                <a:srgbClr val="FF0000"/>
                              </a:solidFill>
                              <a:latin typeface="Cambria Math" panose="02040503050406030204" pitchFamily="18" charset="0"/>
                              <a:ea typeface="Cambria Math"/>
                              <a:cs typeface="Times New Roman" panose="02020603050405020304" pitchFamily="18" charset="0"/>
                            </a:rPr>
                          </m:ctrlPr>
                        </m:funcPr>
                        <m:fName>
                          <m:sSup>
                            <m:sSupPr>
                              <m:ctrlPr>
                                <a:rPr lang="en-US" sz="2000" i="1">
                                  <a:solidFill>
                                    <a:srgbClr val="FF0000"/>
                                  </a:solidFill>
                                  <a:latin typeface="Cambria Math" panose="02040503050406030204" pitchFamily="18" charset="0"/>
                                  <a:ea typeface="Cambria Math"/>
                                  <a:cs typeface="Times New Roman" panose="02020603050405020304" pitchFamily="18" charset="0"/>
                                </a:rPr>
                              </m:ctrlPr>
                            </m:sSupPr>
                            <m:e>
                              <m:r>
                                <m:rPr>
                                  <m:sty m:val="p"/>
                                </m:rPr>
                                <a:rPr lang="en-US" sz="2000">
                                  <a:solidFill>
                                    <a:srgbClr val="FF0000"/>
                                  </a:solidFill>
                                  <a:latin typeface="Cambria Math"/>
                                  <a:ea typeface="Cambria Math"/>
                                  <a:cs typeface="Times New Roman" panose="02020603050405020304" pitchFamily="18" charset="0"/>
                                </a:rPr>
                                <m:t>tan</m:t>
                              </m:r>
                            </m:e>
                            <m:sup>
                              <m:r>
                                <a:rPr lang="en-US" sz="2000" i="1">
                                  <a:solidFill>
                                    <a:srgbClr val="FF0000"/>
                                  </a:solidFill>
                                  <a:latin typeface="Cambria Math"/>
                                  <a:ea typeface="Cambria Math"/>
                                  <a:cs typeface="Times New Roman" panose="02020603050405020304" pitchFamily="18" charset="0"/>
                                </a:rPr>
                                <m:t>−1</m:t>
                              </m:r>
                            </m:sup>
                          </m:sSup>
                        </m:fName>
                        <m:e>
                          <m:f>
                            <m:fPr>
                              <m:ctrlPr>
                                <a:rPr lang="en-US" sz="2000" i="1">
                                  <a:solidFill>
                                    <a:srgbClr val="FF0000"/>
                                  </a:solidFill>
                                  <a:latin typeface="Cambria Math" panose="02040503050406030204" pitchFamily="18" charset="0"/>
                                  <a:ea typeface="Cambria Math"/>
                                  <a:cs typeface="Times New Roman" panose="02020603050405020304" pitchFamily="18" charset="0"/>
                                </a:rPr>
                              </m:ctrlPr>
                            </m:fPr>
                            <m:num>
                              <m:r>
                                <a:rPr lang="en-US" sz="2000" i="1">
                                  <a:solidFill>
                                    <a:srgbClr val="FF0000"/>
                                  </a:solidFill>
                                  <a:latin typeface="Cambria Math"/>
                                  <a:cs typeface="Times New Roman" panose="02020603050405020304" pitchFamily="18" charset="0"/>
                                </a:rPr>
                                <m:t>𝐶</m:t>
                              </m:r>
                              <m:r>
                                <a:rPr lang="en-US" sz="2000" i="1">
                                  <a:solidFill>
                                    <a:srgbClr val="FF0000"/>
                                  </a:solidFill>
                                  <a:latin typeface="Cambria Math"/>
                                  <a:ea typeface="Cambria Math"/>
                                  <a:cs typeface="Times New Roman" panose="02020603050405020304" pitchFamily="18" charset="0"/>
                                </a:rPr>
                                <m:t>𝜔</m:t>
                              </m:r>
                            </m:num>
                            <m:den>
                              <m:r>
                                <a:rPr lang="en-US" sz="2000" i="1">
                                  <a:solidFill>
                                    <a:srgbClr val="FF0000"/>
                                  </a:solidFill>
                                  <a:latin typeface="Cambria Math"/>
                                  <a:ea typeface="Cambria Math"/>
                                  <a:cs typeface="Times New Roman" panose="02020603050405020304" pitchFamily="18" charset="0"/>
                                </a:rPr>
                                <m:t>𝐾</m:t>
                              </m:r>
                            </m:den>
                          </m:f>
                        </m:e>
                      </m:func>
                      <m:r>
                        <a:rPr lang="en-US" sz="2000" i="1">
                          <a:solidFill>
                            <a:srgbClr val="FF0000"/>
                          </a:solidFill>
                          <a:latin typeface="Cambria Math"/>
                          <a:ea typeface="Cambria Math"/>
                          <a:cs typeface="Times New Roman" panose="02020603050405020304" pitchFamily="18" charset="0"/>
                        </a:rPr>
                        <m:t>=</m:t>
                      </m:r>
                      <m:func>
                        <m:funcPr>
                          <m:ctrlPr>
                            <a:rPr lang="en-US" sz="2000" i="1">
                              <a:solidFill>
                                <a:srgbClr val="FF0000"/>
                              </a:solidFill>
                              <a:latin typeface="Cambria Math" panose="02040503050406030204" pitchFamily="18" charset="0"/>
                              <a:ea typeface="Cambria Math"/>
                              <a:cs typeface="Times New Roman" panose="02020603050405020304" pitchFamily="18" charset="0"/>
                            </a:rPr>
                          </m:ctrlPr>
                        </m:funcPr>
                        <m:fName>
                          <m:sSup>
                            <m:sSupPr>
                              <m:ctrlPr>
                                <a:rPr lang="en-US" sz="2000" i="1">
                                  <a:solidFill>
                                    <a:srgbClr val="FF0000"/>
                                  </a:solidFill>
                                  <a:latin typeface="Cambria Math" panose="02040503050406030204" pitchFamily="18" charset="0"/>
                                  <a:ea typeface="Cambria Math"/>
                                  <a:cs typeface="Times New Roman" panose="02020603050405020304" pitchFamily="18" charset="0"/>
                                </a:rPr>
                              </m:ctrlPr>
                            </m:sSupPr>
                            <m:e>
                              <m:r>
                                <m:rPr>
                                  <m:sty m:val="p"/>
                                </m:rPr>
                                <a:rPr lang="en-US" sz="2000">
                                  <a:solidFill>
                                    <a:srgbClr val="FF0000"/>
                                  </a:solidFill>
                                  <a:latin typeface="Cambria Math"/>
                                  <a:ea typeface="Cambria Math"/>
                                  <a:cs typeface="Times New Roman" panose="02020603050405020304" pitchFamily="18" charset="0"/>
                                </a:rPr>
                                <m:t>tan</m:t>
                              </m:r>
                            </m:e>
                            <m:sup>
                              <m:r>
                                <a:rPr lang="en-US" sz="2000" i="1">
                                  <a:solidFill>
                                    <a:srgbClr val="FF0000"/>
                                  </a:solidFill>
                                  <a:latin typeface="Cambria Math"/>
                                  <a:ea typeface="Cambria Math"/>
                                  <a:cs typeface="Times New Roman" panose="02020603050405020304" pitchFamily="18" charset="0"/>
                                </a:rPr>
                                <m:t>−1</m:t>
                              </m:r>
                            </m:sup>
                          </m:sSup>
                        </m:fName>
                        <m:e>
                          <m:d>
                            <m:dPr>
                              <m:ctrlPr>
                                <a:rPr lang="en-US" sz="2000" i="1">
                                  <a:solidFill>
                                    <a:srgbClr val="FF0000"/>
                                  </a:solidFill>
                                  <a:latin typeface="Cambria Math" panose="02040503050406030204" pitchFamily="18" charset="0"/>
                                  <a:ea typeface="Cambria Math"/>
                                  <a:cs typeface="Times New Roman" panose="02020603050405020304" pitchFamily="18" charset="0"/>
                                </a:rPr>
                              </m:ctrlPr>
                            </m:dPr>
                            <m:e>
                              <m:r>
                                <a:rPr lang="en-US" sz="2000" i="1">
                                  <a:solidFill>
                                    <a:srgbClr val="FF0000"/>
                                  </a:solidFill>
                                  <a:latin typeface="Cambria Math"/>
                                  <a:ea typeface="Cambria Math"/>
                                  <a:cs typeface="Times New Roman" panose="02020603050405020304" pitchFamily="18" charset="0"/>
                                </a:rPr>
                                <m:t>2</m:t>
                              </m:r>
                              <m:r>
                                <a:rPr lang="en-US" sz="2000" i="1">
                                  <a:solidFill>
                                    <a:srgbClr val="FF0000"/>
                                  </a:solidFill>
                                  <a:latin typeface="Cambria Math"/>
                                  <a:ea typeface="Cambria Math"/>
                                  <a:cs typeface="Times New Roman" panose="02020603050405020304" pitchFamily="18" charset="0"/>
                                </a:rPr>
                                <m:t>𝜁</m:t>
                              </m:r>
                              <m:f>
                                <m:fPr>
                                  <m:ctrlPr>
                                    <a:rPr lang="en-US" sz="2000" i="1">
                                      <a:solidFill>
                                        <a:srgbClr val="FF0000"/>
                                      </a:solidFill>
                                      <a:latin typeface="Cambria Math" panose="02040503050406030204" pitchFamily="18" charset="0"/>
                                      <a:ea typeface="Cambria Math"/>
                                      <a:cs typeface="Times New Roman" panose="02020603050405020304" pitchFamily="18" charset="0"/>
                                    </a:rPr>
                                  </m:ctrlPr>
                                </m:fPr>
                                <m:num>
                                  <m:r>
                                    <a:rPr lang="en-US" sz="2000" i="1">
                                      <a:solidFill>
                                        <a:srgbClr val="FF0000"/>
                                      </a:solidFill>
                                      <a:latin typeface="Cambria Math"/>
                                      <a:ea typeface="Cambria Math"/>
                                      <a:cs typeface="Times New Roman" panose="02020603050405020304" pitchFamily="18" charset="0"/>
                                    </a:rPr>
                                    <m:t>𝜔</m:t>
                                  </m:r>
                                </m:num>
                                <m:den>
                                  <m:sSub>
                                    <m:sSubPr>
                                      <m:ctrlPr>
                                        <a:rPr lang="en-US" sz="2000" i="1">
                                          <a:solidFill>
                                            <a:srgbClr val="FF0000"/>
                                          </a:solidFill>
                                          <a:latin typeface="Cambria Math" panose="02040503050406030204" pitchFamily="18" charset="0"/>
                                          <a:ea typeface="Cambria Math"/>
                                          <a:cs typeface="Times New Roman" panose="02020603050405020304" pitchFamily="18" charset="0"/>
                                        </a:rPr>
                                      </m:ctrlPr>
                                    </m:sSubPr>
                                    <m:e>
                                      <m:r>
                                        <a:rPr lang="en-US" sz="2000" i="1">
                                          <a:solidFill>
                                            <a:srgbClr val="FF0000"/>
                                          </a:solidFill>
                                          <a:latin typeface="Cambria Math"/>
                                          <a:ea typeface="Cambria Math"/>
                                          <a:cs typeface="Times New Roman" panose="02020603050405020304" pitchFamily="18" charset="0"/>
                                        </a:rPr>
                                        <m:t>𝜔</m:t>
                                      </m:r>
                                    </m:e>
                                    <m:sub>
                                      <m:r>
                                        <a:rPr lang="en-US" sz="2000" i="1">
                                          <a:solidFill>
                                            <a:srgbClr val="FF0000"/>
                                          </a:solidFill>
                                          <a:latin typeface="Cambria Math"/>
                                          <a:ea typeface="Cambria Math"/>
                                          <a:cs typeface="Times New Roman" panose="02020603050405020304" pitchFamily="18" charset="0"/>
                                        </a:rPr>
                                        <m:t>𝑛</m:t>
                                      </m:r>
                                    </m:sub>
                                  </m:sSub>
                                </m:den>
                              </m:f>
                            </m:e>
                          </m:d>
                        </m:e>
                      </m:func>
                    </m:oMath>
                  </m:oMathPara>
                </a14:m>
                <a:endParaRPr lang="en-US" sz="2000" dirty="0">
                  <a:solidFill>
                    <a:schemeClr val="tx1"/>
                  </a:solidFill>
                  <a:latin typeface="Times New Roman" pitchFamily="18" charset="0"/>
                  <a:cs typeface="Times New Roman" pitchFamily="18" charset="0"/>
                </a:endParaRPr>
              </a:p>
              <a:p>
                <a:r>
                  <a:rPr lang="en-US" sz="2000" dirty="0">
                    <a:latin typeface="Times New Roman" pitchFamily="18" charset="0"/>
                    <a:cs typeface="Times New Roman" pitchFamily="18" charset="0"/>
                  </a:rPr>
                  <a:t>angle of lag </a:t>
                </a:r>
                <a14:m>
                  <m:oMath xmlns:m="http://schemas.openxmlformats.org/officeDocument/2006/math">
                    <m:r>
                      <a:rPr lang="en-US" sz="2000" i="1">
                        <a:latin typeface="Cambria Math"/>
                        <a:ea typeface="Cambria Math"/>
                        <a:cs typeface="Times New Roman" pitchFamily="18" charset="0"/>
                      </a:rPr>
                      <m:t>𝜙</m:t>
                    </m:r>
                    <m:r>
                      <a:rPr lang="en-US" sz="2000" i="1">
                        <a:latin typeface="Cambria Math"/>
                        <a:ea typeface="Cambria Math"/>
                        <a:cs typeface="Times New Roman" pitchFamily="18" charset="0"/>
                      </a:rPr>
                      <m:t>−</m:t>
                    </m:r>
                    <m:r>
                      <a:rPr lang="en-US" sz="2000" i="1">
                        <a:latin typeface="Cambria Math"/>
                        <a:ea typeface="Cambria Math"/>
                        <a:cs typeface="Times New Roman" pitchFamily="18" charset="0"/>
                      </a:rPr>
                      <m:t>𝛼</m:t>
                    </m:r>
                    <m:r>
                      <a:rPr lang="en-US" sz="2000" i="1">
                        <a:latin typeface="Cambria Math"/>
                        <a:ea typeface="Cambria Math"/>
                        <a:cs typeface="Times New Roman" pitchFamily="18" charset="0"/>
                      </a:rPr>
                      <m:t>=</m:t>
                    </m:r>
                    <m:func>
                      <m:funcPr>
                        <m:ctrlPr>
                          <a:rPr lang="en-US" sz="2000" i="1">
                            <a:latin typeface="Cambria Math" panose="02040503050406030204" pitchFamily="18" charset="0"/>
                            <a:ea typeface="Cambria Math"/>
                            <a:cs typeface="Times New Roman" pitchFamily="18" charset="0"/>
                          </a:rPr>
                        </m:ctrlPr>
                      </m:funcPr>
                      <m:fName>
                        <m:sSup>
                          <m:sSupPr>
                            <m:ctrlPr>
                              <a:rPr lang="en-US" sz="2000" i="1">
                                <a:latin typeface="Cambria Math" panose="02040503050406030204" pitchFamily="18" charset="0"/>
                                <a:ea typeface="Cambria Math"/>
                                <a:cs typeface="Times New Roman" pitchFamily="18" charset="0"/>
                              </a:rPr>
                            </m:ctrlPr>
                          </m:sSupPr>
                          <m:e>
                            <m:r>
                              <m:rPr>
                                <m:sty m:val="p"/>
                              </m:rPr>
                              <a:rPr lang="en-US" sz="2000">
                                <a:latin typeface="Cambria Math"/>
                                <a:ea typeface="Cambria Math"/>
                                <a:cs typeface="Times New Roman" pitchFamily="18" charset="0"/>
                              </a:rPr>
                              <m:t>tan</m:t>
                            </m:r>
                          </m:e>
                          <m:sup>
                            <m:r>
                              <a:rPr lang="en-US" sz="2000" i="1">
                                <a:latin typeface="Cambria Math"/>
                                <a:ea typeface="Cambria Math"/>
                                <a:cs typeface="Times New Roman" pitchFamily="18" charset="0"/>
                              </a:rPr>
                              <m:t>−1</m:t>
                            </m:r>
                          </m:sup>
                        </m:sSup>
                      </m:fName>
                      <m:e>
                        <m:d>
                          <m:dPr>
                            <m:begChr m:val="["/>
                            <m:endChr m:val="]"/>
                            <m:ctrlPr>
                              <a:rPr lang="en-US" sz="2000" i="1">
                                <a:latin typeface="Cambria Math" panose="02040503050406030204" pitchFamily="18" charset="0"/>
                                <a:ea typeface="Cambria Math"/>
                                <a:cs typeface="Times New Roman" pitchFamily="18" charset="0"/>
                              </a:rPr>
                            </m:ctrlPr>
                          </m:dPr>
                          <m:e>
                            <m:f>
                              <m:fPr>
                                <m:ctrlPr>
                                  <a:rPr lang="en-US" sz="2000" i="1">
                                    <a:latin typeface="Cambria Math" panose="02040503050406030204" pitchFamily="18" charset="0"/>
                                    <a:ea typeface="Cambria Math"/>
                                    <a:cs typeface="Times New Roman" pitchFamily="18" charset="0"/>
                                  </a:rPr>
                                </m:ctrlPr>
                              </m:fPr>
                              <m:num>
                                <m:r>
                                  <a:rPr lang="en-US" sz="2000" i="1">
                                    <a:solidFill>
                                      <a:srgbClr val="FF0000"/>
                                    </a:solidFill>
                                    <a:latin typeface="Cambria Math"/>
                                    <a:ea typeface="Cambria Math"/>
                                    <a:cs typeface="Times New Roman" panose="02020603050405020304" pitchFamily="18" charset="0"/>
                                  </a:rPr>
                                  <m:t>2</m:t>
                                </m:r>
                                <m:r>
                                  <a:rPr lang="en-US" sz="2000" i="1">
                                    <a:solidFill>
                                      <a:srgbClr val="FF0000"/>
                                    </a:solidFill>
                                    <a:latin typeface="Cambria Math"/>
                                    <a:ea typeface="Cambria Math"/>
                                    <a:cs typeface="Times New Roman" panose="02020603050405020304" pitchFamily="18" charset="0"/>
                                  </a:rPr>
                                  <m:t>𝜁</m:t>
                                </m:r>
                                <m:f>
                                  <m:fPr>
                                    <m:ctrlPr>
                                      <a:rPr lang="en-US" sz="2000" i="1">
                                        <a:solidFill>
                                          <a:srgbClr val="FF0000"/>
                                        </a:solidFill>
                                        <a:latin typeface="Cambria Math" panose="02040503050406030204" pitchFamily="18" charset="0"/>
                                        <a:ea typeface="Cambria Math"/>
                                        <a:cs typeface="Times New Roman" panose="02020603050405020304" pitchFamily="18" charset="0"/>
                                      </a:rPr>
                                    </m:ctrlPr>
                                  </m:fPr>
                                  <m:num>
                                    <m:r>
                                      <a:rPr lang="en-US" sz="2000" i="1">
                                        <a:solidFill>
                                          <a:srgbClr val="FF0000"/>
                                        </a:solidFill>
                                        <a:latin typeface="Cambria Math"/>
                                        <a:ea typeface="Cambria Math"/>
                                        <a:cs typeface="Times New Roman" panose="02020603050405020304" pitchFamily="18" charset="0"/>
                                      </a:rPr>
                                      <m:t>𝜔</m:t>
                                    </m:r>
                                  </m:num>
                                  <m:den>
                                    <m:sSub>
                                      <m:sSubPr>
                                        <m:ctrlPr>
                                          <a:rPr lang="en-US" sz="2000" i="1">
                                            <a:solidFill>
                                              <a:srgbClr val="FF0000"/>
                                            </a:solidFill>
                                            <a:latin typeface="Cambria Math" panose="02040503050406030204" pitchFamily="18" charset="0"/>
                                            <a:ea typeface="Cambria Math"/>
                                            <a:cs typeface="Times New Roman" panose="02020603050405020304" pitchFamily="18" charset="0"/>
                                          </a:rPr>
                                        </m:ctrlPr>
                                      </m:sSubPr>
                                      <m:e>
                                        <m:r>
                                          <a:rPr lang="en-US" sz="2000" i="1">
                                            <a:solidFill>
                                              <a:srgbClr val="FF0000"/>
                                            </a:solidFill>
                                            <a:latin typeface="Cambria Math"/>
                                            <a:ea typeface="Cambria Math"/>
                                            <a:cs typeface="Times New Roman" panose="02020603050405020304" pitchFamily="18" charset="0"/>
                                          </a:rPr>
                                          <m:t>𝜔</m:t>
                                        </m:r>
                                      </m:e>
                                      <m:sub>
                                        <m:r>
                                          <a:rPr lang="en-US" sz="2000" i="1">
                                            <a:solidFill>
                                              <a:srgbClr val="FF0000"/>
                                            </a:solidFill>
                                            <a:latin typeface="Cambria Math"/>
                                            <a:ea typeface="Cambria Math"/>
                                            <a:cs typeface="Times New Roman" panose="02020603050405020304" pitchFamily="18" charset="0"/>
                                          </a:rPr>
                                          <m:t>𝑛</m:t>
                                        </m:r>
                                      </m:sub>
                                    </m:sSub>
                                  </m:den>
                                </m:f>
                              </m:num>
                              <m:den>
                                <m:r>
                                  <a:rPr lang="en-US" sz="2000" i="1">
                                    <a:latin typeface="Cambria Math"/>
                                    <a:ea typeface="Cambria Math"/>
                                    <a:cs typeface="Times New Roman" pitchFamily="18" charset="0"/>
                                  </a:rPr>
                                  <m:t>1−</m:t>
                                </m:r>
                                <m:sSup>
                                  <m:sSupPr>
                                    <m:ctrlPr>
                                      <a:rPr lang="en-US" sz="2000" i="1">
                                        <a:solidFill>
                                          <a:srgbClr val="FF0000"/>
                                        </a:solidFill>
                                        <a:latin typeface="Cambria Math" panose="02040503050406030204" pitchFamily="18" charset="0"/>
                                        <a:ea typeface="Cambria Math"/>
                                        <a:cs typeface="Times New Roman" panose="02020603050405020304" pitchFamily="18" charset="0"/>
                                      </a:rPr>
                                    </m:ctrlPr>
                                  </m:sSupPr>
                                  <m:e>
                                    <m:d>
                                      <m:dPr>
                                        <m:ctrlPr>
                                          <a:rPr lang="en-US" sz="2000" i="1">
                                            <a:solidFill>
                                              <a:srgbClr val="FF0000"/>
                                            </a:solidFill>
                                            <a:latin typeface="Cambria Math" panose="02040503050406030204" pitchFamily="18" charset="0"/>
                                            <a:ea typeface="Cambria Math"/>
                                            <a:cs typeface="Times New Roman" panose="02020603050405020304" pitchFamily="18" charset="0"/>
                                          </a:rPr>
                                        </m:ctrlPr>
                                      </m:dPr>
                                      <m:e>
                                        <m:f>
                                          <m:fPr>
                                            <m:ctrlPr>
                                              <a:rPr lang="en-US" sz="2000" i="1">
                                                <a:solidFill>
                                                  <a:srgbClr val="FF0000"/>
                                                </a:solidFill>
                                                <a:latin typeface="Cambria Math" panose="02040503050406030204" pitchFamily="18" charset="0"/>
                                                <a:ea typeface="Cambria Math"/>
                                                <a:cs typeface="Times New Roman" panose="02020603050405020304" pitchFamily="18" charset="0"/>
                                              </a:rPr>
                                            </m:ctrlPr>
                                          </m:fPr>
                                          <m:num>
                                            <m:r>
                                              <a:rPr lang="en-US" sz="2000" i="1">
                                                <a:solidFill>
                                                  <a:srgbClr val="FF0000"/>
                                                </a:solidFill>
                                                <a:latin typeface="Cambria Math"/>
                                                <a:ea typeface="Cambria Math"/>
                                                <a:cs typeface="Times New Roman" panose="02020603050405020304" pitchFamily="18" charset="0"/>
                                              </a:rPr>
                                              <m:t>𝜔</m:t>
                                            </m:r>
                                          </m:num>
                                          <m:den>
                                            <m:sSub>
                                              <m:sSubPr>
                                                <m:ctrlPr>
                                                  <a:rPr lang="en-US" sz="2000" i="1">
                                                    <a:solidFill>
                                                      <a:srgbClr val="FF0000"/>
                                                    </a:solidFill>
                                                    <a:latin typeface="Cambria Math" panose="02040503050406030204" pitchFamily="18" charset="0"/>
                                                    <a:ea typeface="Cambria Math"/>
                                                    <a:cs typeface="Times New Roman" panose="02020603050405020304" pitchFamily="18" charset="0"/>
                                                  </a:rPr>
                                                </m:ctrlPr>
                                              </m:sSubPr>
                                              <m:e>
                                                <m:r>
                                                  <a:rPr lang="en-US" sz="2000" i="1">
                                                    <a:solidFill>
                                                      <a:srgbClr val="FF0000"/>
                                                    </a:solidFill>
                                                    <a:latin typeface="Cambria Math"/>
                                                    <a:ea typeface="Cambria Math"/>
                                                    <a:cs typeface="Times New Roman" panose="02020603050405020304" pitchFamily="18" charset="0"/>
                                                  </a:rPr>
                                                  <m:t>𝜔</m:t>
                                                </m:r>
                                              </m:e>
                                              <m:sub>
                                                <m:r>
                                                  <a:rPr lang="en-US" sz="2000" i="1">
                                                    <a:solidFill>
                                                      <a:srgbClr val="FF0000"/>
                                                    </a:solidFill>
                                                    <a:latin typeface="Cambria Math"/>
                                                    <a:ea typeface="Cambria Math"/>
                                                    <a:cs typeface="Times New Roman" panose="02020603050405020304" pitchFamily="18" charset="0"/>
                                                  </a:rPr>
                                                  <m:t>𝑛</m:t>
                                                </m:r>
                                              </m:sub>
                                            </m:sSub>
                                          </m:den>
                                        </m:f>
                                      </m:e>
                                    </m:d>
                                  </m:e>
                                  <m:sup>
                                    <m:r>
                                      <a:rPr lang="en-US" sz="2000" i="1">
                                        <a:solidFill>
                                          <a:srgbClr val="FF0000"/>
                                        </a:solidFill>
                                        <a:latin typeface="Cambria Math"/>
                                        <a:ea typeface="Cambria Math"/>
                                        <a:cs typeface="Times New Roman" panose="02020603050405020304" pitchFamily="18" charset="0"/>
                                      </a:rPr>
                                      <m:t>2</m:t>
                                    </m:r>
                                  </m:sup>
                                </m:sSup>
                              </m:den>
                            </m:f>
                          </m:e>
                        </m:d>
                      </m:e>
                    </m:func>
                    <m:r>
                      <a:rPr lang="en-US" sz="2000" i="1">
                        <a:solidFill>
                          <a:srgbClr val="FF0000"/>
                        </a:solidFill>
                        <a:latin typeface="Cambria Math"/>
                        <a:ea typeface="Cambria Math"/>
                        <a:cs typeface="Times New Roman" panose="02020603050405020304" pitchFamily="18" charset="0"/>
                      </a:rPr>
                      <m:t>−</m:t>
                    </m:r>
                    <m:func>
                      <m:funcPr>
                        <m:ctrlPr>
                          <a:rPr lang="en-US" sz="2000" i="1">
                            <a:solidFill>
                              <a:srgbClr val="FF0000"/>
                            </a:solidFill>
                            <a:latin typeface="Cambria Math" panose="02040503050406030204" pitchFamily="18" charset="0"/>
                            <a:ea typeface="Cambria Math"/>
                            <a:cs typeface="Times New Roman" panose="02020603050405020304" pitchFamily="18" charset="0"/>
                          </a:rPr>
                        </m:ctrlPr>
                      </m:funcPr>
                      <m:fName>
                        <m:sSup>
                          <m:sSupPr>
                            <m:ctrlPr>
                              <a:rPr lang="en-US" sz="2000" i="1">
                                <a:solidFill>
                                  <a:srgbClr val="FF0000"/>
                                </a:solidFill>
                                <a:latin typeface="Cambria Math" panose="02040503050406030204" pitchFamily="18" charset="0"/>
                                <a:ea typeface="Cambria Math"/>
                                <a:cs typeface="Times New Roman" panose="02020603050405020304" pitchFamily="18" charset="0"/>
                              </a:rPr>
                            </m:ctrlPr>
                          </m:sSupPr>
                          <m:e>
                            <m:r>
                              <m:rPr>
                                <m:sty m:val="p"/>
                              </m:rPr>
                              <a:rPr lang="en-US" sz="2000">
                                <a:solidFill>
                                  <a:srgbClr val="FF0000"/>
                                </a:solidFill>
                                <a:latin typeface="Cambria Math"/>
                                <a:ea typeface="Cambria Math"/>
                                <a:cs typeface="Times New Roman" panose="02020603050405020304" pitchFamily="18" charset="0"/>
                              </a:rPr>
                              <m:t>tan</m:t>
                            </m:r>
                          </m:e>
                          <m:sup>
                            <m:r>
                              <a:rPr lang="en-US" sz="2000" i="1">
                                <a:solidFill>
                                  <a:srgbClr val="FF0000"/>
                                </a:solidFill>
                                <a:latin typeface="Cambria Math"/>
                                <a:ea typeface="Cambria Math"/>
                                <a:cs typeface="Times New Roman" panose="02020603050405020304" pitchFamily="18" charset="0"/>
                              </a:rPr>
                              <m:t>−1</m:t>
                            </m:r>
                          </m:sup>
                        </m:sSup>
                      </m:fName>
                      <m:e>
                        <m:d>
                          <m:dPr>
                            <m:ctrlPr>
                              <a:rPr lang="en-US" sz="2000" i="1">
                                <a:solidFill>
                                  <a:srgbClr val="FF0000"/>
                                </a:solidFill>
                                <a:latin typeface="Cambria Math" panose="02040503050406030204" pitchFamily="18" charset="0"/>
                                <a:ea typeface="Cambria Math"/>
                                <a:cs typeface="Times New Roman" panose="02020603050405020304" pitchFamily="18" charset="0"/>
                              </a:rPr>
                            </m:ctrlPr>
                          </m:dPr>
                          <m:e>
                            <m:r>
                              <a:rPr lang="en-US" sz="2000" i="1">
                                <a:solidFill>
                                  <a:srgbClr val="FF0000"/>
                                </a:solidFill>
                                <a:latin typeface="Cambria Math"/>
                                <a:ea typeface="Cambria Math"/>
                                <a:cs typeface="Times New Roman" panose="02020603050405020304" pitchFamily="18" charset="0"/>
                              </a:rPr>
                              <m:t>2</m:t>
                            </m:r>
                            <m:r>
                              <a:rPr lang="en-US" sz="2000" i="1">
                                <a:solidFill>
                                  <a:srgbClr val="FF0000"/>
                                </a:solidFill>
                                <a:latin typeface="Cambria Math"/>
                                <a:ea typeface="Cambria Math"/>
                                <a:cs typeface="Times New Roman" panose="02020603050405020304" pitchFamily="18" charset="0"/>
                              </a:rPr>
                              <m:t>𝜁</m:t>
                            </m:r>
                            <m:f>
                              <m:fPr>
                                <m:ctrlPr>
                                  <a:rPr lang="en-US" sz="2000" i="1">
                                    <a:solidFill>
                                      <a:srgbClr val="FF0000"/>
                                    </a:solidFill>
                                    <a:latin typeface="Cambria Math" panose="02040503050406030204" pitchFamily="18" charset="0"/>
                                    <a:ea typeface="Cambria Math"/>
                                    <a:cs typeface="Times New Roman" panose="02020603050405020304" pitchFamily="18" charset="0"/>
                                  </a:rPr>
                                </m:ctrlPr>
                              </m:fPr>
                              <m:num>
                                <m:r>
                                  <a:rPr lang="en-US" sz="2000" i="1">
                                    <a:solidFill>
                                      <a:srgbClr val="FF0000"/>
                                    </a:solidFill>
                                    <a:latin typeface="Cambria Math"/>
                                    <a:ea typeface="Cambria Math"/>
                                    <a:cs typeface="Times New Roman" panose="02020603050405020304" pitchFamily="18" charset="0"/>
                                  </a:rPr>
                                  <m:t>𝜔</m:t>
                                </m:r>
                              </m:num>
                              <m:den>
                                <m:sSub>
                                  <m:sSubPr>
                                    <m:ctrlPr>
                                      <a:rPr lang="en-US" sz="2000" i="1">
                                        <a:solidFill>
                                          <a:srgbClr val="FF0000"/>
                                        </a:solidFill>
                                        <a:latin typeface="Cambria Math" panose="02040503050406030204" pitchFamily="18" charset="0"/>
                                        <a:ea typeface="Cambria Math"/>
                                        <a:cs typeface="Times New Roman" panose="02020603050405020304" pitchFamily="18" charset="0"/>
                                      </a:rPr>
                                    </m:ctrlPr>
                                  </m:sSubPr>
                                  <m:e>
                                    <m:r>
                                      <a:rPr lang="en-US" sz="2000" i="1">
                                        <a:solidFill>
                                          <a:srgbClr val="FF0000"/>
                                        </a:solidFill>
                                        <a:latin typeface="Cambria Math"/>
                                        <a:ea typeface="Cambria Math"/>
                                        <a:cs typeface="Times New Roman" panose="02020603050405020304" pitchFamily="18" charset="0"/>
                                      </a:rPr>
                                      <m:t>𝜔</m:t>
                                    </m:r>
                                  </m:e>
                                  <m:sub>
                                    <m:r>
                                      <a:rPr lang="en-US" sz="2000" i="1">
                                        <a:solidFill>
                                          <a:srgbClr val="FF0000"/>
                                        </a:solidFill>
                                        <a:latin typeface="Cambria Math"/>
                                        <a:ea typeface="Cambria Math"/>
                                        <a:cs typeface="Times New Roman" panose="02020603050405020304" pitchFamily="18" charset="0"/>
                                      </a:rPr>
                                      <m:t>𝑛</m:t>
                                    </m:r>
                                  </m:sub>
                                </m:sSub>
                              </m:den>
                            </m:f>
                          </m:e>
                        </m:d>
                      </m:e>
                    </m:func>
                  </m:oMath>
                </a14:m>
                <a:endParaRPr lang="en-US" sz="2000" dirty="0">
                  <a:solidFill>
                    <a:schemeClr val="tx1"/>
                  </a:solidFill>
                  <a:latin typeface="Times New Roman" pitchFamily="18" charset="0"/>
                  <a:cs typeface="Times New Roman"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4222865" y="1097196"/>
                <a:ext cx="7688055" cy="5370573"/>
              </a:xfrm>
              <a:prstGeom prst="rect">
                <a:avLst/>
              </a:prstGeom>
              <a:blipFill rotWithShape="0">
                <a:blip r:embed="rId3"/>
                <a:stretch>
                  <a:fillRect l="-872" t="-681"/>
                </a:stretch>
              </a:blipFill>
            </p:spPr>
            <p:txBody>
              <a:bodyPr/>
              <a:lstStyle/>
              <a:p>
                <a:r>
                  <a:rPr lang="en-IN">
                    <a:noFill/>
                  </a:rPr>
                  <a:t> </a:t>
                </a:r>
              </a:p>
            </p:txBody>
          </p:sp>
        </mc:Fallback>
      </mc:AlternateContent>
    </p:spTree>
    <p:extLst>
      <p:ext uri="{BB962C8B-B14F-4D97-AF65-F5344CB8AC3E}">
        <p14:creationId xmlns:p14="http://schemas.microsoft.com/office/powerpoint/2010/main" val="1318776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 transmissibility</a:t>
            </a:r>
            <a:endParaRPr lang="en-IN" sz="3600" dirty="0">
              <a:solidFill>
                <a:srgbClr val="7030A0"/>
              </a:solidFill>
              <a:latin typeface="Times New Roman" pitchFamily="18" charset="0"/>
              <a:cs typeface="Times New Roman" pitchFamily="18" charset="0"/>
            </a:endParaRPr>
          </a:p>
        </p:txBody>
      </p:sp>
      <p:pic>
        <p:nvPicPr>
          <p:cNvPr id="3" name="Picture 2"/>
          <p:cNvPicPr>
            <a:picLocks noChangeAspect="1"/>
          </p:cNvPicPr>
          <p:nvPr/>
        </p:nvPicPr>
        <p:blipFill>
          <a:blip r:embed="rId2"/>
          <a:stretch>
            <a:fillRect/>
          </a:stretch>
        </p:blipFill>
        <p:spPr>
          <a:xfrm>
            <a:off x="223328" y="1512148"/>
            <a:ext cx="3397666" cy="4482161"/>
          </a:xfrm>
          <a:prstGeom prst="rect">
            <a:avLst/>
          </a:prstGeom>
        </p:spPr>
      </p:pic>
      <mc:AlternateContent xmlns:mc="http://schemas.openxmlformats.org/markup-compatibility/2006" xmlns:a14="http://schemas.microsoft.com/office/drawing/2010/main">
        <mc:Choice Requires="a14">
          <p:sp>
            <p:nvSpPr>
              <p:cNvPr id="5" name="Rectangle 4"/>
              <p:cNvSpPr/>
              <p:nvPr/>
            </p:nvSpPr>
            <p:spPr>
              <a:xfrm>
                <a:off x="3765665" y="1105509"/>
                <a:ext cx="8145255" cy="4826962"/>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Transmissibility curve gives us a lot of useful information.</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All the curve starts from unity value of transmissibility, pass through the unit transmissibility at  </a:t>
                </a:r>
                <a14:m>
                  <m:oMath xmlns:m="http://schemas.openxmlformats.org/officeDocument/2006/math">
                    <m:d>
                      <m:dPr>
                        <m:ctrlPr>
                          <a:rPr lang="en-US" sz="2000" i="1" smtClean="0">
                            <a:latin typeface="Cambria Math" panose="02040503050406030204" pitchFamily="18" charset="0"/>
                            <a:cs typeface="Times New Roman" pitchFamily="18" charset="0"/>
                          </a:rPr>
                        </m:ctrlPr>
                      </m:dPr>
                      <m:e>
                        <m:f>
                          <m:fPr>
                            <m:ctrlPr>
                              <a:rPr lang="en-US" sz="2000" i="1">
                                <a:latin typeface="Cambria Math" panose="02040503050406030204" pitchFamily="18" charset="0"/>
                                <a:cs typeface="Times New Roman" pitchFamily="18" charset="0"/>
                              </a:rPr>
                            </m:ctrlPr>
                          </m:fPr>
                          <m:num>
                            <m:r>
                              <a:rPr lang="en-US" sz="2000" i="1">
                                <a:latin typeface="Cambria Math" panose="02040503050406030204" pitchFamily="18" charset="0"/>
                                <a:ea typeface="Cambria Math" panose="02040503050406030204" pitchFamily="18" charset="0"/>
                                <a:cs typeface="Times New Roman" pitchFamily="18" charset="0"/>
                              </a:rPr>
                              <m:t>𝜔</m:t>
                            </m:r>
                          </m:num>
                          <m:den>
                            <m:sSub>
                              <m:sSubPr>
                                <m:ctrlPr>
                                  <a:rPr lang="en-US" sz="2000" i="1">
                                    <a:latin typeface="Cambria Math" panose="02040503050406030204" pitchFamily="18" charset="0"/>
                                    <a:cs typeface="Times New Roman" pitchFamily="18" charset="0"/>
                                  </a:rPr>
                                </m:ctrlPr>
                              </m:sSubPr>
                              <m:e>
                                <m:r>
                                  <a:rPr lang="en-US" sz="2000" i="1">
                                    <a:latin typeface="Cambria Math" panose="02040503050406030204" pitchFamily="18" charset="0"/>
                                    <a:ea typeface="Cambria Math" panose="02040503050406030204" pitchFamily="18" charset="0"/>
                                    <a:cs typeface="Times New Roman" pitchFamily="18" charset="0"/>
                                  </a:rPr>
                                  <m:t>𝜔</m:t>
                                </m:r>
                              </m:e>
                              <m:sub>
                                <m:r>
                                  <a:rPr lang="en-US" sz="2000" i="1">
                                    <a:latin typeface="Cambria Math" panose="02040503050406030204" pitchFamily="18" charset="0"/>
                                    <a:cs typeface="Times New Roman" pitchFamily="18" charset="0"/>
                                  </a:rPr>
                                  <m:t>𝑛</m:t>
                                </m:r>
                              </m:sub>
                            </m:sSub>
                          </m:den>
                        </m:f>
                      </m:e>
                    </m:d>
                    <m:r>
                      <a:rPr lang="en-US" sz="2000" b="0" i="1" smtClean="0">
                        <a:latin typeface="Cambria Math" panose="02040503050406030204" pitchFamily="18" charset="0"/>
                        <a:cs typeface="Times New Roman" pitchFamily="18" charset="0"/>
                      </a:rPr>
                      <m:t>=</m:t>
                    </m:r>
                    <m:rad>
                      <m:radPr>
                        <m:degHide m:val="on"/>
                        <m:ctrlPr>
                          <a:rPr lang="en-US" sz="2000" b="0" i="1" smtClean="0">
                            <a:latin typeface="Cambria Math" panose="02040503050406030204" pitchFamily="18" charset="0"/>
                            <a:cs typeface="Times New Roman" pitchFamily="18" charset="0"/>
                          </a:rPr>
                        </m:ctrlPr>
                      </m:radPr>
                      <m:deg/>
                      <m:e>
                        <m:r>
                          <a:rPr lang="en-US" sz="2000" b="0" i="1" smtClean="0">
                            <a:latin typeface="Cambria Math" panose="02040503050406030204" pitchFamily="18" charset="0"/>
                            <a:cs typeface="Times New Roman" pitchFamily="18" charset="0"/>
                          </a:rPr>
                          <m:t>2</m:t>
                        </m:r>
                      </m:e>
                    </m:rad>
                  </m:oMath>
                </a14:m>
                <a:r>
                  <a:rPr lang="en-US" sz="2000" dirty="0">
                    <a:solidFill>
                      <a:schemeClr val="tx1"/>
                    </a:solidFill>
                    <a:latin typeface="Times New Roman" pitchFamily="18" charset="0"/>
                    <a:cs typeface="Times New Roman" pitchFamily="18" charset="0"/>
                  </a:rPr>
                  <a:t> and after that they tends to zero as </a:t>
                </a:r>
                <a14:m>
                  <m:oMath xmlns:m="http://schemas.openxmlformats.org/officeDocument/2006/math">
                    <m:d>
                      <m:dPr>
                        <m:ctrlPr>
                          <a:rPr lang="en-US" sz="2000" i="1">
                            <a:latin typeface="Cambria Math" panose="02040503050406030204" pitchFamily="18" charset="0"/>
                            <a:cs typeface="Times New Roman" pitchFamily="18" charset="0"/>
                          </a:rPr>
                        </m:ctrlPr>
                      </m:dPr>
                      <m:e>
                        <m:f>
                          <m:fPr>
                            <m:ctrlPr>
                              <a:rPr lang="en-US" sz="2000" i="1">
                                <a:latin typeface="Cambria Math" panose="02040503050406030204" pitchFamily="18" charset="0"/>
                                <a:cs typeface="Times New Roman" pitchFamily="18" charset="0"/>
                              </a:rPr>
                            </m:ctrlPr>
                          </m:fPr>
                          <m:num>
                            <m:r>
                              <a:rPr lang="en-US" sz="2000" i="1">
                                <a:latin typeface="Cambria Math" panose="02040503050406030204" pitchFamily="18" charset="0"/>
                                <a:ea typeface="Cambria Math" panose="02040503050406030204" pitchFamily="18" charset="0"/>
                                <a:cs typeface="Times New Roman" pitchFamily="18" charset="0"/>
                              </a:rPr>
                              <m:t>𝜔</m:t>
                            </m:r>
                          </m:num>
                          <m:den>
                            <m:sSub>
                              <m:sSubPr>
                                <m:ctrlPr>
                                  <a:rPr lang="en-US" sz="2000" i="1">
                                    <a:latin typeface="Cambria Math" panose="02040503050406030204" pitchFamily="18" charset="0"/>
                                    <a:cs typeface="Times New Roman" pitchFamily="18" charset="0"/>
                                  </a:rPr>
                                </m:ctrlPr>
                              </m:sSubPr>
                              <m:e>
                                <m:r>
                                  <a:rPr lang="en-US" sz="2000" i="1">
                                    <a:latin typeface="Cambria Math" panose="02040503050406030204" pitchFamily="18" charset="0"/>
                                    <a:ea typeface="Cambria Math" panose="02040503050406030204" pitchFamily="18" charset="0"/>
                                    <a:cs typeface="Times New Roman" pitchFamily="18" charset="0"/>
                                  </a:rPr>
                                  <m:t>𝜔</m:t>
                                </m:r>
                              </m:e>
                              <m:sub>
                                <m:r>
                                  <a:rPr lang="en-US" sz="2000" i="1">
                                    <a:latin typeface="Cambria Math" panose="02040503050406030204" pitchFamily="18" charset="0"/>
                                    <a:cs typeface="Times New Roman" pitchFamily="18" charset="0"/>
                                  </a:rPr>
                                  <m:t>𝑛</m:t>
                                </m:r>
                              </m:sub>
                            </m:sSub>
                          </m:den>
                        </m:f>
                      </m:e>
                    </m:d>
                    <m:r>
                      <a:rPr lang="en-US" sz="2000" i="1" smtClean="0">
                        <a:latin typeface="Cambria Math" panose="02040503050406030204" pitchFamily="18" charset="0"/>
                        <a:ea typeface="Cambria Math" panose="02040503050406030204" pitchFamily="18" charset="0"/>
                        <a:cs typeface="Times New Roman" pitchFamily="18" charset="0"/>
                      </a:rPr>
                      <m:t>→∞</m:t>
                    </m:r>
                  </m:oMath>
                </a14:m>
                <a:r>
                  <a:rPr lang="en-US" sz="2000" dirty="0">
                    <a:solidFill>
                      <a:schemeClr val="tx1"/>
                    </a:solidFill>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The curve can be divided into three distinct region. Controlling parameter are mass, stiffness and damping.</a:t>
                </a:r>
              </a:p>
              <a:p>
                <a:endParaRPr lang="en-US" sz="2000" dirty="0">
                  <a:solidFill>
                    <a:schemeClr val="tx1"/>
                  </a:solidFill>
                  <a:latin typeface="Times New Roman" pitchFamily="18" charset="0"/>
                  <a:cs typeface="Times New Roman" pitchFamily="18" charset="0"/>
                </a:endParaRPr>
              </a:p>
              <a:p>
                <a:r>
                  <a:rPr lang="en-US" sz="2000" dirty="0">
                    <a:latin typeface="Times New Roman" pitchFamily="18" charset="0"/>
                    <a:cs typeface="Times New Roman" pitchFamily="18" charset="0"/>
                  </a:rPr>
                  <a:t>Isolation is really effective when </a:t>
                </a:r>
                <a14:m>
                  <m:oMath xmlns:m="http://schemas.openxmlformats.org/officeDocument/2006/math">
                    <m:d>
                      <m:dPr>
                        <m:ctrlPr>
                          <a:rPr lang="en-US" sz="2000" i="1">
                            <a:latin typeface="Cambria Math" panose="02040503050406030204" pitchFamily="18" charset="0"/>
                            <a:cs typeface="Times New Roman" pitchFamily="18" charset="0"/>
                          </a:rPr>
                        </m:ctrlPr>
                      </m:dPr>
                      <m:e>
                        <m:f>
                          <m:fPr>
                            <m:ctrlPr>
                              <a:rPr lang="en-US" sz="2000" i="1">
                                <a:latin typeface="Cambria Math" panose="02040503050406030204" pitchFamily="18" charset="0"/>
                                <a:cs typeface="Times New Roman" pitchFamily="18" charset="0"/>
                              </a:rPr>
                            </m:ctrlPr>
                          </m:fPr>
                          <m:num>
                            <m:r>
                              <a:rPr lang="en-US" sz="2000" i="1">
                                <a:latin typeface="Cambria Math" panose="02040503050406030204" pitchFamily="18" charset="0"/>
                                <a:ea typeface="Cambria Math" panose="02040503050406030204" pitchFamily="18" charset="0"/>
                                <a:cs typeface="Times New Roman" pitchFamily="18" charset="0"/>
                              </a:rPr>
                              <m:t>𝜔</m:t>
                            </m:r>
                          </m:num>
                          <m:den>
                            <m:sSub>
                              <m:sSubPr>
                                <m:ctrlPr>
                                  <a:rPr lang="en-US" sz="2000" i="1">
                                    <a:latin typeface="Cambria Math" panose="02040503050406030204" pitchFamily="18" charset="0"/>
                                    <a:cs typeface="Times New Roman" pitchFamily="18" charset="0"/>
                                  </a:rPr>
                                </m:ctrlPr>
                              </m:sSubPr>
                              <m:e>
                                <m:r>
                                  <a:rPr lang="en-US" sz="2000" i="1">
                                    <a:latin typeface="Cambria Math" panose="02040503050406030204" pitchFamily="18" charset="0"/>
                                    <a:ea typeface="Cambria Math" panose="02040503050406030204" pitchFamily="18" charset="0"/>
                                    <a:cs typeface="Times New Roman" pitchFamily="18" charset="0"/>
                                  </a:rPr>
                                  <m:t>𝜔</m:t>
                                </m:r>
                              </m:e>
                              <m:sub>
                                <m:r>
                                  <a:rPr lang="en-US" sz="2000" i="1">
                                    <a:latin typeface="Cambria Math" panose="02040503050406030204" pitchFamily="18" charset="0"/>
                                    <a:cs typeface="Times New Roman" pitchFamily="18" charset="0"/>
                                  </a:rPr>
                                  <m:t>𝑛</m:t>
                                </m:r>
                              </m:sub>
                            </m:sSub>
                          </m:den>
                        </m:f>
                      </m:e>
                    </m:d>
                  </m:oMath>
                </a14:m>
                <a:r>
                  <a:rPr lang="en-US" sz="2000" dirty="0">
                    <a:latin typeface="Times New Roman" pitchFamily="18" charset="0"/>
                    <a:cs typeface="Times New Roman" pitchFamily="18" charset="0"/>
                  </a:rPr>
                  <a:t> is large. This is mass controlled region.</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when </a:t>
                </a:r>
                <a14:m>
                  <m:oMath xmlns:m="http://schemas.openxmlformats.org/officeDocument/2006/math">
                    <m:d>
                      <m:dPr>
                        <m:ctrlPr>
                          <a:rPr lang="en-US" sz="2000" i="1">
                            <a:latin typeface="Cambria Math" panose="02040503050406030204" pitchFamily="18" charset="0"/>
                            <a:cs typeface="Times New Roman" pitchFamily="18" charset="0"/>
                          </a:rPr>
                        </m:ctrlPr>
                      </m:dPr>
                      <m:e>
                        <m:f>
                          <m:fPr>
                            <m:ctrlPr>
                              <a:rPr lang="en-US" sz="2000" i="1">
                                <a:latin typeface="Cambria Math" panose="02040503050406030204" pitchFamily="18" charset="0"/>
                                <a:cs typeface="Times New Roman" pitchFamily="18" charset="0"/>
                              </a:rPr>
                            </m:ctrlPr>
                          </m:fPr>
                          <m:num>
                            <m:r>
                              <a:rPr lang="en-US" sz="2000" i="1">
                                <a:latin typeface="Cambria Math" panose="02040503050406030204" pitchFamily="18" charset="0"/>
                                <a:ea typeface="Cambria Math" panose="02040503050406030204" pitchFamily="18" charset="0"/>
                                <a:cs typeface="Times New Roman" pitchFamily="18" charset="0"/>
                              </a:rPr>
                              <m:t>𝜔</m:t>
                            </m:r>
                          </m:num>
                          <m:den>
                            <m:sSub>
                              <m:sSubPr>
                                <m:ctrlPr>
                                  <a:rPr lang="en-US" sz="2000" i="1">
                                    <a:latin typeface="Cambria Math" panose="02040503050406030204" pitchFamily="18" charset="0"/>
                                    <a:cs typeface="Times New Roman" pitchFamily="18" charset="0"/>
                                  </a:rPr>
                                </m:ctrlPr>
                              </m:sSubPr>
                              <m:e>
                                <m:r>
                                  <a:rPr lang="en-US" sz="2000" i="1">
                                    <a:latin typeface="Cambria Math" panose="02040503050406030204" pitchFamily="18" charset="0"/>
                                    <a:ea typeface="Cambria Math" panose="02040503050406030204" pitchFamily="18" charset="0"/>
                                    <a:cs typeface="Times New Roman" pitchFamily="18" charset="0"/>
                                  </a:rPr>
                                  <m:t>𝜔</m:t>
                                </m:r>
                              </m:e>
                              <m:sub>
                                <m:r>
                                  <a:rPr lang="en-US" sz="2000" i="1">
                                    <a:latin typeface="Cambria Math" panose="02040503050406030204" pitchFamily="18" charset="0"/>
                                    <a:cs typeface="Times New Roman" pitchFamily="18" charset="0"/>
                                  </a:rPr>
                                  <m:t>𝑛</m:t>
                                </m:r>
                              </m:sub>
                            </m:sSub>
                          </m:den>
                        </m:f>
                      </m:e>
                    </m:d>
                  </m:oMath>
                </a14:m>
                <a:r>
                  <a:rPr lang="en-US" sz="2000" dirty="0">
                    <a:latin typeface="Times New Roman" pitchFamily="18" charset="0"/>
                    <a:cs typeface="Times New Roman" pitchFamily="18" charset="0"/>
                  </a:rPr>
                  <a:t> is small. This is spring controlled region.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when </a:t>
                </a:r>
                <a14:m>
                  <m:oMath xmlns:m="http://schemas.openxmlformats.org/officeDocument/2006/math">
                    <m:d>
                      <m:dPr>
                        <m:ctrlPr>
                          <a:rPr lang="en-US" sz="2000" i="1">
                            <a:latin typeface="Cambria Math" panose="02040503050406030204" pitchFamily="18" charset="0"/>
                            <a:cs typeface="Times New Roman" pitchFamily="18" charset="0"/>
                          </a:rPr>
                        </m:ctrlPr>
                      </m:dPr>
                      <m:e>
                        <m:f>
                          <m:fPr>
                            <m:ctrlPr>
                              <a:rPr lang="en-US" sz="2000" i="1">
                                <a:latin typeface="Cambria Math" panose="02040503050406030204" pitchFamily="18" charset="0"/>
                                <a:cs typeface="Times New Roman" pitchFamily="18" charset="0"/>
                              </a:rPr>
                            </m:ctrlPr>
                          </m:fPr>
                          <m:num>
                            <m:r>
                              <a:rPr lang="en-US" sz="2000" i="1">
                                <a:latin typeface="Cambria Math" panose="02040503050406030204" pitchFamily="18" charset="0"/>
                                <a:ea typeface="Cambria Math" panose="02040503050406030204" pitchFamily="18" charset="0"/>
                                <a:cs typeface="Times New Roman" pitchFamily="18" charset="0"/>
                              </a:rPr>
                              <m:t>𝜔</m:t>
                            </m:r>
                          </m:num>
                          <m:den>
                            <m:sSub>
                              <m:sSubPr>
                                <m:ctrlPr>
                                  <a:rPr lang="en-US" sz="2000" i="1">
                                    <a:latin typeface="Cambria Math" panose="02040503050406030204" pitchFamily="18" charset="0"/>
                                    <a:cs typeface="Times New Roman" pitchFamily="18" charset="0"/>
                                  </a:rPr>
                                </m:ctrlPr>
                              </m:sSubPr>
                              <m:e>
                                <m:r>
                                  <a:rPr lang="en-US" sz="2000" i="1">
                                    <a:latin typeface="Cambria Math" panose="02040503050406030204" pitchFamily="18" charset="0"/>
                                    <a:ea typeface="Cambria Math" panose="02040503050406030204" pitchFamily="18" charset="0"/>
                                    <a:cs typeface="Times New Roman" pitchFamily="18" charset="0"/>
                                  </a:rPr>
                                  <m:t>𝜔</m:t>
                                </m:r>
                              </m:e>
                              <m:sub>
                                <m:r>
                                  <a:rPr lang="en-US" sz="2000" i="1">
                                    <a:latin typeface="Cambria Math" panose="02040503050406030204" pitchFamily="18" charset="0"/>
                                    <a:cs typeface="Times New Roman" pitchFamily="18" charset="0"/>
                                  </a:rPr>
                                  <m:t>𝑛</m:t>
                                </m:r>
                              </m:sub>
                            </m:sSub>
                          </m:den>
                        </m:f>
                      </m:e>
                    </m:d>
                  </m:oMath>
                </a14:m>
                <a:r>
                  <a:rPr lang="en-US" sz="2000" dirty="0">
                    <a:latin typeface="Times New Roman" pitchFamily="18" charset="0"/>
                    <a:cs typeface="Times New Roman" pitchFamily="18" charset="0"/>
                  </a:rPr>
                  <a:t> is medium, is the damping controlled region and must be avoided.</a:t>
                </a:r>
                <a:endParaRPr lang="en-US" sz="2000" dirty="0">
                  <a:solidFill>
                    <a:schemeClr val="tx1"/>
                  </a:solidFill>
                  <a:latin typeface="Times New Roman" pitchFamily="18" charset="0"/>
                  <a:cs typeface="Times New Roman"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3765665" y="1105509"/>
                <a:ext cx="8145255" cy="4826962"/>
              </a:xfrm>
              <a:prstGeom prst="rect">
                <a:avLst/>
              </a:prstGeom>
              <a:blipFill rotWithShape="0">
                <a:blip r:embed="rId3"/>
                <a:stretch>
                  <a:fillRect l="-823" t="-631" r="-599"/>
                </a:stretch>
              </a:blipFill>
            </p:spPr>
            <p:txBody>
              <a:bodyPr/>
              <a:lstStyle/>
              <a:p>
                <a:r>
                  <a:rPr lang="en-IN">
                    <a:noFill/>
                  </a:rPr>
                  <a:t> </a:t>
                </a:r>
              </a:p>
            </p:txBody>
          </p:sp>
        </mc:Fallback>
      </mc:AlternateContent>
    </p:spTree>
    <p:extLst>
      <p:ext uri="{BB962C8B-B14F-4D97-AF65-F5344CB8AC3E}">
        <p14:creationId xmlns:p14="http://schemas.microsoft.com/office/powerpoint/2010/main" val="26350430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Force transmissibility</a:t>
            </a:r>
            <a:endParaRPr lang="en-IN" sz="3600" dirty="0">
              <a:solidFill>
                <a:srgbClr val="7030A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5" name="Rectangle 4"/>
              <p:cNvSpPr/>
              <p:nvPr/>
            </p:nvSpPr>
            <p:spPr>
              <a:xfrm>
                <a:off x="3961013" y="1105509"/>
                <a:ext cx="7949907" cy="2921313"/>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Phase angle plot start from </a:t>
                </a:r>
                <a:r>
                  <a:rPr lang="en-US" sz="2000" dirty="0">
                    <a:latin typeface="Times New Roman" pitchFamily="18" charset="0"/>
                    <a:cs typeface="Times New Roman" pitchFamily="18" charset="0"/>
                  </a:rPr>
                  <a:t>zero and tends to </a:t>
                </a:r>
                <a14:m>
                  <m:oMath xmlns:m="http://schemas.openxmlformats.org/officeDocument/2006/math">
                    <m:sSup>
                      <m:sSupPr>
                        <m:ctrlPr>
                          <a:rPr lang="en-US" sz="2000" i="1" smtClean="0">
                            <a:latin typeface="Cambria Math" panose="02040503050406030204" pitchFamily="18" charset="0"/>
                            <a:cs typeface="Times New Roman" pitchFamily="18" charset="0"/>
                          </a:rPr>
                        </m:ctrlPr>
                      </m:sSupPr>
                      <m:e>
                        <m:r>
                          <a:rPr lang="en-US" sz="2000" b="0" i="1" smtClean="0">
                            <a:latin typeface="Cambria Math" panose="02040503050406030204" pitchFamily="18" charset="0"/>
                            <a:cs typeface="Times New Roman" pitchFamily="18" charset="0"/>
                          </a:rPr>
                          <m:t>90</m:t>
                        </m:r>
                      </m:e>
                      <m:sup>
                        <m:r>
                          <a:rPr lang="en-US" sz="2000" b="0" i="1" smtClean="0">
                            <a:latin typeface="Cambria Math" panose="02040503050406030204" pitchFamily="18" charset="0"/>
                            <a:cs typeface="Times New Roman" pitchFamily="18" charset="0"/>
                          </a:rPr>
                          <m:t>0</m:t>
                        </m:r>
                      </m:sup>
                    </m:sSup>
                  </m:oMath>
                </a14:m>
                <a:r>
                  <a:rPr lang="en-US" sz="2000" dirty="0">
                    <a:solidFill>
                      <a:schemeClr val="tx1"/>
                    </a:solidFill>
                    <a:latin typeface="Times New Roman" pitchFamily="18" charset="0"/>
                    <a:cs typeface="Times New Roman" pitchFamily="18" charset="0"/>
                  </a:rPr>
                  <a:t> when </a:t>
                </a:r>
                <a:r>
                  <a:rPr lang="en-US" sz="2000" dirty="0">
                    <a:latin typeface="Times New Roman" pitchFamily="18" charset="0"/>
                    <a:cs typeface="Times New Roman" pitchFamily="18" charset="0"/>
                  </a:rPr>
                  <a:t>when </a:t>
                </a:r>
                <a14:m>
                  <m:oMath xmlns:m="http://schemas.openxmlformats.org/officeDocument/2006/math">
                    <m:d>
                      <m:dPr>
                        <m:ctrlPr>
                          <a:rPr lang="en-US" sz="2000" i="1">
                            <a:latin typeface="Cambria Math" panose="02040503050406030204" pitchFamily="18" charset="0"/>
                            <a:cs typeface="Times New Roman" pitchFamily="18" charset="0"/>
                          </a:rPr>
                        </m:ctrlPr>
                      </m:dPr>
                      <m:e>
                        <m:f>
                          <m:fPr>
                            <m:ctrlPr>
                              <a:rPr lang="en-US" sz="2000" i="1">
                                <a:latin typeface="Cambria Math" panose="02040503050406030204" pitchFamily="18" charset="0"/>
                                <a:cs typeface="Times New Roman" pitchFamily="18" charset="0"/>
                              </a:rPr>
                            </m:ctrlPr>
                          </m:fPr>
                          <m:num>
                            <m:r>
                              <a:rPr lang="en-US" sz="2000" i="1">
                                <a:latin typeface="Cambria Math" panose="02040503050406030204" pitchFamily="18" charset="0"/>
                                <a:ea typeface="Cambria Math" panose="02040503050406030204" pitchFamily="18" charset="0"/>
                                <a:cs typeface="Times New Roman" pitchFamily="18" charset="0"/>
                              </a:rPr>
                              <m:t>𝜔</m:t>
                            </m:r>
                          </m:num>
                          <m:den>
                            <m:sSub>
                              <m:sSubPr>
                                <m:ctrlPr>
                                  <a:rPr lang="en-US" sz="2000" i="1">
                                    <a:latin typeface="Cambria Math" panose="02040503050406030204" pitchFamily="18" charset="0"/>
                                    <a:cs typeface="Times New Roman" pitchFamily="18" charset="0"/>
                                  </a:rPr>
                                </m:ctrlPr>
                              </m:sSubPr>
                              <m:e>
                                <m:r>
                                  <a:rPr lang="en-US" sz="2000" i="1">
                                    <a:latin typeface="Cambria Math" panose="02040503050406030204" pitchFamily="18" charset="0"/>
                                    <a:ea typeface="Cambria Math" panose="02040503050406030204" pitchFamily="18" charset="0"/>
                                    <a:cs typeface="Times New Roman" pitchFamily="18" charset="0"/>
                                  </a:rPr>
                                  <m:t>𝜔</m:t>
                                </m:r>
                              </m:e>
                              <m:sub>
                                <m:r>
                                  <a:rPr lang="en-US" sz="2000" i="1">
                                    <a:latin typeface="Cambria Math" panose="02040503050406030204" pitchFamily="18" charset="0"/>
                                    <a:cs typeface="Times New Roman" pitchFamily="18" charset="0"/>
                                  </a:rPr>
                                  <m:t>𝑛</m:t>
                                </m:r>
                              </m:sub>
                            </m:sSub>
                          </m:den>
                        </m:f>
                      </m:e>
                    </m:d>
                    <m:r>
                      <a:rPr lang="en-US" sz="2000" i="1">
                        <a:latin typeface="Cambria Math" panose="02040503050406030204" pitchFamily="18" charset="0"/>
                        <a:ea typeface="Cambria Math" panose="02040503050406030204" pitchFamily="18" charset="0"/>
                        <a:cs typeface="Times New Roman" pitchFamily="18" charset="0"/>
                      </a:rPr>
                      <m:t>→∞</m:t>
                    </m:r>
                  </m:oMath>
                </a14:m>
                <a:r>
                  <a:rPr lang="en-US" sz="2000" dirty="0">
                    <a:solidFill>
                      <a:schemeClr val="tx1"/>
                    </a:solidFill>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When </a:t>
                </a:r>
                <a14:m>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cs typeface="Times New Roman" pitchFamily="18" charset="0"/>
                      </a:rPr>
                      <m:t>𝜁</m:t>
                    </m:r>
                    <m:r>
                      <a:rPr lang="en-US" sz="2000" b="0" i="1" smtClean="0">
                        <a:solidFill>
                          <a:schemeClr val="tx1"/>
                        </a:solidFill>
                        <a:latin typeface="Cambria Math" panose="02040503050406030204" pitchFamily="18" charset="0"/>
                        <a:ea typeface="Cambria Math" panose="02040503050406030204" pitchFamily="18" charset="0"/>
                        <a:cs typeface="Times New Roman" pitchFamily="18" charset="0"/>
                      </a:rPr>
                      <m:t>&lt;0.5</m:t>
                    </m:r>
                  </m:oMath>
                </a14:m>
                <a:r>
                  <a:rPr lang="en-US" sz="2000" dirty="0">
                    <a:solidFill>
                      <a:schemeClr val="tx1"/>
                    </a:solidFill>
                    <a:latin typeface="Times New Roman" pitchFamily="18" charset="0"/>
                    <a:cs typeface="Times New Roman" pitchFamily="18" charset="0"/>
                  </a:rPr>
                  <a:t>, the phase angle continues to increase to a maximum which depends upon the amount of damping and then gradually becomes </a:t>
                </a:r>
                <a14:m>
                  <m:oMath xmlns:m="http://schemas.openxmlformats.org/officeDocument/2006/math">
                    <m:sSup>
                      <m:sSupPr>
                        <m:ctrlPr>
                          <a:rPr lang="en-US" sz="2000" i="1">
                            <a:latin typeface="Cambria Math" panose="02040503050406030204" pitchFamily="18" charset="0"/>
                            <a:cs typeface="Times New Roman" pitchFamily="18" charset="0"/>
                          </a:rPr>
                        </m:ctrlPr>
                      </m:sSupPr>
                      <m:e>
                        <m:r>
                          <a:rPr lang="en-US" sz="2000" i="1">
                            <a:latin typeface="Cambria Math" panose="02040503050406030204" pitchFamily="18" charset="0"/>
                            <a:cs typeface="Times New Roman" pitchFamily="18" charset="0"/>
                          </a:rPr>
                          <m:t>90</m:t>
                        </m:r>
                      </m:e>
                      <m:sup>
                        <m:r>
                          <a:rPr lang="en-US" sz="2000" i="1">
                            <a:latin typeface="Cambria Math" panose="02040503050406030204" pitchFamily="18" charset="0"/>
                            <a:cs typeface="Times New Roman" pitchFamily="18" charset="0"/>
                          </a:rPr>
                          <m:t>0</m:t>
                        </m:r>
                      </m:sup>
                    </m:sSup>
                  </m:oMath>
                </a14:m>
                <a:r>
                  <a:rPr lang="en-US" sz="2000" dirty="0">
                    <a:solidFill>
                      <a:schemeClr val="tx1"/>
                    </a:solidFill>
                    <a:latin typeface="Times New Roman" pitchFamily="18" charset="0"/>
                    <a:cs typeface="Times New Roman" pitchFamily="18" charset="0"/>
                  </a:rPr>
                  <a:t> when  </a:t>
                </a:r>
                <a14:m>
                  <m:oMath xmlns:m="http://schemas.openxmlformats.org/officeDocument/2006/math">
                    <m:d>
                      <m:dPr>
                        <m:ctrlPr>
                          <a:rPr lang="en-US" sz="2000" i="1">
                            <a:latin typeface="Cambria Math" panose="02040503050406030204" pitchFamily="18" charset="0"/>
                            <a:cs typeface="Times New Roman" pitchFamily="18" charset="0"/>
                          </a:rPr>
                        </m:ctrlPr>
                      </m:dPr>
                      <m:e>
                        <m:f>
                          <m:fPr>
                            <m:ctrlPr>
                              <a:rPr lang="en-US" sz="2000" i="1">
                                <a:latin typeface="Cambria Math" panose="02040503050406030204" pitchFamily="18" charset="0"/>
                                <a:cs typeface="Times New Roman" pitchFamily="18" charset="0"/>
                              </a:rPr>
                            </m:ctrlPr>
                          </m:fPr>
                          <m:num>
                            <m:r>
                              <a:rPr lang="en-US" sz="2000" i="1">
                                <a:latin typeface="Cambria Math" panose="02040503050406030204" pitchFamily="18" charset="0"/>
                                <a:ea typeface="Cambria Math" panose="02040503050406030204" pitchFamily="18" charset="0"/>
                                <a:cs typeface="Times New Roman" pitchFamily="18" charset="0"/>
                              </a:rPr>
                              <m:t>𝜔</m:t>
                            </m:r>
                          </m:num>
                          <m:den>
                            <m:sSub>
                              <m:sSubPr>
                                <m:ctrlPr>
                                  <a:rPr lang="en-US" sz="2000" i="1">
                                    <a:latin typeface="Cambria Math" panose="02040503050406030204" pitchFamily="18" charset="0"/>
                                    <a:cs typeface="Times New Roman" pitchFamily="18" charset="0"/>
                                  </a:rPr>
                                </m:ctrlPr>
                              </m:sSubPr>
                              <m:e>
                                <m:r>
                                  <a:rPr lang="en-US" sz="2000" i="1">
                                    <a:latin typeface="Cambria Math" panose="02040503050406030204" pitchFamily="18" charset="0"/>
                                    <a:ea typeface="Cambria Math" panose="02040503050406030204" pitchFamily="18" charset="0"/>
                                    <a:cs typeface="Times New Roman" pitchFamily="18" charset="0"/>
                                  </a:rPr>
                                  <m:t>𝜔</m:t>
                                </m:r>
                              </m:e>
                              <m:sub>
                                <m:r>
                                  <a:rPr lang="en-US" sz="2000" i="1">
                                    <a:latin typeface="Cambria Math" panose="02040503050406030204" pitchFamily="18" charset="0"/>
                                    <a:cs typeface="Times New Roman" pitchFamily="18" charset="0"/>
                                  </a:rPr>
                                  <m:t>𝑛</m:t>
                                </m:r>
                              </m:sub>
                            </m:sSub>
                          </m:den>
                        </m:f>
                      </m:e>
                    </m:d>
                    <m:r>
                      <a:rPr lang="en-US" sz="2000" i="1">
                        <a:latin typeface="Cambria Math" panose="02040503050406030204" pitchFamily="18" charset="0"/>
                        <a:ea typeface="Cambria Math" panose="02040503050406030204" pitchFamily="18" charset="0"/>
                        <a:cs typeface="Times New Roman" pitchFamily="18" charset="0"/>
                      </a:rPr>
                      <m:t>→∞</m:t>
                    </m:r>
                  </m:oMath>
                </a14:m>
                <a:r>
                  <a:rPr lang="en-US" sz="2000" dirty="0">
                    <a:solidFill>
                      <a:schemeClr val="tx1"/>
                    </a:solidFill>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 When </a:t>
                </a:r>
                <a14:m>
                  <m:oMath xmlns:m="http://schemas.openxmlformats.org/officeDocument/2006/math">
                    <m:r>
                      <a:rPr lang="en-US" sz="2000" i="1">
                        <a:latin typeface="Cambria Math" panose="02040503050406030204" pitchFamily="18" charset="0"/>
                        <a:ea typeface="Cambria Math" panose="02040503050406030204" pitchFamily="18" charset="0"/>
                        <a:cs typeface="Times New Roman" pitchFamily="18" charset="0"/>
                      </a:rPr>
                      <m:t>𝜁</m:t>
                    </m:r>
                    <m:r>
                      <a:rPr lang="en-US" sz="2000" b="0" i="1" smtClean="0">
                        <a:latin typeface="Cambria Math" panose="02040503050406030204" pitchFamily="18" charset="0"/>
                        <a:ea typeface="Cambria Math" panose="02040503050406030204" pitchFamily="18" charset="0"/>
                        <a:cs typeface="Times New Roman" pitchFamily="18" charset="0"/>
                      </a:rPr>
                      <m:t>&gt;</m:t>
                    </m:r>
                    <m:r>
                      <a:rPr lang="en-US" sz="2000" i="1">
                        <a:latin typeface="Cambria Math" panose="02040503050406030204" pitchFamily="18" charset="0"/>
                        <a:ea typeface="Cambria Math" panose="02040503050406030204" pitchFamily="18" charset="0"/>
                        <a:cs typeface="Times New Roman" pitchFamily="18" charset="0"/>
                      </a:rPr>
                      <m:t>0.5</m:t>
                    </m:r>
                  </m:oMath>
                </a14:m>
                <a:r>
                  <a:rPr lang="en-US" sz="2000" dirty="0">
                    <a:solidFill>
                      <a:schemeClr val="tx1"/>
                    </a:solidFill>
                    <a:latin typeface="Times New Roman" pitchFamily="18" charset="0"/>
                    <a:cs typeface="Times New Roman" pitchFamily="18" charset="0"/>
                  </a:rPr>
                  <a:t>, the phase angle gradually increases from 0 to </a:t>
                </a:r>
                <a14:m>
                  <m:oMath xmlns:m="http://schemas.openxmlformats.org/officeDocument/2006/math">
                    <m:sSup>
                      <m:sSupPr>
                        <m:ctrlPr>
                          <a:rPr lang="en-US" sz="2000" i="1">
                            <a:latin typeface="Cambria Math" panose="02040503050406030204" pitchFamily="18" charset="0"/>
                            <a:cs typeface="Times New Roman" pitchFamily="18" charset="0"/>
                          </a:rPr>
                        </m:ctrlPr>
                      </m:sSupPr>
                      <m:e>
                        <m:r>
                          <a:rPr lang="en-US" sz="2000" i="1">
                            <a:latin typeface="Cambria Math" panose="02040503050406030204" pitchFamily="18" charset="0"/>
                            <a:cs typeface="Times New Roman" pitchFamily="18" charset="0"/>
                          </a:rPr>
                          <m:t>90</m:t>
                        </m:r>
                      </m:e>
                      <m:sup>
                        <m:r>
                          <a:rPr lang="en-US" sz="2000" i="1">
                            <a:latin typeface="Cambria Math" panose="02040503050406030204" pitchFamily="18" charset="0"/>
                            <a:cs typeface="Times New Roman" pitchFamily="18" charset="0"/>
                          </a:rPr>
                          <m:t>0</m:t>
                        </m:r>
                      </m:sup>
                    </m:sSup>
                  </m:oMath>
                </a14:m>
                <a:r>
                  <a:rPr lang="en-US" sz="2000" dirty="0">
                    <a:solidFill>
                      <a:schemeClr val="tx1"/>
                    </a:solidFill>
                    <a:latin typeface="Times New Roman" pitchFamily="18" charset="0"/>
                    <a:cs typeface="Times New Roman" pitchFamily="18" charset="0"/>
                  </a:rPr>
                  <a:t> without having a maximum point.</a:t>
                </a:r>
              </a:p>
            </p:txBody>
          </p:sp>
        </mc:Choice>
        <mc:Fallback xmlns="">
          <p:sp>
            <p:nvSpPr>
              <p:cNvPr id="5" name="Rectangle 4"/>
              <p:cNvSpPr>
                <a:spLocks noRot="1" noChangeAspect="1" noMove="1" noResize="1" noEditPoints="1" noAdjustHandles="1" noChangeArrowheads="1" noChangeShapeType="1" noTextEdit="1"/>
              </p:cNvSpPr>
              <p:nvPr/>
            </p:nvSpPr>
            <p:spPr>
              <a:xfrm>
                <a:off x="3961013" y="1105509"/>
                <a:ext cx="7949907" cy="2921313"/>
              </a:xfrm>
              <a:prstGeom prst="rect">
                <a:avLst/>
              </a:prstGeom>
              <a:blipFill rotWithShape="0">
                <a:blip r:embed="rId2"/>
                <a:stretch>
                  <a:fillRect l="-844" b="-2708"/>
                </a:stretch>
              </a:blipFill>
            </p:spPr>
            <p:txBody>
              <a:bodyPr/>
              <a:lstStyle/>
              <a:p>
                <a:r>
                  <a:rPr lang="en-IN">
                    <a:noFill/>
                  </a:rPr>
                  <a:t> </a:t>
                </a:r>
              </a:p>
            </p:txBody>
          </p:sp>
        </mc:Fallback>
      </mc:AlternateContent>
      <p:pic>
        <p:nvPicPr>
          <p:cNvPr id="4" name="Picture 3"/>
          <p:cNvPicPr>
            <a:picLocks noChangeAspect="1"/>
          </p:cNvPicPr>
          <p:nvPr/>
        </p:nvPicPr>
        <p:blipFill>
          <a:blip r:embed="rId3"/>
          <a:stretch>
            <a:fillRect/>
          </a:stretch>
        </p:blipFill>
        <p:spPr>
          <a:xfrm>
            <a:off x="301374" y="1238598"/>
            <a:ext cx="3755782" cy="4340854"/>
          </a:xfrm>
          <a:prstGeom prst="rect">
            <a:avLst/>
          </a:prstGeom>
        </p:spPr>
      </p:pic>
    </p:spTree>
    <p:extLst>
      <p:ext uri="{BB962C8B-B14F-4D97-AF65-F5344CB8AC3E}">
        <p14:creationId xmlns:p14="http://schemas.microsoft.com/office/powerpoint/2010/main" val="4703359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Motion transmissibility</a:t>
            </a:r>
            <a:endParaRPr lang="en-IN" sz="3600" dirty="0">
              <a:solidFill>
                <a:srgbClr val="7030A0"/>
              </a:solidFill>
              <a:latin typeface="Times New Roman" pitchFamily="18" charset="0"/>
              <a:cs typeface="Times New Roman" pitchFamily="18" charset="0"/>
            </a:endParaRPr>
          </a:p>
        </p:txBody>
      </p:sp>
    </p:spTree>
    <p:extLst>
      <p:ext uri="{BB962C8B-B14F-4D97-AF65-F5344CB8AC3E}">
        <p14:creationId xmlns:p14="http://schemas.microsoft.com/office/powerpoint/2010/main" val="1531266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Typical isolators and mount types</a:t>
            </a:r>
            <a:endParaRPr lang="en-IN" sz="3600" dirty="0">
              <a:solidFill>
                <a:srgbClr val="7030A0"/>
              </a:solidFill>
              <a:latin typeface="Times New Roman" pitchFamily="18" charset="0"/>
              <a:cs typeface="Times New Roman" pitchFamily="18" charset="0"/>
            </a:endParaRPr>
          </a:p>
        </p:txBody>
      </p:sp>
      <p:sp>
        <p:nvSpPr>
          <p:cNvPr id="4" name="Rectangle 3"/>
          <p:cNvSpPr/>
          <p:nvPr/>
        </p:nvSpPr>
        <p:spPr>
          <a:xfrm>
            <a:off x="223328" y="1105509"/>
            <a:ext cx="11687592" cy="3477875"/>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The typical isolators are coil spring and the elastomers (rubber and neoprene).  Coil spring have negligible internal damping while neoprene has sufficient amount of it. </a:t>
            </a:r>
          </a:p>
          <a:p>
            <a:endParaRPr lang="en-US" sz="2000" dirty="0">
              <a:latin typeface="Times New Roman" pitchFamily="18" charset="0"/>
              <a:cs typeface="Times New Roman" pitchFamily="18" charset="0"/>
            </a:endParaRPr>
          </a:p>
          <a:p>
            <a:endParaRPr lang="en-US" sz="2000" dirty="0">
              <a:solidFill>
                <a:schemeClr val="tx1"/>
              </a:solidFill>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Steel springs</a:t>
            </a:r>
          </a:p>
          <a:p>
            <a:endParaRPr lang="en-US" sz="2000" dirty="0">
              <a:solidFill>
                <a:schemeClr val="tx1"/>
              </a:solidFill>
              <a:latin typeface="Times New Roman" pitchFamily="18" charset="0"/>
              <a:cs typeface="Times New Roman" pitchFamily="18" charset="0"/>
            </a:endParaRPr>
          </a:p>
          <a:p>
            <a:endParaRPr lang="en-US" sz="2000" dirty="0">
              <a:solidFill>
                <a:schemeClr val="tx1"/>
              </a:solidFill>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Pad mounts</a:t>
            </a:r>
          </a:p>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General purpose elastomeric mounts</a:t>
            </a:r>
          </a:p>
        </p:txBody>
      </p:sp>
    </p:spTree>
    <p:extLst>
      <p:ext uri="{BB962C8B-B14F-4D97-AF65-F5344CB8AC3E}">
        <p14:creationId xmlns:p14="http://schemas.microsoft.com/office/powerpoint/2010/main" val="30135420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Example</a:t>
            </a:r>
            <a:endParaRPr lang="en-IN" sz="3600" dirty="0">
              <a:solidFill>
                <a:srgbClr val="7030A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4" name="Rectangle 3"/>
              <p:cNvSpPr/>
              <p:nvPr/>
            </p:nvSpPr>
            <p:spPr>
              <a:xfrm>
                <a:off x="223328" y="1105509"/>
                <a:ext cx="11687592" cy="1938992"/>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A 1000 kg machine is mounted on </a:t>
                </a:r>
                <a:r>
                  <a:rPr lang="en-US" sz="2000" dirty="0">
                    <a:latin typeface="Times New Roman" pitchFamily="18" charset="0"/>
                    <a:cs typeface="Times New Roman" pitchFamily="18" charset="0"/>
                  </a:rPr>
                  <a:t>four identical springs of total spring constant k and having negligible damping. The machine is subjected to a harmonic external force of amplitude </a:t>
                </a:r>
                <a14:m>
                  <m:oMath xmlns:m="http://schemas.openxmlformats.org/officeDocument/2006/math">
                    <m:sSub>
                      <m:sSubPr>
                        <m:ctrlPr>
                          <a:rPr lang="en-US" sz="2000" i="1" smtClean="0">
                            <a:latin typeface="Cambria Math" panose="02040503050406030204" pitchFamily="18" charset="0"/>
                            <a:cs typeface="Times New Roman" pitchFamily="18" charset="0"/>
                          </a:rPr>
                        </m:ctrlPr>
                      </m:sSubPr>
                      <m:e>
                        <m:r>
                          <a:rPr lang="en-US" sz="2000" b="0" i="1" smtClean="0">
                            <a:latin typeface="Cambria Math" panose="02040503050406030204" pitchFamily="18" charset="0"/>
                            <a:cs typeface="Times New Roman" pitchFamily="18" charset="0"/>
                          </a:rPr>
                          <m:t>𝐹</m:t>
                        </m:r>
                      </m:e>
                      <m:sub>
                        <m:r>
                          <a:rPr lang="en-US" sz="2000" b="0" i="1" smtClean="0">
                            <a:latin typeface="Cambria Math" panose="02040503050406030204" pitchFamily="18" charset="0"/>
                            <a:cs typeface="Times New Roman" pitchFamily="18" charset="0"/>
                          </a:rPr>
                          <m:t>0</m:t>
                        </m:r>
                      </m:sub>
                    </m:sSub>
                    <m:r>
                      <a:rPr lang="en-US" sz="2000" b="0" i="1" smtClean="0">
                        <a:latin typeface="Cambria Math" panose="02040503050406030204" pitchFamily="18" charset="0"/>
                        <a:cs typeface="Times New Roman" pitchFamily="18" charset="0"/>
                      </a:rPr>
                      <m:t>=490 </m:t>
                    </m:r>
                    <m:r>
                      <a:rPr lang="en-US" sz="2000" b="0" i="1" smtClean="0">
                        <a:latin typeface="Cambria Math" panose="02040503050406030204" pitchFamily="18" charset="0"/>
                        <a:cs typeface="Times New Roman" pitchFamily="18" charset="0"/>
                      </a:rPr>
                      <m:t>𝑁</m:t>
                    </m:r>
                    <m:r>
                      <a:rPr lang="en-US" sz="2000" b="0" i="0" smtClean="0">
                        <a:latin typeface="Cambria Math" panose="02040503050406030204" pitchFamily="18" charset="0"/>
                        <a:cs typeface="Times New Roman" pitchFamily="18" charset="0"/>
                      </a:rPr>
                      <m:t> </m:t>
                    </m:r>
                  </m:oMath>
                </a14:m>
                <a:r>
                  <a:rPr lang="en-US" sz="2000" dirty="0">
                    <a:solidFill>
                      <a:schemeClr val="tx1"/>
                    </a:solidFill>
                    <a:latin typeface="Times New Roman" pitchFamily="18" charset="0"/>
                    <a:cs typeface="Times New Roman" pitchFamily="18" charset="0"/>
                  </a:rPr>
                  <a:t>and frequency 180 rpm. Determine </a:t>
                </a:r>
              </a:p>
              <a:p>
                <a:r>
                  <a:rPr lang="en-US" sz="2000" dirty="0">
                    <a:latin typeface="Times New Roman" pitchFamily="18" charset="0"/>
                    <a:cs typeface="Times New Roman" pitchFamily="18" charset="0"/>
                  </a:rPr>
                  <a:t>(a) t</a:t>
                </a:r>
                <a:r>
                  <a:rPr lang="en-US" sz="2000" dirty="0">
                    <a:solidFill>
                      <a:schemeClr val="tx1"/>
                    </a:solidFill>
                    <a:latin typeface="Times New Roman" pitchFamily="18" charset="0"/>
                    <a:cs typeface="Times New Roman" pitchFamily="18" charset="0"/>
                  </a:rPr>
                  <a:t>he amplitude of motion of the machine and maximum force transmitted to foundation because of the unbalanced force when </a:t>
                </a:r>
                <a14:m>
                  <m:oMath xmlns:m="http://schemas.openxmlformats.org/officeDocument/2006/math">
                    <m:r>
                      <a:rPr lang="en-US" sz="2000" i="1" dirty="0" smtClean="0">
                        <a:solidFill>
                          <a:schemeClr val="tx1"/>
                        </a:solidFill>
                        <a:latin typeface="Cambria Math" panose="02040503050406030204" pitchFamily="18" charset="0"/>
                        <a:cs typeface="Times New Roman" pitchFamily="18" charset="0"/>
                      </a:rPr>
                      <m:t>𝑘</m:t>
                    </m:r>
                    <m:r>
                      <a:rPr lang="en-US" sz="2000" b="0" i="1" dirty="0" smtClean="0">
                        <a:solidFill>
                          <a:schemeClr val="tx1"/>
                        </a:solidFill>
                        <a:latin typeface="Cambria Math" panose="02040503050406030204" pitchFamily="18" charset="0"/>
                        <a:cs typeface="Times New Roman" pitchFamily="18" charset="0"/>
                      </a:rPr>
                      <m:t>=1.96</m:t>
                    </m:r>
                    <m:r>
                      <a:rPr lang="en-US" sz="2000" b="0" i="1" dirty="0" smtClean="0">
                        <a:solidFill>
                          <a:schemeClr val="tx1"/>
                        </a:solidFill>
                        <a:latin typeface="Cambria Math" panose="02040503050406030204" pitchFamily="18" charset="0"/>
                        <a:ea typeface="Cambria Math" panose="02040503050406030204" pitchFamily="18" charset="0"/>
                        <a:cs typeface="Times New Roman" pitchFamily="18" charset="0"/>
                      </a:rPr>
                      <m:t>×</m:t>
                    </m:r>
                    <m:sSup>
                      <m:sSupPr>
                        <m:ctrlPr>
                          <a:rPr lang="en-US" sz="2000" b="0" i="1" dirty="0" smtClean="0">
                            <a:solidFill>
                              <a:schemeClr val="tx1"/>
                            </a:solidFill>
                            <a:latin typeface="Cambria Math" panose="02040503050406030204" pitchFamily="18" charset="0"/>
                            <a:ea typeface="Cambria Math" panose="02040503050406030204" pitchFamily="18" charset="0"/>
                            <a:cs typeface="Times New Roman" pitchFamily="18" charset="0"/>
                          </a:rPr>
                        </m:ctrlPr>
                      </m:sSupPr>
                      <m:e>
                        <m:r>
                          <a:rPr lang="en-US" sz="2000" b="0" i="1" dirty="0" smtClean="0">
                            <a:solidFill>
                              <a:schemeClr val="tx1"/>
                            </a:solidFill>
                            <a:latin typeface="Cambria Math" panose="02040503050406030204" pitchFamily="18" charset="0"/>
                            <a:ea typeface="Cambria Math" panose="02040503050406030204" pitchFamily="18" charset="0"/>
                            <a:cs typeface="Times New Roman" pitchFamily="18" charset="0"/>
                          </a:rPr>
                          <m:t>10</m:t>
                        </m:r>
                      </m:e>
                      <m:sup>
                        <m:r>
                          <a:rPr lang="en-US" sz="2000" b="0" i="1" dirty="0" smtClean="0">
                            <a:solidFill>
                              <a:schemeClr val="tx1"/>
                            </a:solidFill>
                            <a:latin typeface="Cambria Math" panose="02040503050406030204" pitchFamily="18" charset="0"/>
                            <a:ea typeface="Cambria Math" panose="02040503050406030204" pitchFamily="18" charset="0"/>
                            <a:cs typeface="Times New Roman" pitchFamily="18" charset="0"/>
                          </a:rPr>
                          <m:t>6</m:t>
                        </m:r>
                      </m:sup>
                    </m:sSup>
                  </m:oMath>
                </a14:m>
                <a:r>
                  <a:rPr lang="en-US" sz="2000" dirty="0">
                    <a:solidFill>
                      <a:schemeClr val="tx1"/>
                    </a:solidFill>
                    <a:latin typeface="Times New Roman" pitchFamily="18" charset="0"/>
                    <a:cs typeface="Times New Roman" pitchFamily="18" charset="0"/>
                  </a:rPr>
                  <a:t> N/m.</a:t>
                </a:r>
              </a:p>
              <a:p>
                <a:r>
                  <a:rPr lang="en-US" sz="2000" dirty="0">
                    <a:latin typeface="Times New Roman" pitchFamily="18" charset="0"/>
                    <a:cs typeface="Times New Roman" pitchFamily="18" charset="0"/>
                  </a:rPr>
                  <a:t>(b) The same as in (a) for the case when </a:t>
                </a:r>
                <a14:m>
                  <m:oMath xmlns:m="http://schemas.openxmlformats.org/officeDocument/2006/math">
                    <m:r>
                      <a:rPr lang="en-US" sz="2000" i="1" dirty="0">
                        <a:latin typeface="Cambria Math" panose="02040503050406030204" pitchFamily="18" charset="0"/>
                        <a:cs typeface="Times New Roman" pitchFamily="18" charset="0"/>
                      </a:rPr>
                      <m:t>𝑘</m:t>
                    </m:r>
                    <m:r>
                      <a:rPr lang="en-US" sz="2000" i="1" dirty="0">
                        <a:latin typeface="Cambria Math" panose="02040503050406030204" pitchFamily="18" charset="0"/>
                        <a:cs typeface="Times New Roman" pitchFamily="18" charset="0"/>
                      </a:rPr>
                      <m:t>=9.8×</m:t>
                    </m:r>
                    <m:sSup>
                      <m:sSupPr>
                        <m:ctrlPr>
                          <a:rPr lang="en-US" sz="2000" i="1" dirty="0">
                            <a:latin typeface="Cambria Math" panose="02040503050406030204" pitchFamily="18" charset="0"/>
                            <a:ea typeface="Cambria Math" panose="02040503050406030204" pitchFamily="18" charset="0"/>
                            <a:cs typeface="Times New Roman" pitchFamily="18" charset="0"/>
                          </a:rPr>
                        </m:ctrlPr>
                      </m:sSupPr>
                      <m:e>
                        <m:r>
                          <a:rPr lang="en-US" sz="2000" i="1" dirty="0">
                            <a:latin typeface="Cambria Math" panose="02040503050406030204" pitchFamily="18" charset="0"/>
                            <a:ea typeface="Cambria Math" panose="02040503050406030204" pitchFamily="18" charset="0"/>
                            <a:cs typeface="Times New Roman" pitchFamily="18" charset="0"/>
                          </a:rPr>
                          <m:t>10</m:t>
                        </m:r>
                      </m:e>
                      <m:sup>
                        <m:r>
                          <a:rPr lang="en-US" sz="2000" b="0" i="1" dirty="0" smtClean="0">
                            <a:latin typeface="Cambria Math" panose="02040503050406030204" pitchFamily="18" charset="0"/>
                            <a:ea typeface="Cambria Math" panose="02040503050406030204" pitchFamily="18" charset="0"/>
                            <a:cs typeface="Times New Roman" pitchFamily="18" charset="0"/>
                          </a:rPr>
                          <m:t>4</m:t>
                        </m:r>
                      </m:sup>
                    </m:sSup>
                  </m:oMath>
                </a14:m>
                <a:r>
                  <a:rPr lang="en-US" sz="2000" dirty="0">
                    <a:latin typeface="Times New Roman" pitchFamily="18" charset="0"/>
                    <a:cs typeface="Times New Roman" pitchFamily="18" charset="0"/>
                  </a:rPr>
                  <a:t> N/m.</a:t>
                </a:r>
                <a:r>
                  <a:rPr lang="en-US" sz="2000" dirty="0">
                    <a:solidFill>
                      <a:schemeClr val="tx1"/>
                    </a:solidFill>
                    <a:latin typeface="Times New Roman" pitchFamily="18" charset="0"/>
                    <a:cs typeface="Times New Roman" pitchFamily="18" charset="0"/>
                  </a:rPr>
                  <a:t> </a:t>
                </a:r>
              </a:p>
            </p:txBody>
          </p:sp>
        </mc:Choice>
        <mc:Fallback xmlns="">
          <p:sp>
            <p:nvSpPr>
              <p:cNvPr id="4" name="Rectangle 3"/>
              <p:cNvSpPr>
                <a:spLocks noRot="1" noChangeAspect="1" noMove="1" noResize="1" noEditPoints="1" noAdjustHandles="1" noChangeArrowheads="1" noChangeShapeType="1" noTextEdit="1"/>
              </p:cNvSpPr>
              <p:nvPr/>
            </p:nvSpPr>
            <p:spPr>
              <a:xfrm>
                <a:off x="223328" y="1105509"/>
                <a:ext cx="11687592" cy="1938992"/>
              </a:xfrm>
              <a:prstGeom prst="rect">
                <a:avLst/>
              </a:prstGeom>
              <a:blipFill rotWithShape="0">
                <a:blip r:embed="rId2"/>
                <a:stretch>
                  <a:fillRect l="-574" t="-1572" b="-4717"/>
                </a:stretch>
              </a:blipFill>
            </p:spPr>
            <p:txBody>
              <a:bodyPr/>
              <a:lstStyle/>
              <a:p>
                <a:r>
                  <a:rPr lang="en-IN">
                    <a:noFill/>
                  </a:rPr>
                  <a:t> </a:t>
                </a:r>
              </a:p>
            </p:txBody>
          </p:sp>
        </mc:Fallback>
      </mc:AlternateContent>
    </p:spTree>
    <p:extLst>
      <p:ext uri="{BB962C8B-B14F-4D97-AF65-F5344CB8AC3E}">
        <p14:creationId xmlns:p14="http://schemas.microsoft.com/office/powerpoint/2010/main" val="9851003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Example</a:t>
            </a:r>
            <a:endParaRPr lang="en-IN" sz="3600" dirty="0">
              <a:solidFill>
                <a:srgbClr val="7030A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4" name="Rectangle 3"/>
              <p:cNvSpPr/>
              <p:nvPr/>
            </p:nvSpPr>
            <p:spPr>
              <a:xfrm>
                <a:off x="223328" y="1105509"/>
                <a:ext cx="11687592" cy="1631216"/>
              </a:xfrm>
              <a:prstGeom prst="rect">
                <a:avLst/>
              </a:prstGeom>
            </p:spPr>
            <p:txBody>
              <a:bodyPr wrap="square">
                <a:spAutoFit/>
              </a:bodyPr>
              <a:lstStyle/>
              <a:p>
                <a:r>
                  <a:rPr lang="en-US" sz="2000" dirty="0">
                    <a:solidFill>
                      <a:schemeClr val="tx1"/>
                    </a:solidFill>
                    <a:latin typeface="Times New Roman" pitchFamily="18" charset="0"/>
                    <a:cs typeface="Times New Roman" pitchFamily="18" charset="0"/>
                  </a:rPr>
                  <a:t>A radio set of 20 kg mass must be isolated from a machine vibrating with an amplitude of 0.05 mm at 500 </a:t>
                </a:r>
                <a:r>
                  <a:rPr lang="en-US" sz="2000" dirty="0" err="1">
                    <a:solidFill>
                      <a:schemeClr val="tx1"/>
                    </a:solidFill>
                    <a:latin typeface="Times New Roman" pitchFamily="18" charset="0"/>
                    <a:cs typeface="Times New Roman" pitchFamily="18" charset="0"/>
                  </a:rPr>
                  <a:t>cpm</a:t>
                </a:r>
                <a:r>
                  <a:rPr lang="en-US" sz="2000" dirty="0">
                    <a:solidFill>
                      <a:schemeClr val="tx1"/>
                    </a:solidFill>
                    <a:latin typeface="Times New Roman" pitchFamily="18" charset="0"/>
                    <a:cs typeface="Times New Roman" pitchFamily="18" charset="0"/>
                  </a:rPr>
                  <a:t>. The set is mounted on four isolators, each having a spring scale of </a:t>
                </a:r>
                <a14:m>
                  <m:oMath xmlns:m="http://schemas.openxmlformats.org/officeDocument/2006/math">
                    <m:r>
                      <a:rPr lang="en-US" sz="2000" b="0" i="1" smtClean="0">
                        <a:solidFill>
                          <a:schemeClr val="tx1"/>
                        </a:solidFill>
                        <a:latin typeface="Cambria Math" panose="02040503050406030204" pitchFamily="18" charset="0"/>
                        <a:cs typeface="Times New Roman" pitchFamily="18" charset="0"/>
                      </a:rPr>
                      <m:t>31400</m:t>
                    </m:r>
                  </m:oMath>
                </a14:m>
                <a:r>
                  <a:rPr lang="en-US" sz="2000" dirty="0">
                    <a:latin typeface="Times New Roman" pitchFamily="18" charset="0"/>
                    <a:cs typeface="Times New Roman" pitchFamily="18" charset="0"/>
                  </a:rPr>
                  <a:t> N/m and damping factor of </a:t>
                </a:r>
                <a14:m>
                  <m:oMath xmlns:m="http://schemas.openxmlformats.org/officeDocument/2006/math">
                    <m:r>
                      <a:rPr lang="en-US" sz="2000" b="0" i="0" dirty="0" smtClean="0">
                        <a:latin typeface="Cambria Math" panose="02040503050406030204" pitchFamily="18" charset="0"/>
                        <a:cs typeface="Times New Roman" pitchFamily="18" charset="0"/>
                      </a:rPr>
                      <m:t>3</m:t>
                    </m:r>
                    <m:r>
                      <a:rPr lang="en-US" sz="2000" i="1" dirty="0">
                        <a:latin typeface="Cambria Math" panose="02040503050406030204" pitchFamily="18" charset="0"/>
                        <a:cs typeface="Times New Roman" pitchFamily="18" charset="0"/>
                      </a:rPr>
                      <m:t>9</m:t>
                    </m:r>
                    <m:r>
                      <a:rPr lang="en-US" sz="2000" b="0" i="1" dirty="0" smtClean="0">
                        <a:latin typeface="Cambria Math" panose="02040503050406030204" pitchFamily="18" charset="0"/>
                        <a:cs typeface="Times New Roman" pitchFamily="18" charset="0"/>
                      </a:rPr>
                      <m:t>2</m:t>
                    </m:r>
                  </m:oMath>
                </a14:m>
                <a:r>
                  <a:rPr lang="en-US" sz="2000" dirty="0">
                    <a:latin typeface="Times New Roman" pitchFamily="18" charset="0"/>
                    <a:cs typeface="Times New Roman" pitchFamily="18" charset="0"/>
                  </a:rPr>
                  <a:t> N-sec/m. D</a:t>
                </a:r>
                <a:r>
                  <a:rPr lang="en-US" sz="2000" dirty="0">
                    <a:solidFill>
                      <a:schemeClr val="tx1"/>
                    </a:solidFill>
                    <a:latin typeface="Times New Roman" pitchFamily="18" charset="0"/>
                    <a:cs typeface="Times New Roman" pitchFamily="18" charset="0"/>
                  </a:rPr>
                  <a:t>etermine </a:t>
                </a:r>
              </a:p>
              <a:p>
                <a:r>
                  <a:rPr lang="en-US" sz="2000" dirty="0">
                    <a:latin typeface="Times New Roman" pitchFamily="18" charset="0"/>
                    <a:cs typeface="Times New Roman" pitchFamily="18" charset="0"/>
                  </a:rPr>
                  <a:t>(a) What is t</a:t>
                </a:r>
                <a:r>
                  <a:rPr lang="en-US" sz="2000" dirty="0">
                    <a:solidFill>
                      <a:schemeClr val="tx1"/>
                    </a:solidFill>
                    <a:latin typeface="Times New Roman" pitchFamily="18" charset="0"/>
                    <a:cs typeface="Times New Roman" pitchFamily="18" charset="0"/>
                  </a:rPr>
                  <a:t>he amplitude of vibration of the radio?</a:t>
                </a:r>
              </a:p>
              <a:p>
                <a:r>
                  <a:rPr lang="en-US" sz="2000" dirty="0">
                    <a:latin typeface="Times New Roman" pitchFamily="18" charset="0"/>
                    <a:cs typeface="Times New Roman" pitchFamily="18" charset="0"/>
                  </a:rPr>
                  <a:t>(b) What is the dynamic load on each isolator due to vibration?</a:t>
                </a:r>
                <a:endParaRPr lang="en-US" sz="2000" dirty="0">
                  <a:solidFill>
                    <a:schemeClr val="tx1"/>
                  </a:solidFill>
                  <a:latin typeface="Times New Roman" pitchFamily="18" charset="0"/>
                  <a:cs typeface="Times New Roman"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223328" y="1105509"/>
                <a:ext cx="11687592" cy="1631216"/>
              </a:xfrm>
              <a:prstGeom prst="rect">
                <a:avLst/>
              </a:prstGeom>
              <a:blipFill rotWithShape="0">
                <a:blip r:embed="rId2"/>
                <a:stretch>
                  <a:fillRect l="-574" t="-1866" b="-5597"/>
                </a:stretch>
              </a:blipFill>
            </p:spPr>
            <p:txBody>
              <a:bodyPr/>
              <a:lstStyle/>
              <a:p>
                <a:r>
                  <a:rPr lang="en-IN">
                    <a:noFill/>
                  </a:rPr>
                  <a:t> </a:t>
                </a:r>
              </a:p>
            </p:txBody>
          </p:sp>
        </mc:Fallback>
      </mc:AlternateContent>
    </p:spTree>
    <p:extLst>
      <p:ext uri="{BB962C8B-B14F-4D97-AF65-F5344CB8AC3E}">
        <p14:creationId xmlns:p14="http://schemas.microsoft.com/office/powerpoint/2010/main" val="10070851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ame Side Corner Rectangle 1"/>
          <p:cNvSpPr/>
          <p:nvPr/>
        </p:nvSpPr>
        <p:spPr>
          <a:xfrm>
            <a:off x="223328" y="6442514"/>
            <a:ext cx="11769969" cy="228600"/>
          </a:xfrm>
          <a:prstGeom prst="round2SameRect">
            <a:avLst>
              <a:gd name="adj1" fmla="val 50000"/>
              <a:gd name="adj2" fmla="val 50000"/>
            </a:avLst>
          </a:prstGeom>
          <a:solidFill>
            <a:schemeClr val="accent6">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 Same Side Corner Rectangle 6"/>
          <p:cNvSpPr/>
          <p:nvPr/>
        </p:nvSpPr>
        <p:spPr>
          <a:xfrm>
            <a:off x="223328" y="149544"/>
            <a:ext cx="11769969" cy="914400"/>
          </a:xfrm>
          <a:prstGeom prst="round2SameRect">
            <a:avLst>
              <a:gd name="adj1" fmla="val 48742"/>
              <a:gd name="adj2" fmla="val 50000"/>
            </a:avLst>
          </a:prstGeom>
          <a:solidFill>
            <a:schemeClr val="accent1">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rgbClr val="7030A0"/>
                </a:solidFill>
                <a:latin typeface="Times New Roman" pitchFamily="18" charset="0"/>
                <a:cs typeface="Times New Roman" pitchFamily="18" charset="0"/>
              </a:rPr>
              <a:t>Acknowledgement</a:t>
            </a:r>
            <a:endParaRPr lang="en-IN" sz="3600" dirty="0">
              <a:solidFill>
                <a:srgbClr val="7030A0"/>
              </a:solidFill>
              <a:latin typeface="Times New Roman" pitchFamily="18" charset="0"/>
              <a:cs typeface="Times New Roman" pitchFamily="18" charset="0"/>
            </a:endParaRPr>
          </a:p>
        </p:txBody>
      </p:sp>
      <p:sp>
        <p:nvSpPr>
          <p:cNvPr id="55" name="Rectangle 54"/>
          <p:cNvSpPr/>
          <p:nvPr/>
        </p:nvSpPr>
        <p:spPr>
          <a:xfrm>
            <a:off x="504091" y="1962638"/>
            <a:ext cx="11125201" cy="3170099"/>
          </a:xfrm>
          <a:prstGeom prst="rect">
            <a:avLst/>
          </a:prstGeom>
        </p:spPr>
        <p:txBody>
          <a:bodyPr wrap="square">
            <a:spAutoFit/>
          </a:bodyPr>
          <a:lstStyle/>
          <a:p>
            <a:pPr marL="571500" indent="-571500">
              <a:buFont typeface="Wingdings" pitchFamily="2" charset="2"/>
              <a:buChar char="Ø"/>
            </a:pPr>
            <a:r>
              <a:rPr lang="en-US" sz="4000" dirty="0">
                <a:latin typeface="Times New Roman" panose="02020603050405020304" pitchFamily="18" charset="0"/>
                <a:cs typeface="Times New Roman" panose="02020603050405020304" pitchFamily="18" charset="0"/>
              </a:rPr>
              <a:t>Mechanical vibrations:    S </a:t>
            </a:r>
            <a:r>
              <a:rPr lang="en-US" sz="4000" dirty="0" err="1">
                <a:latin typeface="Times New Roman" panose="02020603050405020304" pitchFamily="18" charset="0"/>
                <a:cs typeface="Times New Roman" panose="02020603050405020304" pitchFamily="18" charset="0"/>
              </a:rPr>
              <a:t>S</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Rao</a:t>
            </a:r>
            <a:endParaRPr lang="en-US" sz="4000" dirty="0">
              <a:latin typeface="Times New Roman" panose="02020603050405020304" pitchFamily="18" charset="0"/>
              <a:cs typeface="Times New Roman" panose="02020603050405020304" pitchFamily="18" charset="0"/>
            </a:endParaRPr>
          </a:p>
          <a:p>
            <a:pPr marL="571500" indent="-571500">
              <a:buFont typeface="Wingdings" pitchFamily="2" charset="2"/>
              <a:buChar char="Ø"/>
            </a:pPr>
            <a:endParaRPr lang="en-US" sz="4000" dirty="0">
              <a:latin typeface="Times New Roman" panose="02020603050405020304" pitchFamily="18" charset="0"/>
              <a:cs typeface="Times New Roman" panose="02020603050405020304" pitchFamily="18" charset="0"/>
            </a:endParaRPr>
          </a:p>
          <a:p>
            <a:pPr marL="571500" indent="-571500">
              <a:buFont typeface="Wingdings" pitchFamily="2" charset="2"/>
              <a:buChar char="Ø"/>
            </a:pPr>
            <a:r>
              <a:rPr lang="en-US" sz="4000" dirty="0">
                <a:latin typeface="Times New Roman" panose="02020603050405020304" pitchFamily="18" charset="0"/>
                <a:cs typeface="Times New Roman" panose="02020603050405020304" pitchFamily="18" charset="0"/>
              </a:rPr>
              <a:t>Mechanical Vibrations: G. K. Grover </a:t>
            </a:r>
          </a:p>
          <a:p>
            <a:pPr marL="571500" indent="-571500">
              <a:buFont typeface="Wingdings" pitchFamily="2" charset="2"/>
              <a:buChar char="Ø"/>
            </a:pPr>
            <a:endParaRPr lang="en-US" sz="4000" dirty="0">
              <a:latin typeface="Times New Roman" panose="02020603050405020304" pitchFamily="18" charset="0"/>
              <a:cs typeface="Times New Roman" panose="02020603050405020304" pitchFamily="18" charset="0"/>
            </a:endParaRPr>
          </a:p>
          <a:p>
            <a:pPr marL="571500" indent="-571500">
              <a:buFont typeface="Wingdings" pitchFamily="2" charset="2"/>
              <a:buChar char="Ø"/>
            </a:pPr>
            <a:r>
              <a:rPr lang="en-US" sz="4000" dirty="0">
                <a:latin typeface="Times New Roman" panose="02020603050405020304" pitchFamily="18" charset="0"/>
                <a:cs typeface="Times New Roman" panose="02020603050405020304" pitchFamily="18" charset="0"/>
              </a:rPr>
              <a:t>NPTEL Lectures on Mechanical vibration </a:t>
            </a:r>
          </a:p>
        </p:txBody>
      </p:sp>
    </p:spTree>
    <p:extLst>
      <p:ext uri="{BB962C8B-B14F-4D97-AF65-F5344CB8AC3E}">
        <p14:creationId xmlns:p14="http://schemas.microsoft.com/office/powerpoint/2010/main" val="6190556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2289E15123A5B4A9DD2DA9AB16F9748" ma:contentTypeVersion="3" ma:contentTypeDescription="Create a new document." ma:contentTypeScope="" ma:versionID="3536f258fd1e6d4fc2d885addfc17136">
  <xsd:schema xmlns:xsd="http://www.w3.org/2001/XMLSchema" xmlns:xs="http://www.w3.org/2001/XMLSchema" xmlns:p="http://schemas.microsoft.com/office/2006/metadata/properties" xmlns:ns2="0ccdc309-4e6c-4e88-b3cc-2da1db88d92d" targetNamespace="http://schemas.microsoft.com/office/2006/metadata/properties" ma:root="true" ma:fieldsID="49e3a3443eb203b38cac936a6c4fdb89" ns2:_="">
    <xsd:import namespace="0ccdc309-4e6c-4e88-b3cc-2da1db88d92d"/>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cdc309-4e6c-4e88-b3cc-2da1db88d9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57D2CCC-328C-475F-9405-CF7724916724}">
  <ds:schemaRefs>
    <ds:schemaRef ds:uri="http://schemas.microsoft.com/sharepoint/v3/contenttype/forms"/>
  </ds:schemaRefs>
</ds:datastoreItem>
</file>

<file path=customXml/itemProps2.xml><?xml version="1.0" encoding="utf-8"?>
<ds:datastoreItem xmlns:ds="http://schemas.openxmlformats.org/officeDocument/2006/customXml" ds:itemID="{04385E9D-1A85-4571-B53D-6B5F0DFC89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cdc309-4e6c-4e88-b3cc-2da1db88d9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E386EDA-B6A2-4C57-B1A2-D5103A54EFF8}">
  <ds:schemaRefs>
    <ds:schemaRef ds:uri="http://purl.org/dc/terms/"/>
    <ds:schemaRef ds:uri="0ccdc309-4e6c-4e88-b3cc-2da1db88d92d"/>
    <ds:schemaRef ds:uri="http://www.w3.org/XML/1998/namespace"/>
    <ds:schemaRef ds:uri="http://schemas.microsoft.com/office/infopath/2007/PartnerControls"/>
    <ds:schemaRef ds:uri="http://schemas.microsoft.com/office/2006/documentManagement/types"/>
    <ds:schemaRef ds:uri="http://purl.org/dc/elements/1.1/"/>
    <ds:schemaRef ds:uri="http://purl.org/dc/dcmitype/"/>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5009</TotalTime>
  <Words>2744</Words>
  <Application>Microsoft Office PowerPoint</Application>
  <PresentationFormat>Widescreen</PresentationFormat>
  <Paragraphs>269</Paragraphs>
  <Slides>32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Calibri</vt:lpstr>
      <vt:lpstr>Calibri Light</vt:lpstr>
      <vt:lpstr>Cambria Math</vt:lpstr>
      <vt:lpstr>Sitka Small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NITD</dc:creator>
  <cp:lastModifiedBy>Soumyadeep Dey</cp:lastModifiedBy>
  <cp:revision>164</cp:revision>
  <cp:lastPrinted>2023-03-21T16:05:19Z</cp:lastPrinted>
  <dcterms:created xsi:type="dcterms:W3CDTF">2021-01-31T12:33:56Z</dcterms:created>
  <dcterms:modified xsi:type="dcterms:W3CDTF">2026-06-08T11:45:06Z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0x01010022289E15123A5B4A9DD2DA9AB16F9748</vt:lpwstr>
  </property>
</Properties>
</file>