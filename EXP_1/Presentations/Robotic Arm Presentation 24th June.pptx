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68" r:id="rId5"/>
    <p:sldId id="258" r:id="rId6"/>
    <p:sldId id="270" r:id="rId7"/>
    <p:sldId id="259" r:id="rId8"/>
    <p:sldId id="260" r:id="rId9"/>
    <p:sldId id="271" r:id="rId10"/>
    <p:sldId id="261" r:id="rId11"/>
    <p:sldId id="262" r:id="rId12"/>
    <p:sldId id="277" r:id="rId13"/>
    <p:sldId id="263" r:id="rId14"/>
    <p:sldId id="274" r:id="rId15"/>
    <p:sldId id="275" r:id="rId16"/>
    <p:sldId id="264" r:id="rId17"/>
    <p:sldId id="265" r:id="rId18"/>
    <p:sldId id="266" r:id="rId19"/>
    <p:sldId id="272" r:id="rId20"/>
    <p:sldId id="26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313" y="1022555"/>
            <a:ext cx="8389374" cy="2310581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dirty="0"/>
              <a:t>Friction Modelling of a 6-DOF Robotic Arm</a:t>
            </a:r>
            <a:r>
              <a:rPr lang="en-US" dirty="0"/>
              <a:t> Using Physics-Based &amp; Data Driven Approaches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664" y="3849635"/>
            <a:ext cx="6818672" cy="1905001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Submitted By:</a:t>
            </a:r>
          </a:p>
          <a:p>
            <a:r>
              <a:rPr dirty="0"/>
              <a:t>Soumyadeep Dey</a:t>
            </a:r>
            <a:endParaRPr lang="en-US" dirty="0"/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year, Mechanical Engineering Department</a:t>
            </a:r>
            <a:endParaRPr dirty="0"/>
          </a:p>
          <a:p>
            <a:r>
              <a:rPr dirty="0"/>
              <a:t>National Institute of Technology Durgapur</a:t>
            </a:r>
          </a:p>
          <a:p>
            <a:r>
              <a:rPr dirty="0"/>
              <a:t>CSIR-CMERI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Background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4729"/>
            <a:ext cx="8229600" cy="5066071"/>
          </a:xfrm>
        </p:spPr>
        <p:txBody>
          <a:bodyPr>
            <a:noAutofit/>
          </a:bodyPr>
          <a:lstStyle/>
          <a:p>
            <a:r>
              <a:rPr lang="en-US" sz="2300" dirty="0"/>
              <a:t>Introduction:</a:t>
            </a:r>
          </a:p>
          <a:p>
            <a:pPr marL="0" indent="0">
              <a:buNone/>
            </a:pPr>
            <a:r>
              <a:rPr lang="en-US" sz="2300" dirty="0"/>
              <a:t>	-  Industrial robotic arm contains friction due to 			    		   gearbox effects and elastic joints, high ratio harmonic drives.</a:t>
            </a:r>
          </a:p>
          <a:p>
            <a:pPr marL="0" indent="0">
              <a:buNone/>
            </a:pPr>
            <a:r>
              <a:rPr lang="en-US" sz="2300" dirty="0"/>
              <a:t>	-  The accuracy of these systems depends on how strongly joint 	   dynamics has been taken care of.</a:t>
            </a:r>
          </a:p>
          <a:p>
            <a:pPr marL="0" indent="0">
              <a:buNone/>
            </a:pPr>
            <a:r>
              <a:rPr lang="en-US" sz="2300" dirty="0"/>
              <a:t>	-  Due to friction and internal loses the accuracy and positioning 	   of the manipulator decreases.</a:t>
            </a:r>
          </a:p>
          <a:p>
            <a:r>
              <a:rPr sz="2300" dirty="0"/>
              <a:t>Why Model Friction?</a:t>
            </a:r>
          </a:p>
          <a:p>
            <a:pPr lvl="1"/>
            <a:r>
              <a:rPr sz="2300" dirty="0"/>
              <a:t>Friction from gearboxes and bearings reduces positioning accuracy and trajectory tracking.</a:t>
            </a:r>
          </a:p>
          <a:p>
            <a:pPr lvl="1"/>
            <a:r>
              <a:rPr lang="en-US" sz="2300" dirty="0"/>
              <a:t>While doing other project, though the friction is compensated by controllers, from data we found that some friction is still present.</a:t>
            </a:r>
            <a:endParaRPr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BD1B1-A3A7-5FFD-F895-466AB3404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48338"/>
            <a:ext cx="8229600" cy="4761323"/>
          </a:xfrm>
        </p:spPr>
        <p:txBody>
          <a:bodyPr/>
          <a:lstStyle/>
          <a:p>
            <a:r>
              <a:rPr lang="en-US" dirty="0"/>
              <a:t>Project Objectives:</a:t>
            </a:r>
          </a:p>
          <a:p>
            <a:pPr lvl="1"/>
            <a:r>
              <a:rPr lang="en-US" dirty="0"/>
              <a:t>Study friction characteristics of the 6-DOF robotic arm designed and developed by </a:t>
            </a:r>
            <a:r>
              <a:rPr lang="en-US" dirty="0" err="1"/>
              <a:t>Svaya</a:t>
            </a:r>
            <a:r>
              <a:rPr lang="en-US" dirty="0"/>
              <a:t> Robotics. </a:t>
            </a:r>
          </a:p>
          <a:p>
            <a:pPr lvl="1"/>
            <a:r>
              <a:rPr lang="en-US" dirty="0"/>
              <a:t>Compare classical physics-based models with machine learning (data-driven) models.</a:t>
            </a:r>
          </a:p>
          <a:p>
            <a:pPr lvl="1"/>
            <a:r>
              <a:rPr lang="en-US" dirty="0"/>
              <a:t>Experiment and literature reveals additional terms related to the change in phase of </a:t>
            </a:r>
            <a:r>
              <a:rPr lang="en-US" dirty="0" err="1"/>
              <a:t>jts</a:t>
            </a:r>
            <a:r>
              <a:rPr lang="en-US" dirty="0"/>
              <a:t> and mts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05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C430-8EBF-92F5-60C0-2D53A892D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67517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Fig. 1: The 6 DOF Robotic Arm.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85EA1-83D4-7804-C487-A6C98BFBD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181" y="198991"/>
            <a:ext cx="4191635" cy="558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03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Identifying the Mathematical Relationship</a:t>
            </a:r>
          </a:p>
          <a:p>
            <a:pPr lvl="1"/>
            <a:r>
              <a:rPr dirty="0"/>
              <a:t>Measured signals </a:t>
            </a:r>
            <a:r>
              <a:rPr lang="en-US" dirty="0"/>
              <a:t>of the 4 joints</a:t>
            </a:r>
            <a:r>
              <a:rPr dirty="0"/>
              <a:t>: Motor torque (Tm), Joint torque (</a:t>
            </a:r>
            <a:r>
              <a:rPr dirty="0" err="1"/>
              <a:t>Tj</a:t>
            </a:r>
            <a:r>
              <a:rPr dirty="0"/>
              <a:t>), Velocity (v), Position (q).</a:t>
            </a:r>
            <a:endParaRPr lang="en-US" dirty="0"/>
          </a:p>
          <a:p>
            <a:pPr lvl="1"/>
            <a:r>
              <a:rPr lang="en-US" dirty="0"/>
              <a:t>And the resulting friction related torque losses.</a:t>
            </a:r>
            <a:endParaRPr dirty="0"/>
          </a:p>
          <a:p>
            <a:r>
              <a:rPr dirty="0"/>
              <a:t>Residual Torque Equation:</a:t>
            </a:r>
          </a:p>
          <a:p>
            <a:pPr lvl="1">
              <a:defRPr b="1"/>
            </a:pPr>
            <a:r>
              <a:rPr dirty="0" err="1"/>
              <a:t>Tf</a:t>
            </a:r>
            <a:r>
              <a:rPr dirty="0"/>
              <a:t> = N × Tm − </a:t>
            </a:r>
            <a:r>
              <a:rPr dirty="0" err="1"/>
              <a:t>Tj</a:t>
            </a:r>
            <a:r>
              <a:rPr dirty="0"/>
              <a:t>  (where Gearbox ratio N = 100)</a:t>
            </a:r>
          </a:p>
          <a:p>
            <a:r>
              <a:rPr dirty="0"/>
              <a:t>Important Note:</a:t>
            </a:r>
          </a:p>
          <a:p>
            <a:pPr lvl="1"/>
            <a:r>
              <a:rPr dirty="0" err="1"/>
              <a:t>Tf</a:t>
            </a:r>
            <a:r>
              <a:rPr dirty="0"/>
              <a:t> is a surrogate measure. It includes true friction + unmodeled dynamics, gearbox compliance, and transmission losses.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95E39-CF7B-EBF3-B022-115EBFE94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871651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Fig. 2: Cross Sectional View of the Robotic Arm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47C07-1FDC-2D51-6CAC-C33CFBB26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585" y="206743"/>
            <a:ext cx="4322830" cy="586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35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&amp;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The </a:t>
            </a:r>
            <a:r>
              <a:rPr lang="en-US" dirty="0"/>
              <a:t>robotic arm developed by </a:t>
            </a:r>
            <a:r>
              <a:rPr lang="en-US" dirty="0" err="1"/>
              <a:t>Svaya</a:t>
            </a:r>
            <a:r>
              <a:rPr lang="en-US" dirty="0"/>
              <a:t> Robotics has</a:t>
            </a:r>
            <a:endParaRPr dirty="0"/>
          </a:p>
          <a:p>
            <a:pPr lvl="1"/>
            <a:r>
              <a:rPr dirty="0"/>
              <a:t>6 revolute joints with harmonic drive transmission.</a:t>
            </a:r>
            <a:endParaRPr lang="en-US" dirty="0"/>
          </a:p>
          <a:p>
            <a:pPr lvl="1"/>
            <a:r>
              <a:rPr lang="en-US" dirty="0"/>
              <a:t>Joint position encoders, velocity estimation, joint and motor torque sensing devices, as shown in fig 2.</a:t>
            </a:r>
          </a:p>
          <a:p>
            <a:r>
              <a:rPr lang="en-US" dirty="0"/>
              <a:t>Data Acquisition Parameters:</a:t>
            </a:r>
          </a:p>
          <a:p>
            <a:pPr lvl="1"/>
            <a:r>
              <a:rPr lang="en-US" dirty="0"/>
              <a:t>Data is collected with 5ms response time (200 Hz).</a:t>
            </a:r>
            <a:endParaRPr dirty="0"/>
          </a:p>
          <a:p>
            <a:pPr lvl="1"/>
            <a:r>
              <a:rPr dirty="0"/>
              <a:t>Forward-reverse </a:t>
            </a:r>
            <a:r>
              <a:rPr lang="en-US" dirty="0"/>
              <a:t>kinematics were used</a:t>
            </a:r>
            <a:r>
              <a:rPr dirty="0"/>
              <a:t> to capture velocity reversals.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019"/>
            <a:ext cx="8229600" cy="1143000"/>
          </a:xfrm>
        </p:spPr>
        <p:txBody>
          <a:bodyPr/>
          <a:lstStyle/>
          <a:p>
            <a:r>
              <a:rPr dirty="0"/>
              <a:t>Literature Review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8866"/>
            <a:ext cx="8229600" cy="5415116"/>
          </a:xfrm>
        </p:spPr>
        <p:txBody>
          <a:bodyPr>
            <a:normAutofit/>
          </a:bodyPr>
          <a:lstStyle/>
          <a:p>
            <a:r>
              <a:rPr lang="en-US" sz="2400" dirty="0"/>
              <a:t>After studying the papers [1] [2] [3], I got the idea of different friction models, both static and dynamics, like </a:t>
            </a:r>
            <a:r>
              <a:rPr lang="en-US" sz="2400" dirty="0" err="1"/>
              <a:t>Coloumb</a:t>
            </a:r>
            <a:r>
              <a:rPr lang="en-US" sz="2400" dirty="0"/>
              <a:t>, Viscous, </a:t>
            </a:r>
            <a:r>
              <a:rPr lang="en-US" sz="2400" dirty="0" err="1"/>
              <a:t>Stribeck</a:t>
            </a:r>
            <a:r>
              <a:rPr lang="en-US" sz="2400" dirty="0"/>
              <a:t>, </a:t>
            </a:r>
            <a:r>
              <a:rPr lang="en-US" sz="2400" dirty="0" err="1"/>
              <a:t>Lugre</a:t>
            </a:r>
            <a:r>
              <a:rPr lang="en-US" sz="2400" dirty="0"/>
              <a:t>, Dahl, General Maxwell Slip, etc. and how losses occur like stick-slip condition, hysteresis losses, velocity reversals, etc.</a:t>
            </a:r>
          </a:p>
          <a:p>
            <a:r>
              <a:rPr lang="en-US" sz="2400" dirty="0"/>
              <a:t>In paper [4], they have run </a:t>
            </a:r>
            <a:r>
              <a:rPr lang="en-US" sz="2400" dirty="0" err="1"/>
              <a:t>matlab</a:t>
            </a:r>
            <a:r>
              <a:rPr lang="en-US" sz="2400" dirty="0"/>
              <a:t> simulation of the friction modelling by PINN and parameter estimation (state variable of </a:t>
            </a:r>
            <a:r>
              <a:rPr lang="en-US" sz="2400" dirty="0" err="1"/>
              <a:t>Lugre</a:t>
            </a:r>
            <a:r>
              <a:rPr lang="en-US" sz="2400" dirty="0"/>
              <a:t> friction model) on a pendulum on a box, and equations of motion were used in the loss function of PINN and validated the output while attaching a spring on the body.</a:t>
            </a:r>
          </a:p>
          <a:p>
            <a:r>
              <a:rPr lang="en-US" sz="2400" dirty="0"/>
              <a:t>In paper [5], they have performed physics informed learning of a humanoid robot (</a:t>
            </a:r>
            <a:r>
              <a:rPr lang="en-US" sz="2400" dirty="0" err="1"/>
              <a:t>ergoCub</a:t>
            </a:r>
            <a:r>
              <a:rPr lang="en-US" sz="2400" dirty="0"/>
              <a:t>) while applying only load dynamics for high-ratio harmonic drives. They have not stated any relation against elastic joints or how can we model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A0216-6C14-4A35-CAE5-272BE6268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8313"/>
            <a:ext cx="8229600" cy="534137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summary of the above research papers:</a:t>
            </a:r>
          </a:p>
          <a:p>
            <a:r>
              <a:rPr lang="en-US" dirty="0"/>
              <a:t>Existing Approaches:</a:t>
            </a:r>
          </a:p>
          <a:p>
            <a:pPr lvl="1"/>
            <a:r>
              <a:rPr lang="en-US" dirty="0"/>
              <a:t>Static Models (Coulomb-Viscous): Fast but miss complex dynamics.</a:t>
            </a:r>
          </a:p>
          <a:p>
            <a:pPr lvl="1"/>
            <a:r>
              <a:rPr lang="en-US" dirty="0"/>
              <a:t>Dynamic Models (</a:t>
            </a:r>
            <a:r>
              <a:rPr lang="en-US" dirty="0" err="1"/>
              <a:t>LuGre</a:t>
            </a:r>
            <a:r>
              <a:rPr lang="en-US" dirty="0"/>
              <a:t>): High realism but parameter identification is highly complex.</a:t>
            </a:r>
          </a:p>
          <a:p>
            <a:pPr lvl="1"/>
            <a:r>
              <a:rPr lang="en-US" dirty="0"/>
              <a:t>Machine Learning: High predictive accuracy but lacks physical interpretability.</a:t>
            </a:r>
          </a:p>
          <a:p>
            <a:pPr lvl="1"/>
            <a:r>
              <a:rPr lang="en-US" dirty="0"/>
              <a:t>PINN: Physics equations with ML, improve generalization, reduce overfitting, but highly computational</a:t>
            </a:r>
          </a:p>
          <a:p>
            <a:r>
              <a:rPr lang="en-US" dirty="0"/>
              <a:t>The Research Gap:</a:t>
            </a:r>
          </a:p>
          <a:p>
            <a:pPr lvl="1"/>
            <a:r>
              <a:rPr lang="en-US" dirty="0"/>
              <a:t>Most current research uses MATLAB simulation and ignores real-world environmental dynamics.</a:t>
            </a:r>
          </a:p>
          <a:p>
            <a:pPr lvl="1"/>
            <a:r>
              <a:rPr lang="en-US" dirty="0"/>
              <a:t>This project evaluates classical vs. ML models using actual experimental data from a real physical joint.</a:t>
            </a:r>
          </a:p>
        </p:txBody>
      </p:sp>
    </p:spTree>
    <p:extLst>
      <p:ext uri="{BB962C8B-B14F-4D97-AF65-F5344CB8AC3E}">
        <p14:creationId xmlns:p14="http://schemas.microsoft.com/office/powerpoint/2010/main" val="2167783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Physics-Based Friction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1. Coulomb + Viscous Model</a:t>
            </a:r>
          </a:p>
          <a:p>
            <a:pPr lvl="1"/>
            <a:r>
              <a:rPr dirty="0" err="1"/>
              <a:t>Tf</a:t>
            </a:r>
            <a:r>
              <a:rPr dirty="0"/>
              <a:t>(v) = Tc tanh(v/Vs) + </a:t>
            </a:r>
            <a:r>
              <a:rPr dirty="0" err="1"/>
              <a:t>B</a:t>
            </a:r>
            <a:r>
              <a:rPr lang="en-US" dirty="0" err="1"/>
              <a:t>_</a:t>
            </a:r>
            <a:r>
              <a:rPr dirty="0" err="1"/>
              <a:t>v</a:t>
            </a:r>
            <a:r>
              <a:rPr dirty="0"/>
              <a:t> × v</a:t>
            </a:r>
          </a:p>
          <a:p>
            <a:pPr lvl="1"/>
            <a:r>
              <a:rPr dirty="0"/>
              <a:t>Uses tanh() instead of sign() to avoid optimization issues at zero velocity.</a:t>
            </a:r>
          </a:p>
          <a:p>
            <a:r>
              <a:rPr dirty="0"/>
              <a:t>Limitations Observed:</a:t>
            </a:r>
          </a:p>
          <a:p>
            <a:pPr lvl="1"/>
            <a:r>
              <a:rPr dirty="0"/>
              <a:t>Structured residuals indicate unmodelled nonlinear dynamics (like elasticity and compliance).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185"/>
            <a:ext cx="8229600" cy="1143000"/>
          </a:xfrm>
        </p:spPr>
        <p:txBody>
          <a:bodyPr/>
          <a:lstStyle/>
          <a:p>
            <a:r>
              <a:rPr dirty="0"/>
              <a:t>Physics-Based Models: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2555"/>
            <a:ext cx="8229600" cy="52799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When data split is sequential and it is trained on repetitive data model</a:t>
            </a:r>
            <a:r>
              <a:rPr dirty="0"/>
              <a:t> achieved R</a:t>
            </a:r>
            <a:r>
              <a:rPr lang="en-IN" dirty="0"/>
              <a:t>² score of</a:t>
            </a:r>
          </a:p>
          <a:p>
            <a:r>
              <a:rPr lang="en-US" dirty="0"/>
              <a:t>Joint 1 = 0.9711</a:t>
            </a:r>
          </a:p>
          <a:p>
            <a:r>
              <a:rPr lang="en-US" dirty="0"/>
              <a:t>Joint 2 = -0.3450</a:t>
            </a:r>
          </a:p>
          <a:p>
            <a:r>
              <a:rPr lang="en-US" dirty="0"/>
              <a:t>Joint 3 = 0.7489</a:t>
            </a:r>
          </a:p>
          <a:p>
            <a:r>
              <a:rPr lang="en-US" dirty="0"/>
              <a:t>Joint 5 = 0.9226</a:t>
            </a:r>
          </a:p>
          <a:p>
            <a:pPr marL="0" indent="0">
              <a:buNone/>
            </a:pPr>
            <a:endParaRPr dirty="0"/>
          </a:p>
          <a:p>
            <a:pPr lvl="1"/>
            <a:r>
              <a:rPr lang="en-IN" dirty="0"/>
              <a:t>ML models cannot readily learn the non linear parameters without proper considerations.</a:t>
            </a:r>
          </a:p>
          <a:p>
            <a:pPr lvl="1"/>
            <a:r>
              <a:rPr lang="en-IN" dirty="0"/>
              <a:t>It is giving inflated R² score, model is not training itself but it is learning the output.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BB15F43-6D04-A2D2-6B84-726A55D56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185"/>
            <a:ext cx="8229600" cy="1143000"/>
          </a:xfrm>
        </p:spPr>
        <p:txBody>
          <a:bodyPr/>
          <a:lstStyle/>
          <a:p>
            <a:r>
              <a:rPr dirty="0"/>
              <a:t>Physics-Based Models: Results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6385C4-7515-6469-6F84-49CCEB6EE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2555"/>
            <a:ext cx="8229600" cy="527992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data split is random using </a:t>
            </a:r>
            <a:r>
              <a:rPr lang="en-US" dirty="0" err="1"/>
              <a:t>train_test_split</a:t>
            </a:r>
            <a:r>
              <a:rPr lang="en-US" dirty="0"/>
              <a:t> and it is trained on unique data points model achieved R² score of</a:t>
            </a:r>
          </a:p>
          <a:p>
            <a:r>
              <a:rPr lang="en-US" dirty="0"/>
              <a:t>Joint 1 = 0.9782</a:t>
            </a:r>
          </a:p>
          <a:p>
            <a:r>
              <a:rPr lang="en-US" dirty="0"/>
              <a:t>Joint 2 = 0.7705</a:t>
            </a:r>
          </a:p>
          <a:p>
            <a:r>
              <a:rPr lang="en-US" dirty="0"/>
              <a:t>Joint 3 = 0.7262</a:t>
            </a:r>
          </a:p>
          <a:p>
            <a:r>
              <a:rPr lang="en-US" dirty="0"/>
              <a:t>Joint 5 = 0.9326</a:t>
            </a:r>
          </a:p>
          <a:p>
            <a:pPr marL="0" indent="0">
              <a:buNone/>
            </a:pPr>
            <a:endParaRPr dirty="0"/>
          </a:p>
          <a:p>
            <a:pPr lvl="1"/>
            <a:r>
              <a:rPr lang="en-IN" dirty="0"/>
              <a:t>According to the plots, it is giving significantly valid frictional torque.</a:t>
            </a:r>
          </a:p>
          <a:p>
            <a:pPr lvl="1"/>
            <a:r>
              <a:rPr lang="en-IN" dirty="0"/>
              <a:t>It is giving somewhat correct R² score, model is </a:t>
            </a:r>
            <a:r>
              <a:rPr lang="en-US" dirty="0"/>
              <a:t>recognizing the patterns.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173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075" y="160337"/>
            <a:ext cx="8705849" cy="1143000"/>
          </a:xfrm>
        </p:spPr>
        <p:txBody>
          <a:bodyPr>
            <a:normAutofit fontScale="90000"/>
          </a:bodyPr>
          <a:lstStyle/>
          <a:p>
            <a:r>
              <a:rPr dirty="0"/>
              <a:t>Data-Driven Modelling (Neural Network)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Black-Box Neural Network Approach</a:t>
            </a:r>
          </a:p>
          <a:p>
            <a:pPr lvl="1"/>
            <a:r>
              <a:rPr lang="en-US" dirty="0"/>
              <a:t>3 approaches were used</a:t>
            </a:r>
          </a:p>
          <a:p>
            <a:pPr lvl="1"/>
            <a:r>
              <a:rPr dirty="0"/>
              <a:t>Inputs: Joint Position (q) and Velocity (v).</a:t>
            </a:r>
            <a:endParaRPr lang="en-US" dirty="0"/>
          </a:p>
          <a:p>
            <a:pPr lvl="1"/>
            <a:r>
              <a:rPr lang="en-US" dirty="0"/>
              <a:t>Outputs: Frictional torque.</a:t>
            </a:r>
            <a:endParaRPr dirty="0"/>
          </a:p>
          <a:p>
            <a:r>
              <a:rPr dirty="0"/>
              <a:t>Why?</a:t>
            </a:r>
          </a:p>
          <a:p>
            <a:pPr lvl="1"/>
            <a:r>
              <a:rPr dirty="0"/>
              <a:t>Learns friction behavior directly from robot state variables without rigid physical assumptions.</a:t>
            </a:r>
          </a:p>
          <a:p>
            <a:r>
              <a:rPr lang="en-US" sz="2800" dirty="0"/>
              <a:t>Metrices used to evaluate the model are RMSE, MAE and R2 score.</a:t>
            </a:r>
            <a:endParaRPr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4F681-AD24-2E92-D358-B6ACE885D0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285751"/>
                <a:ext cx="8229600" cy="6429374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RMSE (Root Mean Square Error)</a:t>
                </a:r>
              </a:p>
              <a:p>
                <a:pPr lvl="1"/>
                <a:r>
                  <a:rPr lang="en-US" dirty="0"/>
                  <a:t>Measures the average magnitude of prediction errors. It heavily penalizes larger errors.</a:t>
                </a:r>
              </a:p>
              <a:p>
                <a:pPr lvl="1"/>
                <a:r>
                  <a:rPr lang="en-US" dirty="0"/>
                  <a:t>Rule: Lower is better.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 smtClean="0">
                        <a:latin typeface="Cambria Math" panose="02040503050406030204" pitchFamily="18" charset="0"/>
                      </a:rPr>
                      <m:t>RMSE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I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dirty="0"/>
              </a:p>
              <a:p>
                <a:r>
                  <a:rPr lang="en-US" dirty="0"/>
                  <a:t>MAE (Mean Absolute Error)</a:t>
                </a:r>
              </a:p>
              <a:p>
                <a:pPr lvl="1"/>
                <a:r>
                  <a:rPr lang="en-US" dirty="0"/>
                  <a:t>Measures the absolute average distance between predictions and actual values. Treats all errors equally.</a:t>
                </a:r>
              </a:p>
              <a:p>
                <a:pPr lvl="1"/>
                <a:r>
                  <a:rPr lang="en-US" dirty="0"/>
                  <a:t>Rule: Lower is better.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 smtClean="0">
                        <a:latin typeface="Cambria Math" panose="02040503050406030204" pitchFamily="18" charset="0"/>
                      </a:rPr>
                      <m:t>MAE</m:t>
                    </m:r>
                    <m:r>
                      <a:rPr lang="en-I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R² Score (Coefficient of Determination)</a:t>
                </a:r>
              </a:p>
              <a:p>
                <a:pPr lvl="1"/>
                <a:r>
                  <a:rPr lang="en-US" dirty="0"/>
                  <a:t>Explains the percentage of variation in the actual data that is successfully captured by the model.</a:t>
                </a:r>
              </a:p>
              <a:p>
                <a:pPr lvl="1">
                  <a:defRPr b="1">
                    <a:solidFill>
                      <a:srgbClr val="0070C0"/>
                    </a:solidFill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Rule: 1.0 means perfect prediction. Higher is better.</a:t>
                </a:r>
              </a:p>
              <a:p>
                <a:pPr lvl="1">
                  <a:defRPr b="1">
                    <a:solidFill>
                      <a:srgbClr val="0070C0"/>
                    </a:solidFill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I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I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IN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b="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IN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I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I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IN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IN" dirty="0"/>
                  <a:t>n = Total number of data samples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Actual measured value (e.g., actual measured torque)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Predicted value by the model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Mean (average) of all actual measured values</a:t>
                </a:r>
              </a:p>
              <a:p>
                <a:pPr lvl="1">
                  <a:defRPr b="1">
                    <a:solidFill>
                      <a:srgbClr val="0070C0"/>
                    </a:solidFill>
                  </a:defRPr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B4F681-AD24-2E92-D358-B6ACE885D0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85751"/>
                <a:ext cx="8229600" cy="6429374"/>
              </a:xfrm>
              <a:blipFill>
                <a:blip r:embed="rId2"/>
                <a:stretch>
                  <a:fillRect l="-667" t="-14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307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C1B146-95F1-401C-B9CC-2EB2ABB9E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76980"/>
            <a:ext cx="8691717" cy="642046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Data split is sequential and model is trained on repetitive data, and R² score of</a:t>
            </a:r>
          </a:p>
          <a:p>
            <a:pPr lvl="1"/>
            <a:r>
              <a:rPr lang="en-US" dirty="0"/>
              <a:t>Joint 1 = 0.9965</a:t>
            </a:r>
          </a:p>
          <a:p>
            <a:pPr lvl="1"/>
            <a:r>
              <a:rPr lang="en-US" dirty="0"/>
              <a:t>Joint 2 = 0.7488</a:t>
            </a:r>
          </a:p>
          <a:p>
            <a:pPr lvl="1"/>
            <a:r>
              <a:rPr lang="en-US" dirty="0"/>
              <a:t>Joint 3 = 0.9920</a:t>
            </a:r>
          </a:p>
          <a:p>
            <a:pPr lvl="1"/>
            <a:r>
              <a:rPr lang="en-US" dirty="0"/>
              <a:t>Joint 5 = 0.9926</a:t>
            </a:r>
          </a:p>
          <a:p>
            <a:pPr lvl="1"/>
            <a:r>
              <a:rPr lang="en-US" dirty="0"/>
              <a:t>It is giving inflated R² score</a:t>
            </a:r>
          </a:p>
          <a:p>
            <a:r>
              <a:rPr lang="en-US" dirty="0"/>
              <a:t>Data split is </a:t>
            </a:r>
            <a:r>
              <a:rPr lang="en-US" dirty="0" err="1"/>
              <a:t>train_test_split</a:t>
            </a:r>
            <a:r>
              <a:rPr lang="en-US" dirty="0"/>
              <a:t> randomly and model is trained unique data, and R² score of</a:t>
            </a:r>
          </a:p>
          <a:p>
            <a:pPr lvl="1"/>
            <a:r>
              <a:rPr lang="en-US" dirty="0"/>
              <a:t>Joint 1 = 0.9966</a:t>
            </a:r>
          </a:p>
          <a:p>
            <a:pPr lvl="1"/>
            <a:r>
              <a:rPr lang="en-US" dirty="0"/>
              <a:t>Joint 2 = 0.8773</a:t>
            </a:r>
          </a:p>
          <a:p>
            <a:pPr lvl="1"/>
            <a:r>
              <a:rPr lang="en-US" dirty="0"/>
              <a:t>Joint 3 = 0.9822</a:t>
            </a:r>
          </a:p>
          <a:p>
            <a:pPr lvl="1"/>
            <a:r>
              <a:rPr lang="en-US" dirty="0"/>
              <a:t>Joint 5 = 0.9880</a:t>
            </a:r>
          </a:p>
          <a:p>
            <a:pPr lvl="1"/>
            <a:r>
              <a:rPr lang="en-US" dirty="0"/>
              <a:t>It is giving inflated R² score</a:t>
            </a:r>
          </a:p>
          <a:p>
            <a:r>
              <a:rPr lang="en-US" dirty="0"/>
              <a:t>Data split is </a:t>
            </a:r>
            <a:r>
              <a:rPr lang="en-US" dirty="0" err="1"/>
              <a:t>train_test_split</a:t>
            </a:r>
            <a:r>
              <a:rPr lang="en-US" dirty="0"/>
              <a:t> randomly and model is trained on some </a:t>
            </a:r>
            <a:r>
              <a:rPr lang="en-US" dirty="0" err="1"/>
              <a:t>velocitites</a:t>
            </a:r>
            <a:r>
              <a:rPr lang="en-US" dirty="0"/>
              <a:t> and tested on unseen velocities, and R² score of</a:t>
            </a:r>
          </a:p>
          <a:p>
            <a:pPr lvl="1"/>
            <a:r>
              <a:rPr lang="en-US" dirty="0"/>
              <a:t>Joint 1 = 0.9961</a:t>
            </a:r>
          </a:p>
          <a:p>
            <a:pPr lvl="1"/>
            <a:r>
              <a:rPr lang="en-US" dirty="0"/>
              <a:t>Joint 2 = 0.8784</a:t>
            </a:r>
          </a:p>
          <a:p>
            <a:pPr lvl="1"/>
            <a:r>
              <a:rPr lang="en-US" dirty="0"/>
              <a:t>Joint 3 = 0.9800</a:t>
            </a:r>
          </a:p>
          <a:p>
            <a:pPr lvl="1"/>
            <a:r>
              <a:rPr lang="en-US" dirty="0"/>
              <a:t>Joint 5 = 0.9906</a:t>
            </a:r>
          </a:p>
          <a:p>
            <a:pPr lvl="1"/>
            <a:r>
              <a:rPr lang="en-US" dirty="0"/>
              <a:t>It is giving somewhat correct R² score</a:t>
            </a:r>
          </a:p>
        </p:txBody>
      </p:sp>
    </p:spTree>
    <p:extLst>
      <p:ext uri="{BB962C8B-B14F-4D97-AF65-F5344CB8AC3E}">
        <p14:creationId xmlns:p14="http://schemas.microsoft.com/office/powerpoint/2010/main" val="388367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67"/>
            <a:ext cx="8229600" cy="1143000"/>
          </a:xfrm>
        </p:spPr>
        <p:txBody>
          <a:bodyPr/>
          <a:lstStyle/>
          <a:p>
            <a:r>
              <a:rPr dirty="0"/>
              <a:t>Comparative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982D3D-6B3E-EDDB-ED08-8C35FA4F8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284585"/>
              </p:ext>
            </p:extLst>
          </p:nvPr>
        </p:nvGraphicFramePr>
        <p:xfrm>
          <a:off x="1371600" y="1147251"/>
          <a:ext cx="6400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t>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R²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t>Joint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Coulomb + Viscous (Physics)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0.9782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Black-Box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0.9961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t>Joint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Coulomb + Viscous (Physics)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Black-Box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0.8784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t>Joint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Coulomb + Viscous (Physics)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Black-Box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r>
                        <a:t>Joint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Coulomb + Viscous (Physics)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Black-Box 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0.9906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Friction is the dominant source of torque loss in the </a:t>
            </a:r>
            <a:r>
              <a:rPr dirty="0" err="1"/>
              <a:t>Svaya</a:t>
            </a:r>
            <a:r>
              <a:rPr dirty="0"/>
              <a:t> robot</a:t>
            </a:r>
            <a:r>
              <a:rPr lang="en-IN" dirty="0"/>
              <a:t>.</a:t>
            </a:r>
            <a:endParaRPr lang="en-US" dirty="0"/>
          </a:p>
          <a:p>
            <a:r>
              <a:rPr lang="en-US" dirty="0"/>
              <a:t>Phase difference show spring-mass and damper system dynamics originating from harmonic drive elasticity.</a:t>
            </a:r>
          </a:p>
          <a:p>
            <a:r>
              <a:rPr dirty="0"/>
              <a:t>Data-driven methods show strong potential for future real-world torque compensation.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Implementation of the </a:t>
            </a:r>
            <a:r>
              <a:rPr dirty="0" err="1"/>
              <a:t>LuGre</a:t>
            </a:r>
            <a:r>
              <a:rPr dirty="0"/>
              <a:t> dynamic friction model.</a:t>
            </a:r>
          </a:p>
          <a:p>
            <a:r>
              <a:rPr dirty="0"/>
              <a:t>Exploration of Physics-Informed Neural Networks (PINNs) to bridge the gap between ML accuracy and physics interpretability.</a:t>
            </a:r>
          </a:p>
          <a:p>
            <a:r>
              <a:rPr dirty="0"/>
              <a:t>Modelling multi-joint coupled dynamics.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9D22-F3F8-EFC7-49F7-7323FDC8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C1149-69C6-4BC8-37B6-077708178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005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[1] Olsson, H., Åström, K. J., </a:t>
            </a:r>
            <a:r>
              <a:rPr lang="en-US" dirty="0" err="1"/>
              <a:t>Canudas</a:t>
            </a:r>
            <a:r>
              <a:rPr lang="en-US" dirty="0"/>
              <a:t> de Wit, C., </a:t>
            </a:r>
            <a:r>
              <a:rPr lang="en-US" dirty="0" err="1"/>
              <a:t>Gäfvert</a:t>
            </a:r>
            <a:r>
              <a:rPr lang="en-US" dirty="0"/>
              <a:t>, M., &amp; </a:t>
            </a:r>
            <a:r>
              <a:rPr lang="en-US" dirty="0" err="1"/>
              <a:t>Lischinsky</a:t>
            </a:r>
            <a:r>
              <a:rPr lang="en-US" dirty="0"/>
              <a:t>, P. (1997). 'Friction Models and Friction Compensation.'</a:t>
            </a:r>
          </a:p>
          <a:p>
            <a:r>
              <a:rPr lang="en-US" dirty="0"/>
              <a:t>[2] Rizos, D. D., &amp; </a:t>
            </a:r>
            <a:r>
              <a:rPr lang="en-US" dirty="0" err="1"/>
              <a:t>Fassois</a:t>
            </a:r>
            <a:r>
              <a:rPr lang="en-US" dirty="0"/>
              <a:t>, S. D. (2005). 'Friction identification based upon the extended Maxwell slip model.'</a:t>
            </a:r>
          </a:p>
          <a:p>
            <a:r>
              <a:rPr lang="en-US" dirty="0"/>
              <a:t>[3] van Geffen, V. (2009). 'A Study of Friction Models and Friction Compensation.’</a:t>
            </a:r>
            <a:endParaRPr lang="en-IN" dirty="0"/>
          </a:p>
          <a:p>
            <a:r>
              <a:rPr lang="en-US" dirty="0"/>
              <a:t>[4] Sorrentino, S., et al. (2024). 'PINN-based friction modelling framework for harmonic-drive robotic joints.’</a:t>
            </a:r>
          </a:p>
          <a:p>
            <a:r>
              <a:rPr lang="en-IN" dirty="0"/>
              <a:t>[5] </a:t>
            </a:r>
            <a:r>
              <a:rPr lang="en-IN" dirty="0" err="1"/>
              <a:t>Ozmen</a:t>
            </a:r>
            <a:r>
              <a:rPr lang="en-IN" dirty="0"/>
              <a:t>, </a:t>
            </a:r>
            <a:r>
              <a:rPr lang="en-IN" dirty="0" err="1"/>
              <a:t>Asutay</a:t>
            </a:r>
            <a:r>
              <a:rPr lang="en-IN" dirty="0"/>
              <a:t>, Joao P. </a:t>
            </a:r>
            <a:r>
              <a:rPr lang="en-IN" dirty="0" err="1"/>
              <a:t>Hespanha</a:t>
            </a:r>
            <a:r>
              <a:rPr lang="en-IN" dirty="0"/>
              <a:t>, and Katie Byl. "Learning Transferable Friction Models and </a:t>
            </a:r>
            <a:r>
              <a:rPr lang="en-IN" dirty="0" err="1"/>
              <a:t>LuGre</a:t>
            </a:r>
            <a:r>
              <a:rPr lang="en-IN" dirty="0"/>
              <a:t> Identification via Physics Informed Neural Networks." </a:t>
            </a:r>
            <a:r>
              <a:rPr lang="en-IN" dirty="0" err="1"/>
              <a:t>arXiv</a:t>
            </a:r>
            <a:r>
              <a:rPr lang="en-IN" dirty="0"/>
              <a:t> preprint arXiv:2504.12441 (2025).</a:t>
            </a:r>
          </a:p>
          <a:p>
            <a:r>
              <a:rPr lang="en-US" dirty="0"/>
              <a:t>[6] </a:t>
            </a:r>
            <a:r>
              <a:rPr lang="en-US" dirty="0" err="1"/>
              <a:t>Svaya</a:t>
            </a:r>
            <a:r>
              <a:rPr lang="en-US" dirty="0"/>
              <a:t> Robotics User Manual, 2023.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3304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1442</Words>
  <Application>Microsoft Office PowerPoint</Application>
  <PresentationFormat>On-screen Show (4:3)</PresentationFormat>
  <Paragraphs>154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 Math</vt:lpstr>
      <vt:lpstr>Office Theme</vt:lpstr>
      <vt:lpstr>Friction Modelling of a 6-DOF Robotic Arm Using Physics-Based &amp; Data Driven Approaches</vt:lpstr>
      <vt:lpstr>Introduction &amp; Background</vt:lpstr>
      <vt:lpstr>PowerPoint Presentation</vt:lpstr>
      <vt:lpstr>Fig. 1: The 6 DOF Robotic Arm.</vt:lpstr>
      <vt:lpstr>Problem Statement</vt:lpstr>
      <vt:lpstr>Fig. 2: Cross Sectional View of the Robotic Arm</vt:lpstr>
      <vt:lpstr>Platform &amp; Data Collection</vt:lpstr>
      <vt:lpstr>Literature Review &amp; Research Gap</vt:lpstr>
      <vt:lpstr>PowerPoint Presentation</vt:lpstr>
      <vt:lpstr>Physics-Based Friction Modelling</vt:lpstr>
      <vt:lpstr>Physics-Based Models: Results</vt:lpstr>
      <vt:lpstr>Physics-Based Models: Results</vt:lpstr>
      <vt:lpstr>Data-Driven Modelling (Neural Network)</vt:lpstr>
      <vt:lpstr>PowerPoint Presentation</vt:lpstr>
      <vt:lpstr>PowerPoint Presentation</vt:lpstr>
      <vt:lpstr>Comparative Analysis</vt:lpstr>
      <vt:lpstr>Conclusions</vt:lpstr>
      <vt:lpstr>Future Work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Soumyadeep Dey</cp:lastModifiedBy>
  <cp:revision>11</cp:revision>
  <dcterms:created xsi:type="dcterms:W3CDTF">2013-01-27T09:14:16Z</dcterms:created>
  <dcterms:modified xsi:type="dcterms:W3CDTF">2026-06-24T04:27:56Z</dcterms:modified>
  <cp:category/>
</cp:coreProperties>
</file>